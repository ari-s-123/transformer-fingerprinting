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Open: "Hi everyone — I'm Aritra. For my final project I spent the semester on something you've all probably used at a concert or in a car: the technology behind Shazam. It's called audio fingerprinting, and my question was — can a transformer do it better than the simple methods, and where does it still break?"
Tone: warm, confident, no jargon yet. Let the subtitle land: "what Shazam does, and what still breaks it."
Transition: "Let me start with what fingerprinting even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"Music fingerprinting is the everyday magic behind Shazam. Someone's playing a song in a coffee shop, you hold up your phone, and eight seconds later it tells you the title."
"Under the hood, the phone isn't comparing whole songs. It turns your little audio snippet into a short numeric code — a fingerprint — and checks it against millions of reference fingerprints in a database. Whichever fingerprint is closest wins."
"My project was about learning those fingerprints with a neural network. The goal wasn't just 'can we do it' — we can. The goal was: how far can we push robustness when the audio is ugly? Short clips, noisy rooms, cheap mics."
Transition: "And 'ugly audio' turns out to be most of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Say: "Here are the four things that make this hard in practice."
Point at each tile:
"One — short clips. People don't Shazam a three-minute song. They hit the button for a second or two."
"Two — noisy rooms. Real listening happens in bars, cars, coffee shops, not anechoic chambers."
"Three — cheap mics. Phone microphones cut off the very low and very high frequencies. That reshapes the sound more than you'd think."
"Four — misalignment. The clip might start in the middle of a chorus, not at a beat."
"Any one of these is manageable. It's the combination that's brutal — and that combination is what real users actually hit."
Transition: "So we had three questions going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Say: "Three research questions shaped the semester."
"Q1 — architecture. If I'm building the fingerprint extractor, do I use a small CNN, a hybrid transformer, or a big pretrained music model? Different answers mean different costs and different biases."
"Q2 — training. How much does the augmentation recipe — basically, what distortions I simulate during training — shape what the model can handle later? Spoiler: way more than I expected."
"Q3 — retrieval. Once I have fingerprints for millions of songs, can I use approximate search to go fast, or do I need to check every single one?"
Transition: "Let's walk through the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Say: "The data was the Free Music Archive — a public dataset of Creative-Commons licensed music. I started with FMA-small, about eight thousand tracks, and scaled up to FMA-medium, almost twenty-five thousand tracks, for the final evaluation. That's roughly three times bigger, which gave the benchmark real teeth."
"Raw audio is just a one-dimensional wiggly line. The network needs something it can stare at. So I converted every three-second clip into a mel-spectrogram — basically sheet music for the computer. Time on one axis, frequency on the other, brightness is loudness."
"The configuration — sixteen kilohertz sample rate, 128 frequency bins — follows the NAFP paper from 2021, reference one on my last slide."
Transition: "Now — how does a neural network actually learn to compare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Say: "This is the key trick — it's called contrastive learning. Here's the intuition."
"Imagine you have a pile of family photos. You don't have names on them. What you can do is: group the ones that look like the same person together, and push strangers apart. Do that enough times, and the network learns what 'sameness' looks like — even though nobody ever told it a name."
"Same trick with audio. I take a clip, and I make a distorted copy — add some noise, shift the pitch a little, simulate a cheap microphone. Those two become a 'positive pair' — I want the model to recognize them as the same song. Other songs in the same batch are negatives — push them apart."
"The formal loss is called NT-Xent — normalized temperature-scaled cross-entropy. The output is a 128-dimensional vector per clip — the fingerprint. This whole framework is lifted from the NAFP paper."
Transition: "OK — so who are the three models racing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"I trained three models with the same recipe, to compare them fairly."
"Contender one — the CNN baseline. A small four-layer convolutional net, about a million parameters. The simple reference, not expected to win."
"Contender two — the hybrid transformer. A convolutional stem that chunks up the spectrogram, then a transformer encoder on top. My expected winner — it can capture both local and global patterns in one model."
"Contender three — frozen MERT. This is a 95-million-parameter music foundation model, pretrained on a huge corpus of music. I freeze the backbone and only train a small projection head. This tests whether a big pretrained model beats a specialist, out of the box. That baseline is motivated by Singh et al. 2025, reference two."
Transition: "Alright — results time. Notebook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Say: "First result: on clean, three-second, centered audio — all three models scored about 99.6 percent Top-1 accuracy. The right song is the first result, almost every time."
"And on mild noise, pitch shifts, low-pass filtering — the hybrid transformer did edge out the CNN. So the story at this point was: transformer wins, fancy architecture wins, we can pack up and go home."
Pause, then with a smirk: "But then I tried one more degradation."
Transition: "I added a high-pass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Say: "A high-pass filter simulates a phone line — or a cheap microphone — cutting off the bass. It's a totally realistic condition."
Point at bars: "The CNN scored 3.4% — so basically broken. The hybrid transformer was near zero. But frozen MERT — the big pretrained model — held up at 53.5%. Not great, but way better."
"The fancy invariances my transformer learned didn't include 'the bass might be gone.' So I added low-pass and high-pass filters to its training diet. The transformer improved on high-pass… but it got worse on noise and pitch."
"That's the moment I realized something counterintuitive —" read the quote — "'Fixing one weakness broke another. Augmentations weren't making the model stronger. They were choosing which weaknesses it had.'"
Transition: "So I decided to stop tweaking the model and start tweaking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"In Notebook 3 I built a harder benchmark — one that actually reflects how people use these systems. Short clips, one to three seconds. Starting at random offsets. Combined noise and filtering and compression, all at once. This evaluation protocol comes from Nikou and Giannakopoulos 2025 — reference three."
"The old test — clean, centered, three seconds — gave every model about 99 percent. Useless for telling them apart."
Point at chart: "On the new, realistic benchmark, the ranking score was totally different. The CNN — the one I assumed would lose — jumped ahead at 0.475. The hybrid transformer dropped to 0.347. MERT at 0.30. Selective-augmentation transformer variants crowded around 0.30 as well. The plain extended transformer collapsed to 0.15."
"The winner flipped. Simple CNN beat the fancy transformer when the test got honest."
Transition: "That's when the real lesson clicked."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Say slowly — this is the takeaway slide:
"Augmentation isn't a volume dial. It's selection pressure."
Pause. Then: "What the model sees during training decides which distortions it can survive — not how much total robustness it has. Adding more augmentations didn't make models stronger. It redistributed their weaknesses."
"That's why architecture mattered less than I thought going in, and the training diet mattered more than I thought. This is the single most important thing I learned this semester."
Transition: "Then came the scale-up."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"Notebook 4 was the stress test. I scaled the catalog from eight thousand to nearly twenty-five thousand tracks on an H100 GPU. Three times the haystack to search."
"The CNN stayed the winner — same architecture. But the configuration around it had to change, which I'll show next."
Point at the two red numbers: "The honest part: the average degraded accuracy dropped 24 percent. But the worst-case dropped 39 percent. The floor fell almost twice as hard as the average."
"Which actually means the benchmark got more useful. It wasn't that the model got catastrophically worse — it was that the harder test now distinguished good days from bad days, which the small-catalog test couldn't."
Transition: "Here's the final recipe that survived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"Three ingredients."
"One — the model. The small CNN, 128-dimensional fingerprints. Plain and stable."
"Two — multi-window indexing. Instead of storing one fingerprint per song from the middle, I store five, evenly spaced across the track. That one change lifted clean Top-1 from 65 to 83 percent."
"Three — approximate FAISS search. I switched from exact search to ivfflat with eight probes. Twelve times faster. Near-zero accuracy loss."
Read the analogy: "Think of a library. Multi-window indexing is taking five snapshots of each book's pages instead of one. Approximate FAISS is using the index at the back of the library instead of reading every book to find your quote."
Transition: "Here's what the final numbers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Say: "Four numbers at FMA-medium scale."
Point at each: "Clean Top-1 — 83.5 percent. The right song is first on a clean query, about five out of six times."
"Mean degraded — 36.4 percent. Across the whole stress buffet, the right song is first in about one out of three queries."
"MRR — 0.58. Mean reciprocal rank. That means when the right song isn't first, it's usually near the top of the shortlist."
"Latency — one hundredth of a millisecond per query. The index is only 6.4 megabytes. Deployable."
"Honest read: the system works great on typical conditions and is cheap to run. The hard cases are what's left. And I want to be really clear about what those are."
Transition: "Here's what it still can't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Say: "The worst-case number is about 1 percent. If I give the system a short, off-center, high-pass-filtered clip, it essentially guesses."
"Three failure modes keep showing up. Short filtered queries — one-second clips with the bass cut — confuse every model. Fragmented evidence — when the query is broken into several one-second chunks — rarely aligns. And off-center misalignment — starting mid-chorus rather than on a beat — is still disproportionately hard."
"One nuance: frozen MERT — the big pretrained model — actually has a better worst-case floor. About 5.9 percent versus our 1.5. So it's not a dominated choice. It's a different trade-off. If your application cares more about never-embarrassingly-wrong than about average accuracy, MERT is arguably a better pick."
Transition: "Let me close with the three things I'm taking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Say: "Three lessons."
"First — benchmarks shape conclusions. If I'd stopped at the clean test, I'd have written a paper saying the transformer is the best fingerprinting model. Making the test harder inverted my headline."
"Second — augmentation beat architecture. What I trained on mattered more than which model I picked."
"Third — simple plus smart beat complex. A plain CNN with smart indexing and approximate search outperformed a 95-million-parameter foundation model on the combined metric."
"What's next: multi-segment aggregation is already scaffolded and should help fragmented-evidence failures. Hard-negative mining — training on confusers like covers and live versions — should help precision. Partially unfreezing MERT could combine its stability with task-specific sharpness. And query-aware augmentation could adapt training to measured difficulty."
Transition: "These are the papers I stood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 sec]
Say briefly: "Three papers and a dataset."
"Reference one, NAFP — Chang et al., ICASSP 2021 — the contrastive framework I used."
"Reference two, Singh et al. 2025 — showed that music foundation models like MERT make strong fingerprinting backbones. That's why I included the frozen-MERT baseline."
"Reference three, Nikou and Giannakopoulos 2025 — built the realistic-query evaluation protocol I adopted in Notebook 3, and which flipped my winner."
"And the FMA dataset from Defferrard et al. 2017 — the whole project is built on their work."
Transition: "And that's the project.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sec + Q&amp;A]
Say: "Thanks for listening. Happy to dig into any piece — the architecture, the augmentation ablations, the index trade-offs, or the honest limits. What's on your mind?"
Q&amp;A cues — if someone asks:
• "Why CNN and not the transformer?" → It wasn't architecture; transformer's training diet just produced brittler invariances. See slides 10–11.
• "Why not fine-tune MERT?" → Compute budget — Colab credits exhausted before hard-negative retraining step. Flagged as next work.
• "What would you change?" → Add multi-segment aggregation — already scaffolded in Notebook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888950" y="573881"/>
            <a:ext cx="7642911" cy="180975"/>
          </a:xfrm>
          <a:prstGeom prst="rect">
            <a:avLst/>
          </a:prstGeom>
          <a:noFill/>
          <a:ln/>
        </p:spPr>
        <p:txBody>
          <a:bodyPr wrap="square" lIns="0" tIns="0" rIns="0" bIns="0" rtlCol="0" anchor="t"/>
          <a:lstStyle/>
          <a:p>
            <a:pPr algn="l" indent="0" marL="0">
              <a:spcAft>
                <a:spcPts val="2400"/>
              </a:spcAft>
              <a:buNone/>
            </a:pPr>
            <a:r>
              <a:rPr lang="en-US" sz="1300" dirty="0">
                <a:solidFill>
                  <a:srgbClr val="06D6A0"/>
                </a:solidFill>
                <a:latin typeface="Courier New" pitchFamily="34" charset="0"/>
                <a:ea typeface="Courier New" pitchFamily="34" charset="-122"/>
                <a:cs typeface="Courier New" pitchFamily="34" charset="-120"/>
              </a:rPr>
              <a:t>DS 3000 · FINAL PROJECT</a:t>
            </a:r>
            <a:endParaRPr lang="en-US" sz="1300" dirty="0"/>
          </a:p>
        </p:txBody>
      </p:sp>
      <p:sp>
        <p:nvSpPr>
          <p:cNvPr id="4" name="Text 2"/>
          <p:cNvSpPr/>
          <p:nvPr/>
        </p:nvSpPr>
        <p:spPr>
          <a:xfrm>
            <a:off x="888950" y="1059656"/>
            <a:ext cx="7642911" cy="1440061"/>
          </a:xfrm>
          <a:prstGeom prst="rect">
            <a:avLst/>
          </a:prstGeom>
          <a:noFill/>
          <a:ln/>
        </p:spPr>
        <p:txBody>
          <a:bodyPr wrap="square" lIns="0" tIns="0" rIns="0" bIns="0" rtlCol="0" anchor="t"/>
          <a:lstStyle/>
          <a:p>
            <a:pPr algn="l" indent="0" marL="0">
              <a:lnSpc>
                <a:spcPts val="5670"/>
              </a:lnSpc>
              <a:spcAft>
                <a:spcPts val="1800"/>
              </a:spcAft>
              <a:buNone/>
            </a:pPr>
            <a:r>
              <a:rPr lang="en-US" sz="5400" b="1" dirty="0">
                <a:solidFill>
                  <a:srgbClr val="F4F4FB"/>
                </a:solidFill>
                <a:latin typeface="Arial" pitchFamily="34" charset="0"/>
                <a:ea typeface="Arial" pitchFamily="34" charset="-122"/>
                <a:cs typeface="Arial" pitchFamily="34" charset="-120"/>
              </a:rPr>
              <a:t>Transformer-Based Music Fingerprinting</a:t>
            </a:r>
            <a:endParaRPr lang="en-US" sz="5400" dirty="0"/>
          </a:p>
        </p:txBody>
      </p:sp>
      <p:sp>
        <p:nvSpPr>
          <p:cNvPr id="5" name="Text 3"/>
          <p:cNvSpPr/>
          <p:nvPr/>
        </p:nvSpPr>
        <p:spPr>
          <a:xfrm>
            <a:off x="888950" y="3033117"/>
            <a:ext cx="7642911" cy="323850"/>
          </a:xfrm>
          <a:prstGeom prst="rect">
            <a:avLst/>
          </a:prstGeom>
          <a:noFill/>
          <a:ln/>
        </p:spPr>
        <p:txBody>
          <a:bodyPr wrap="square" lIns="0" tIns="0" rIns="0" bIns="0" rtlCol="0" anchor="t"/>
          <a:lstStyle/>
          <a:p>
            <a:pPr algn="l" indent="0" marL="0">
              <a:spcBef>
                <a:spcPts val="2400"/>
              </a:spcBef>
              <a:spcAft>
                <a:spcPts val="6000"/>
              </a:spcAft>
              <a:buNone/>
            </a:pPr>
            <a:r>
              <a:rPr lang="en-US" sz="2200" b="1" dirty="0">
                <a:solidFill>
                  <a:srgbClr val="9D4EDD"/>
                </a:solidFill>
                <a:latin typeface="Arial" pitchFamily="34" charset="0"/>
                <a:ea typeface="Arial" pitchFamily="34" charset="-122"/>
                <a:cs typeface="Arial" pitchFamily="34" charset="-120"/>
              </a:rPr>
              <a:t>What Shazam does — and what still breaks it.</a:t>
            </a:r>
            <a:endParaRPr lang="en-US" sz="2200" dirty="0"/>
          </a:p>
        </p:txBody>
      </p:sp>
      <p:sp>
        <p:nvSpPr>
          <p:cNvPr id="6" name="Text 4"/>
          <p:cNvSpPr/>
          <p:nvPr/>
        </p:nvSpPr>
        <p:spPr>
          <a:xfrm>
            <a:off x="888950" y="4118967"/>
            <a:ext cx="7642911" cy="219075"/>
          </a:xfrm>
          <a:prstGeom prst="rect">
            <a:avLst/>
          </a:prstGeom>
          <a:noFill/>
          <a:ln/>
        </p:spPr>
        <p:txBody>
          <a:bodyPr wrap="square" lIns="0" tIns="0" rIns="0" bIns="0" rtlCol="0" anchor="t"/>
          <a:lstStyle/>
          <a:p>
            <a:pPr algn="l" indent="0" marL="0">
              <a:buNone/>
            </a:pPr>
            <a:r>
              <a:rPr lang="en-US" sz="1500" dirty="0">
                <a:solidFill>
                  <a:srgbClr val="F4F4FB"/>
                </a:solidFill>
                <a:latin typeface="Arial" pitchFamily="34" charset="0"/>
                <a:ea typeface="Arial" pitchFamily="34" charset="-122"/>
                <a:cs typeface="Arial" pitchFamily="34" charset="-120"/>
              </a:rPr>
              <a:t>Aritra Saharay</a:t>
            </a:r>
            <a:endParaRPr lang="en-US" sz="1500" dirty="0"/>
          </a:p>
        </p:txBody>
      </p:sp>
      <p:sp>
        <p:nvSpPr>
          <p:cNvPr id="7" name="Text 5"/>
          <p:cNvSpPr/>
          <p:nvPr/>
        </p:nvSpPr>
        <p:spPr>
          <a:xfrm>
            <a:off x="888950" y="4388793"/>
            <a:ext cx="7642911" cy="180975"/>
          </a:xfrm>
          <a:prstGeom prst="rect">
            <a:avLst/>
          </a:prstGeom>
          <a:noFill/>
          <a:ln/>
        </p:spPr>
        <p:txBody>
          <a:bodyPr wrap="square" lIns="0" tIns="0" rIns="0" bIns="0" rtlCol="0" anchor="t"/>
          <a:lstStyle/>
          <a:p>
            <a:pPr algn="l" indent="0" marL="0">
              <a:spcBef>
                <a:spcPts val="400"/>
              </a:spcBef>
              <a:buNone/>
            </a:pPr>
            <a:r>
              <a:rPr lang="en-US" sz="1300" dirty="0">
                <a:solidFill>
                  <a:srgbClr val="9D4EDD"/>
                </a:solidFill>
                <a:latin typeface="Courier New" pitchFamily="34" charset="0"/>
                <a:ea typeface="Courier New" pitchFamily="34" charset="-122"/>
                <a:cs typeface="Courier New" pitchFamily="34" charset="-120"/>
              </a:rPr>
              <a:t>April 16,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85651" y="381000"/>
            <a:ext cx="8057641" cy="171450"/>
          </a:xfrm>
          <a:prstGeom prst="rect">
            <a:avLst/>
          </a:prstGeom>
          <a:noFill/>
          <a:ln/>
        </p:spPr>
        <p:txBody>
          <a:bodyPr wrap="square" lIns="0" tIns="0" rIns="0" bIns="0" rtlCol="0" anchor="t"/>
          <a:lstStyle/>
          <a:p>
            <a:pPr algn="l" indent="0" marL="0">
              <a:spcAft>
                <a:spcPts val="1000"/>
              </a:spcAft>
              <a:buNone/>
            </a:pPr>
            <a:r>
              <a:rPr lang="en-US" sz="1200" dirty="0">
                <a:solidFill>
                  <a:srgbClr val="06D6A0"/>
                </a:solidFill>
                <a:latin typeface="Courier New" pitchFamily="34" charset="0"/>
                <a:ea typeface="Courier New" pitchFamily="34" charset="-122"/>
                <a:cs typeface="Courier New" pitchFamily="34" charset="-120"/>
              </a:rPr>
              <a:t>CH 00 · THE QUESTION</a:t>
            </a:r>
            <a:endParaRPr lang="en-US" sz="1200" dirty="0"/>
          </a:p>
        </p:txBody>
      </p:sp>
      <p:sp>
        <p:nvSpPr>
          <p:cNvPr id="4" name="Text 2"/>
          <p:cNvSpPr/>
          <p:nvPr/>
        </p:nvSpPr>
        <p:spPr>
          <a:xfrm>
            <a:off x="685651" y="679400"/>
            <a:ext cx="8057641" cy="523875"/>
          </a:xfrm>
          <a:prstGeom prst="rect">
            <a:avLst/>
          </a:prstGeom>
          <a:noFill/>
          <a:ln/>
        </p:spPr>
        <p:txBody>
          <a:bodyPr wrap="square" lIns="0" tIns="0" rIns="0" bIns="0" rtlCol="0" anchor="t"/>
          <a:lstStyle/>
          <a:p>
            <a:pPr algn="l" indent="0" marL="0">
              <a:spcAft>
                <a:spcPts val="2000"/>
              </a:spcAft>
              <a:buNone/>
            </a:pPr>
            <a:r>
              <a:rPr lang="en-US" sz="3600" b="1" dirty="0">
                <a:solidFill>
                  <a:srgbClr val="F4F4FB"/>
                </a:solidFill>
                <a:latin typeface="Arial" pitchFamily="34" charset="0"/>
                <a:ea typeface="Arial" pitchFamily="34" charset="-122"/>
                <a:cs typeface="Arial" pitchFamily="34" charset="-120"/>
              </a:rPr>
              <a:t>What is music fingerprinting?</a:t>
            </a:r>
            <a:endParaRPr lang="en-US" sz="3600" dirty="0"/>
          </a:p>
        </p:txBody>
      </p:sp>
      <p:sp>
        <p:nvSpPr>
          <p:cNvPr id="5" name="Text 3"/>
          <p:cNvSpPr/>
          <p:nvPr/>
        </p:nvSpPr>
        <p:spPr>
          <a:xfrm>
            <a:off x="685651" y="1457176"/>
            <a:ext cx="3873297" cy="266700"/>
          </a:xfrm>
          <a:prstGeom prst="rect">
            <a:avLst/>
          </a:prstGeom>
          <a:noFill/>
          <a:ln/>
        </p:spPr>
        <p:txBody>
          <a:bodyPr wrap="square" lIns="0" tIns="0" rIns="0" bIns="0" rtlCol="0" anchor="t"/>
          <a:lstStyle/>
          <a:p>
            <a:pPr algn="l" indent="0" marL="0">
              <a:spcAft>
                <a:spcPts val="800"/>
              </a:spcAft>
              <a:buNone/>
            </a:pPr>
            <a:r>
              <a:rPr lang="en-US" sz="1800" b="1" dirty="0">
                <a:solidFill>
                  <a:srgbClr val="9D4EDD"/>
                </a:solidFill>
                <a:latin typeface="Arial" pitchFamily="34" charset="0"/>
                <a:ea typeface="Arial" pitchFamily="34" charset="-122"/>
                <a:cs typeface="Arial" pitchFamily="34" charset="-120"/>
              </a:rPr>
              <a:t>The everyday version</a:t>
            </a:r>
            <a:endParaRPr lang="en-US" sz="1800" dirty="0"/>
          </a:p>
        </p:txBody>
      </p:sp>
      <p:sp>
        <p:nvSpPr>
          <p:cNvPr id="6" name="Text 4"/>
          <p:cNvSpPr/>
          <p:nvPr/>
        </p:nvSpPr>
        <p:spPr>
          <a:xfrm>
            <a:off x="685651" y="1825377"/>
            <a:ext cx="3873297" cy="773311"/>
          </a:xfrm>
          <a:prstGeom prst="rect">
            <a:avLst/>
          </a:prstGeom>
          <a:noFill/>
          <a:ln/>
        </p:spPr>
        <p:txBody>
          <a:bodyPr wrap="square" lIns="0" tIns="0" rIns="0" bIns="0" rtlCol="0" anchor="t"/>
          <a:lstStyle/>
          <a:p>
            <a:pPr algn="l" indent="0" marL="0">
              <a:lnSpc>
                <a:spcPts val="2030"/>
              </a:lnSpc>
              <a:buNone/>
            </a:pPr>
            <a:r>
              <a:rPr lang="en-US" sz="1400" dirty="0">
                <a:solidFill>
                  <a:srgbClr val="F4F4FB"/>
                </a:solidFill>
                <a:latin typeface="Arial" pitchFamily="34" charset="0"/>
                <a:ea typeface="Arial" pitchFamily="34" charset="-122"/>
                <a:cs typeface="Arial" pitchFamily="34" charset="-120"/>
              </a:rPr>
              <a:t>You're in a coffee shop. A song plays. You open Shazam, hold up your phone, and 8 seconds later it names the track.</a:t>
            </a:r>
            <a:endParaRPr lang="en-US" sz="1400" dirty="0"/>
          </a:p>
        </p:txBody>
      </p:sp>
      <p:sp>
        <p:nvSpPr>
          <p:cNvPr id="7" name="Text 5"/>
          <p:cNvSpPr/>
          <p:nvPr/>
        </p:nvSpPr>
        <p:spPr>
          <a:xfrm>
            <a:off x="4787801" y="1457176"/>
            <a:ext cx="3873448" cy="266700"/>
          </a:xfrm>
          <a:prstGeom prst="rect">
            <a:avLst/>
          </a:prstGeom>
          <a:noFill/>
          <a:ln/>
        </p:spPr>
        <p:txBody>
          <a:bodyPr wrap="square" lIns="0" tIns="0" rIns="0" bIns="0" rtlCol="0" anchor="t"/>
          <a:lstStyle/>
          <a:p>
            <a:pPr algn="l" indent="0" marL="0">
              <a:spcAft>
                <a:spcPts val="800"/>
              </a:spcAft>
              <a:buNone/>
            </a:pPr>
            <a:r>
              <a:rPr lang="en-US" sz="1800" b="1" dirty="0">
                <a:solidFill>
                  <a:srgbClr val="9D4EDD"/>
                </a:solidFill>
                <a:latin typeface="Arial" pitchFamily="34" charset="0"/>
                <a:ea typeface="Arial" pitchFamily="34" charset="-122"/>
                <a:cs typeface="Arial" pitchFamily="34" charset="-120"/>
              </a:rPr>
              <a:t>What's actually happening</a:t>
            </a:r>
            <a:endParaRPr lang="en-US" sz="1800" dirty="0"/>
          </a:p>
        </p:txBody>
      </p:sp>
      <p:sp>
        <p:nvSpPr>
          <p:cNvPr id="8" name="Text 6"/>
          <p:cNvSpPr/>
          <p:nvPr/>
        </p:nvSpPr>
        <p:spPr>
          <a:xfrm>
            <a:off x="4787801" y="1825377"/>
            <a:ext cx="3873448" cy="773311"/>
          </a:xfrm>
          <a:prstGeom prst="rect">
            <a:avLst/>
          </a:prstGeom>
          <a:noFill/>
          <a:ln/>
        </p:spPr>
        <p:txBody>
          <a:bodyPr wrap="square" lIns="0" tIns="0" rIns="0" bIns="0" rtlCol="0" anchor="t"/>
          <a:lstStyle/>
          <a:p>
            <a:pPr algn="l" indent="0" marL="0">
              <a:lnSpc>
                <a:spcPts val="2030"/>
              </a:lnSpc>
              <a:buNone/>
            </a:pPr>
            <a:r>
              <a:rPr lang="en-US" sz="1400" dirty="0">
                <a:solidFill>
                  <a:srgbClr val="F4F4FB"/>
                </a:solidFill>
                <a:latin typeface="Arial" pitchFamily="34" charset="0"/>
                <a:ea typeface="Arial" pitchFamily="34" charset="-122"/>
                <a:cs typeface="Arial" pitchFamily="34" charset="-120"/>
              </a:rPr>
              <a:t>A tiny audio snippet is turned into a short numeric code — a </a:t>
            </a:r>
            <a:pPr algn="l" indent="0" marL="0">
              <a:lnSpc>
                <a:spcPts val="2030"/>
              </a:lnSpc>
              <a:buNone/>
            </a:pPr>
            <a:r>
              <a:rPr lang="en-US" sz="1400" b="1" dirty="0">
                <a:solidFill>
                  <a:srgbClr val="F4F4FB"/>
                </a:solidFill>
                <a:latin typeface="Arial" pitchFamily="34" charset="0"/>
                <a:ea typeface="Arial" pitchFamily="34" charset="-122"/>
                <a:cs typeface="Arial" pitchFamily="34" charset="-120"/>
              </a:rPr>
              <a:t>fingerprint</a:t>
            </a:r>
            <a:pPr algn="l" indent="0" marL="0">
              <a:lnSpc>
                <a:spcPts val="2030"/>
              </a:lnSpc>
              <a:buNone/>
            </a:pPr>
            <a:r>
              <a:rPr lang="en-US" sz="1400" dirty="0">
                <a:solidFill>
                  <a:srgbClr val="F4F4FB"/>
                </a:solidFill>
                <a:latin typeface="Arial" pitchFamily="34" charset="0"/>
                <a:ea typeface="Arial" pitchFamily="34" charset="-122"/>
                <a:cs typeface="Arial" pitchFamily="34" charset="-120"/>
              </a:rPr>
              <a:t> — and matched against millions of reference fingerprints.</a:t>
            </a:r>
            <a:endParaRPr lang="en-US" sz="1400" dirty="0"/>
          </a:p>
        </p:txBody>
      </p:sp>
      <p:sp>
        <p:nvSpPr>
          <p:cNvPr id="9" name="Text 7"/>
          <p:cNvSpPr/>
          <p:nvPr/>
        </p:nvSpPr>
        <p:spPr>
          <a:xfrm>
            <a:off x="685651" y="2827288"/>
            <a:ext cx="7899648" cy="939701"/>
          </a:xfrm>
          <a:prstGeom prst="roundRect">
            <a:avLst>
              <a:gd name="adj" fmla="val 8109"/>
            </a:avLst>
          </a:prstGeom>
          <a:solidFill>
            <a:srgbClr val="25253D"/>
          </a:solidFill>
          <a:ln/>
        </p:spPr>
        <p:txBody>
          <a:bodyPr wrap="square" rtlCol="0" anchor="ctr"/>
          <a:lstStyle/>
          <a:p>
            <a:pPr indent="0" marL="0">
              <a:buNone/>
            </a:pPr>
            <a:endParaRPr lang="en-US" dirty="0"/>
          </a:p>
        </p:txBody>
      </p:sp>
      <p:sp>
        <p:nvSpPr>
          <p:cNvPr id="10" name="Shape 8"/>
          <p:cNvSpPr/>
          <p:nvPr/>
        </p:nvSpPr>
        <p:spPr>
          <a:xfrm>
            <a:off x="714226" y="2827288"/>
            <a:ext cx="0" cy="939701"/>
          </a:xfrm>
          <a:prstGeom prst="line">
            <a:avLst/>
          </a:prstGeom>
          <a:noFill/>
          <a:ln w="57150">
            <a:solidFill>
              <a:srgbClr val="06D6A0"/>
            </a:solidFill>
            <a:prstDash val="solid"/>
          </a:ln>
        </p:spPr>
      </p:sp>
      <p:sp>
        <p:nvSpPr>
          <p:cNvPr id="11" name="Text 9"/>
          <p:cNvSpPr/>
          <p:nvPr/>
        </p:nvSpPr>
        <p:spPr>
          <a:xfrm>
            <a:off x="1022152" y="3030438"/>
            <a:ext cx="7429473" cy="533400"/>
          </a:xfrm>
          <a:prstGeom prst="rect">
            <a:avLst/>
          </a:prstGeom>
          <a:noFill/>
          <a:ln/>
        </p:spPr>
        <p:txBody>
          <a:bodyPr wrap="square" lIns="0" tIns="0" rIns="0" bIns="0" rtlCol="0" anchor="t"/>
          <a:lstStyle/>
          <a:p>
            <a:pPr algn="l" indent="0" marL="0">
              <a:lnSpc>
                <a:spcPts val="2100"/>
              </a:lnSpc>
              <a:buNone/>
            </a:pPr>
            <a:r>
              <a:rPr lang="en-US" sz="1500" i="1" dirty="0">
                <a:solidFill>
                  <a:srgbClr val="F4F4FB"/>
                </a:solidFill>
                <a:latin typeface="Arial" pitchFamily="34" charset="0"/>
                <a:ea typeface="Arial" pitchFamily="34" charset="-122"/>
                <a:cs typeface="Arial" pitchFamily="34" charset="-120"/>
              </a:rPr>
              <a:t>Goal of this project: learn those fingerprints with a neural network, and see how far we can push robustness under realistic listening conditions.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85651" y="406301"/>
            <a:ext cx="8057641" cy="171450"/>
          </a:xfrm>
          <a:prstGeom prst="rect">
            <a:avLst/>
          </a:prstGeom>
          <a:noFill/>
          <a:ln/>
        </p:spPr>
        <p:txBody>
          <a:bodyPr wrap="square" lIns="0" tIns="0" rIns="0" bIns="0" rtlCol="0" anchor="t"/>
          <a:lstStyle/>
          <a:p>
            <a:pPr algn="l" indent="0" marL="0">
              <a:spcAft>
                <a:spcPts val="1200"/>
              </a:spcAft>
              <a:buNone/>
            </a:pPr>
            <a:r>
              <a:rPr lang="en-US" sz="1200" dirty="0">
                <a:solidFill>
                  <a:srgbClr val="06D6A0"/>
                </a:solidFill>
                <a:latin typeface="Courier New" pitchFamily="34" charset="0"/>
                <a:ea typeface="Courier New" pitchFamily="34" charset="-122"/>
                <a:cs typeface="Courier New" pitchFamily="34" charset="-120"/>
              </a:rPr>
              <a:t>CH 00 · THE CHALLENGE</a:t>
            </a:r>
            <a:endParaRPr lang="en-US" sz="1200" dirty="0"/>
          </a:p>
        </p:txBody>
      </p:sp>
      <p:sp>
        <p:nvSpPr>
          <p:cNvPr id="4" name="Text 2"/>
          <p:cNvSpPr/>
          <p:nvPr/>
        </p:nvSpPr>
        <p:spPr>
          <a:xfrm>
            <a:off x="685651" y="730151"/>
            <a:ext cx="8057641" cy="561975"/>
          </a:xfrm>
          <a:prstGeom prst="rect">
            <a:avLst/>
          </a:prstGeom>
          <a:noFill/>
          <a:ln/>
        </p:spPr>
        <p:txBody>
          <a:bodyPr wrap="square" lIns="0" tIns="0" rIns="0" bIns="0" rtlCol="0" anchor="t"/>
          <a:lstStyle/>
          <a:p>
            <a:pPr algn="l" indent="0" marL="0">
              <a:spcAft>
                <a:spcPts val="2200"/>
              </a:spcAft>
              <a:buNone/>
            </a:pPr>
            <a:r>
              <a:rPr lang="en-US" sz="3800" b="1" dirty="0">
                <a:solidFill>
                  <a:srgbClr val="F4F4FB"/>
                </a:solidFill>
                <a:latin typeface="Arial" pitchFamily="34" charset="0"/>
                <a:ea typeface="Arial" pitchFamily="34" charset="-122"/>
                <a:cs typeface="Arial" pitchFamily="34" charset="-120"/>
              </a:rPr>
              <a:t>Why it's hard in the real world</a:t>
            </a:r>
            <a:endParaRPr lang="en-US" sz="3800" dirty="0"/>
          </a:p>
        </p:txBody>
      </p:sp>
      <p:sp>
        <p:nvSpPr>
          <p:cNvPr id="5" name="Text 3"/>
          <p:cNvSpPr/>
          <p:nvPr/>
        </p:nvSpPr>
        <p:spPr>
          <a:xfrm>
            <a:off x="685651" y="1571476"/>
            <a:ext cx="1841599" cy="3165723"/>
          </a:xfrm>
          <a:prstGeom prst="roundRect">
            <a:avLst>
              <a:gd name="adj" fmla="val 4138"/>
            </a:avLst>
          </a:prstGeom>
          <a:solidFill>
            <a:srgbClr val="25253D"/>
          </a:solidFill>
          <a:ln/>
        </p:spPr>
        <p:txBody>
          <a:bodyPr wrap="square" rtlCol="0" anchor="ctr"/>
          <a:lstStyle/>
          <a:p>
            <a:pPr indent="0" marL="0">
              <a:buNone/>
            </a:pPr>
            <a:endParaRPr lang="en-US" dirty="0"/>
          </a:p>
        </p:txBody>
      </p:sp>
      <p:sp>
        <p:nvSpPr>
          <p:cNvPr id="6" name="Shape 4"/>
          <p:cNvSpPr/>
          <p:nvPr/>
        </p:nvSpPr>
        <p:spPr>
          <a:xfrm>
            <a:off x="685651" y="1600051"/>
            <a:ext cx="1841599" cy="0"/>
          </a:xfrm>
          <a:prstGeom prst="line">
            <a:avLst/>
          </a:prstGeom>
          <a:noFill/>
          <a:ln w="57150">
            <a:solidFill>
              <a:srgbClr val="9D4EDD"/>
            </a:solidFill>
            <a:prstDash val="solid"/>
          </a:ln>
        </p:spPr>
      </p:sp>
      <p:sp>
        <p:nvSpPr>
          <p:cNvPr id="7" name="Text 5"/>
          <p:cNvSpPr/>
          <p:nvPr/>
        </p:nvSpPr>
        <p:spPr>
          <a:xfrm>
            <a:off x="914251" y="1907977"/>
            <a:ext cx="1412087" cy="180975"/>
          </a:xfrm>
          <a:prstGeom prst="rect">
            <a:avLst/>
          </a:prstGeom>
          <a:noFill/>
          <a:ln/>
        </p:spPr>
        <p:txBody>
          <a:bodyPr wrap="square" lIns="0" tIns="0" rIns="0" bIns="0" rtlCol="0" anchor="t"/>
          <a:lstStyle/>
          <a:p>
            <a:pPr algn="l" indent="0" marL="0">
              <a:spcAft>
                <a:spcPts val="1000"/>
              </a:spcAft>
              <a:buNone/>
            </a:pPr>
            <a:r>
              <a:rPr lang="en-US" sz="1300" dirty="0">
                <a:solidFill>
                  <a:srgbClr val="06D6A0"/>
                </a:solidFill>
                <a:latin typeface="Courier New" pitchFamily="34" charset="0"/>
                <a:ea typeface="Courier New" pitchFamily="34" charset="-122"/>
                <a:cs typeface="Courier New" pitchFamily="34" charset="-120"/>
              </a:rPr>
              <a:t>01</a:t>
            </a:r>
            <a:endParaRPr lang="en-US" sz="1300" dirty="0"/>
          </a:p>
        </p:txBody>
      </p:sp>
      <p:sp>
        <p:nvSpPr>
          <p:cNvPr id="8" name="Text 6"/>
          <p:cNvSpPr/>
          <p:nvPr/>
        </p:nvSpPr>
        <p:spPr>
          <a:xfrm>
            <a:off x="914251" y="2215902"/>
            <a:ext cx="1412087" cy="266700"/>
          </a:xfrm>
          <a:prstGeom prst="rect">
            <a:avLst/>
          </a:prstGeom>
          <a:noFill/>
          <a:ln/>
        </p:spPr>
        <p:txBody>
          <a:bodyPr wrap="square" lIns="0" tIns="0" rIns="0" bIns="0" rtlCol="0" anchor="t"/>
          <a:lstStyle/>
          <a:p>
            <a:pPr algn="l" indent="0" marL="0">
              <a:spcAft>
                <a:spcPts val="1000"/>
              </a:spcAft>
              <a:buNone/>
            </a:pPr>
            <a:r>
              <a:rPr lang="en-US" sz="1800" b="1" dirty="0">
                <a:solidFill>
                  <a:srgbClr val="F4F4FB"/>
                </a:solidFill>
                <a:latin typeface="Arial" pitchFamily="34" charset="0"/>
                <a:ea typeface="Arial" pitchFamily="34" charset="-122"/>
                <a:cs typeface="Arial" pitchFamily="34" charset="-120"/>
              </a:rPr>
              <a:t>Short clips</a:t>
            </a:r>
            <a:endParaRPr lang="en-US" sz="1800" dirty="0"/>
          </a:p>
        </p:txBody>
      </p:sp>
      <p:sp>
        <p:nvSpPr>
          <p:cNvPr id="9" name="Text 7"/>
          <p:cNvSpPr/>
          <p:nvPr/>
        </p:nvSpPr>
        <p:spPr>
          <a:xfrm>
            <a:off x="914251" y="2609552"/>
            <a:ext cx="1412087" cy="692944"/>
          </a:xfrm>
          <a:prstGeom prst="rect">
            <a:avLst/>
          </a:prstGeom>
          <a:noFill/>
          <a:ln/>
        </p:spPr>
        <p:txBody>
          <a:bodyPr wrap="square" lIns="0" tIns="0" rIns="0" bIns="0" rtlCol="0" anchor="t"/>
          <a:lstStyle/>
          <a:p>
            <a:pPr algn="l" indent="0" marL="0">
              <a:lnSpc>
                <a:spcPts val="1820"/>
              </a:lnSpc>
              <a:buNone/>
            </a:pPr>
            <a:r>
              <a:rPr lang="en-US" sz="1300" dirty="0">
                <a:solidFill>
                  <a:srgbClr val="F4F4FB"/>
                </a:solidFill>
                <a:latin typeface="Arial" pitchFamily="34" charset="0"/>
                <a:ea typeface="Arial" pitchFamily="34" charset="-122"/>
                <a:cs typeface="Arial" pitchFamily="34" charset="-120"/>
              </a:rPr>
              <a:t>Often just 1–3 seconds, not a whole song.</a:t>
            </a:r>
            <a:endParaRPr lang="en-US" sz="1300" dirty="0"/>
          </a:p>
        </p:txBody>
      </p:sp>
      <p:sp>
        <p:nvSpPr>
          <p:cNvPr id="10" name="Text 8"/>
          <p:cNvSpPr/>
          <p:nvPr/>
        </p:nvSpPr>
        <p:spPr>
          <a:xfrm>
            <a:off x="2704951" y="1571476"/>
            <a:ext cx="1841748" cy="3165723"/>
          </a:xfrm>
          <a:prstGeom prst="roundRect">
            <a:avLst>
              <a:gd name="adj" fmla="val 4137"/>
            </a:avLst>
          </a:prstGeom>
          <a:solidFill>
            <a:srgbClr val="25253D"/>
          </a:solidFill>
          <a:ln/>
        </p:spPr>
        <p:txBody>
          <a:bodyPr wrap="square" rtlCol="0" anchor="ctr"/>
          <a:lstStyle/>
          <a:p>
            <a:pPr indent="0" marL="0">
              <a:buNone/>
            </a:pPr>
            <a:endParaRPr lang="en-US" dirty="0"/>
          </a:p>
        </p:txBody>
      </p:sp>
      <p:sp>
        <p:nvSpPr>
          <p:cNvPr id="11" name="Shape 9"/>
          <p:cNvSpPr/>
          <p:nvPr/>
        </p:nvSpPr>
        <p:spPr>
          <a:xfrm>
            <a:off x="2704951" y="1600051"/>
            <a:ext cx="1841748" cy="0"/>
          </a:xfrm>
          <a:prstGeom prst="line">
            <a:avLst/>
          </a:prstGeom>
          <a:noFill/>
          <a:ln w="57150">
            <a:solidFill>
              <a:srgbClr val="9D4EDD"/>
            </a:solidFill>
            <a:prstDash val="solid"/>
          </a:ln>
        </p:spPr>
      </p:sp>
      <p:sp>
        <p:nvSpPr>
          <p:cNvPr id="12" name="Text 10"/>
          <p:cNvSpPr/>
          <p:nvPr/>
        </p:nvSpPr>
        <p:spPr>
          <a:xfrm>
            <a:off x="2933551" y="1907977"/>
            <a:ext cx="1412239" cy="180975"/>
          </a:xfrm>
          <a:prstGeom prst="rect">
            <a:avLst/>
          </a:prstGeom>
          <a:noFill/>
          <a:ln/>
        </p:spPr>
        <p:txBody>
          <a:bodyPr wrap="square" lIns="0" tIns="0" rIns="0" bIns="0" rtlCol="0" anchor="t"/>
          <a:lstStyle/>
          <a:p>
            <a:pPr algn="l" indent="0" marL="0">
              <a:spcAft>
                <a:spcPts val="1000"/>
              </a:spcAft>
              <a:buNone/>
            </a:pPr>
            <a:r>
              <a:rPr lang="en-US" sz="1300" dirty="0">
                <a:solidFill>
                  <a:srgbClr val="06D6A0"/>
                </a:solidFill>
                <a:latin typeface="Courier New" pitchFamily="34" charset="0"/>
                <a:ea typeface="Courier New" pitchFamily="34" charset="-122"/>
                <a:cs typeface="Courier New" pitchFamily="34" charset="-120"/>
              </a:rPr>
              <a:t>02</a:t>
            </a:r>
            <a:endParaRPr lang="en-US" sz="1300" dirty="0"/>
          </a:p>
        </p:txBody>
      </p:sp>
      <p:sp>
        <p:nvSpPr>
          <p:cNvPr id="13" name="Text 11"/>
          <p:cNvSpPr/>
          <p:nvPr/>
        </p:nvSpPr>
        <p:spPr>
          <a:xfrm>
            <a:off x="2933551" y="2215902"/>
            <a:ext cx="1412239" cy="266700"/>
          </a:xfrm>
          <a:prstGeom prst="rect">
            <a:avLst/>
          </a:prstGeom>
          <a:noFill/>
          <a:ln/>
        </p:spPr>
        <p:txBody>
          <a:bodyPr wrap="square" lIns="0" tIns="0" rIns="0" bIns="0" rtlCol="0" anchor="t"/>
          <a:lstStyle/>
          <a:p>
            <a:pPr algn="l" indent="0" marL="0">
              <a:spcAft>
                <a:spcPts val="1000"/>
              </a:spcAft>
              <a:buNone/>
            </a:pPr>
            <a:r>
              <a:rPr lang="en-US" sz="1800" b="1" dirty="0">
                <a:solidFill>
                  <a:srgbClr val="F4F4FB"/>
                </a:solidFill>
                <a:latin typeface="Arial" pitchFamily="34" charset="0"/>
                <a:ea typeface="Arial" pitchFamily="34" charset="-122"/>
                <a:cs typeface="Arial" pitchFamily="34" charset="-120"/>
              </a:rPr>
              <a:t>Noisy rooms</a:t>
            </a:r>
            <a:endParaRPr lang="en-US" sz="1800" dirty="0"/>
          </a:p>
        </p:txBody>
      </p:sp>
      <p:sp>
        <p:nvSpPr>
          <p:cNvPr id="14" name="Text 12"/>
          <p:cNvSpPr/>
          <p:nvPr/>
        </p:nvSpPr>
        <p:spPr>
          <a:xfrm>
            <a:off x="2933551" y="2609552"/>
            <a:ext cx="1412239" cy="461963"/>
          </a:xfrm>
          <a:prstGeom prst="rect">
            <a:avLst/>
          </a:prstGeom>
          <a:noFill/>
          <a:ln/>
        </p:spPr>
        <p:txBody>
          <a:bodyPr wrap="square" lIns="0" tIns="0" rIns="0" bIns="0" rtlCol="0" anchor="t"/>
          <a:lstStyle/>
          <a:p>
            <a:pPr algn="l" indent="0" marL="0">
              <a:lnSpc>
                <a:spcPts val="1820"/>
              </a:lnSpc>
              <a:buNone/>
            </a:pPr>
            <a:r>
              <a:rPr lang="en-US" sz="1300" dirty="0">
                <a:solidFill>
                  <a:srgbClr val="F4F4FB"/>
                </a:solidFill>
                <a:latin typeface="Arial" pitchFamily="34" charset="0"/>
                <a:ea typeface="Arial" pitchFamily="34" charset="-122"/>
                <a:cs typeface="Arial" pitchFamily="34" charset="-120"/>
              </a:rPr>
              <a:t>Bars, cars, coffee grinders, chatter.</a:t>
            </a:r>
            <a:endParaRPr lang="en-US" sz="1300" dirty="0"/>
          </a:p>
        </p:txBody>
      </p:sp>
      <p:sp>
        <p:nvSpPr>
          <p:cNvPr id="15" name="Text 13"/>
          <p:cNvSpPr/>
          <p:nvPr/>
        </p:nvSpPr>
        <p:spPr>
          <a:xfrm>
            <a:off x="4724400" y="1571476"/>
            <a:ext cx="1841599" cy="3165723"/>
          </a:xfrm>
          <a:prstGeom prst="roundRect">
            <a:avLst>
              <a:gd name="adj" fmla="val 4138"/>
            </a:avLst>
          </a:prstGeom>
          <a:solidFill>
            <a:srgbClr val="25253D"/>
          </a:solidFill>
          <a:ln/>
        </p:spPr>
        <p:txBody>
          <a:bodyPr wrap="square" rtlCol="0" anchor="ctr"/>
          <a:lstStyle/>
          <a:p>
            <a:pPr indent="0" marL="0">
              <a:buNone/>
            </a:pPr>
            <a:endParaRPr lang="en-US" dirty="0"/>
          </a:p>
        </p:txBody>
      </p:sp>
      <p:sp>
        <p:nvSpPr>
          <p:cNvPr id="16" name="Shape 14"/>
          <p:cNvSpPr/>
          <p:nvPr/>
        </p:nvSpPr>
        <p:spPr>
          <a:xfrm>
            <a:off x="4724400" y="1600051"/>
            <a:ext cx="1841599" cy="0"/>
          </a:xfrm>
          <a:prstGeom prst="line">
            <a:avLst/>
          </a:prstGeom>
          <a:noFill/>
          <a:ln w="57150">
            <a:solidFill>
              <a:srgbClr val="9D4EDD"/>
            </a:solidFill>
            <a:prstDash val="solid"/>
          </a:ln>
        </p:spPr>
      </p:sp>
      <p:sp>
        <p:nvSpPr>
          <p:cNvPr id="17" name="Text 15"/>
          <p:cNvSpPr/>
          <p:nvPr/>
        </p:nvSpPr>
        <p:spPr>
          <a:xfrm>
            <a:off x="4953000" y="1907977"/>
            <a:ext cx="1412087" cy="180975"/>
          </a:xfrm>
          <a:prstGeom prst="rect">
            <a:avLst/>
          </a:prstGeom>
          <a:noFill/>
          <a:ln/>
        </p:spPr>
        <p:txBody>
          <a:bodyPr wrap="square" lIns="0" tIns="0" rIns="0" bIns="0" rtlCol="0" anchor="t"/>
          <a:lstStyle/>
          <a:p>
            <a:pPr algn="l" indent="0" marL="0">
              <a:spcAft>
                <a:spcPts val="1000"/>
              </a:spcAft>
              <a:buNone/>
            </a:pPr>
            <a:r>
              <a:rPr lang="en-US" sz="1300" dirty="0">
                <a:solidFill>
                  <a:srgbClr val="06D6A0"/>
                </a:solidFill>
                <a:latin typeface="Courier New" pitchFamily="34" charset="0"/>
                <a:ea typeface="Courier New" pitchFamily="34" charset="-122"/>
                <a:cs typeface="Courier New" pitchFamily="34" charset="-120"/>
              </a:rPr>
              <a:t>03</a:t>
            </a:r>
            <a:endParaRPr lang="en-US" sz="1300" dirty="0"/>
          </a:p>
        </p:txBody>
      </p:sp>
      <p:sp>
        <p:nvSpPr>
          <p:cNvPr id="18" name="Text 16"/>
          <p:cNvSpPr/>
          <p:nvPr/>
        </p:nvSpPr>
        <p:spPr>
          <a:xfrm>
            <a:off x="4953000" y="2215902"/>
            <a:ext cx="1412087" cy="266700"/>
          </a:xfrm>
          <a:prstGeom prst="rect">
            <a:avLst/>
          </a:prstGeom>
          <a:noFill/>
          <a:ln/>
        </p:spPr>
        <p:txBody>
          <a:bodyPr wrap="square" lIns="0" tIns="0" rIns="0" bIns="0" rtlCol="0" anchor="t"/>
          <a:lstStyle/>
          <a:p>
            <a:pPr algn="l" indent="0" marL="0">
              <a:spcAft>
                <a:spcPts val="1000"/>
              </a:spcAft>
              <a:buNone/>
            </a:pPr>
            <a:r>
              <a:rPr lang="en-US" sz="1800" b="1" dirty="0">
                <a:solidFill>
                  <a:srgbClr val="F4F4FB"/>
                </a:solidFill>
                <a:latin typeface="Arial" pitchFamily="34" charset="0"/>
                <a:ea typeface="Arial" pitchFamily="34" charset="-122"/>
                <a:cs typeface="Arial" pitchFamily="34" charset="-120"/>
              </a:rPr>
              <a:t>Cheap mics</a:t>
            </a:r>
            <a:endParaRPr lang="en-US" sz="1800" dirty="0"/>
          </a:p>
        </p:txBody>
      </p:sp>
      <p:sp>
        <p:nvSpPr>
          <p:cNvPr id="19" name="Text 17"/>
          <p:cNvSpPr/>
          <p:nvPr/>
        </p:nvSpPr>
        <p:spPr>
          <a:xfrm>
            <a:off x="4953000" y="2609552"/>
            <a:ext cx="1412087" cy="923925"/>
          </a:xfrm>
          <a:prstGeom prst="rect">
            <a:avLst/>
          </a:prstGeom>
          <a:noFill/>
          <a:ln/>
        </p:spPr>
        <p:txBody>
          <a:bodyPr wrap="square" lIns="0" tIns="0" rIns="0" bIns="0" rtlCol="0" anchor="t"/>
          <a:lstStyle/>
          <a:p>
            <a:pPr algn="l" indent="0" marL="0">
              <a:lnSpc>
                <a:spcPts val="1820"/>
              </a:lnSpc>
              <a:buNone/>
            </a:pPr>
            <a:r>
              <a:rPr lang="en-US" sz="1300" dirty="0">
                <a:solidFill>
                  <a:srgbClr val="F4F4FB"/>
                </a:solidFill>
                <a:latin typeface="Arial" pitchFamily="34" charset="0"/>
                <a:ea typeface="Arial" pitchFamily="34" charset="-122"/>
                <a:cs typeface="Arial" pitchFamily="34" charset="-120"/>
              </a:rPr>
              <a:t>Phones cut out treble and bass — reshape the sound.</a:t>
            </a:r>
            <a:endParaRPr lang="en-US" sz="1300" dirty="0"/>
          </a:p>
        </p:txBody>
      </p:sp>
      <p:sp>
        <p:nvSpPr>
          <p:cNvPr id="20" name="Text 18"/>
          <p:cNvSpPr/>
          <p:nvPr/>
        </p:nvSpPr>
        <p:spPr>
          <a:xfrm>
            <a:off x="6743700" y="1571476"/>
            <a:ext cx="1841599" cy="3165723"/>
          </a:xfrm>
          <a:prstGeom prst="roundRect">
            <a:avLst>
              <a:gd name="adj" fmla="val 4138"/>
            </a:avLst>
          </a:prstGeom>
          <a:solidFill>
            <a:srgbClr val="25253D"/>
          </a:solidFill>
          <a:ln/>
        </p:spPr>
        <p:txBody>
          <a:bodyPr wrap="square" rtlCol="0" anchor="ctr"/>
          <a:lstStyle/>
          <a:p>
            <a:pPr indent="0" marL="0">
              <a:buNone/>
            </a:pPr>
            <a:endParaRPr lang="en-US" dirty="0"/>
          </a:p>
        </p:txBody>
      </p:sp>
      <p:sp>
        <p:nvSpPr>
          <p:cNvPr id="21" name="Shape 19"/>
          <p:cNvSpPr/>
          <p:nvPr/>
        </p:nvSpPr>
        <p:spPr>
          <a:xfrm>
            <a:off x="6743700" y="1600051"/>
            <a:ext cx="1841599" cy="0"/>
          </a:xfrm>
          <a:prstGeom prst="line">
            <a:avLst/>
          </a:prstGeom>
          <a:noFill/>
          <a:ln w="57150">
            <a:solidFill>
              <a:srgbClr val="9D4EDD"/>
            </a:solidFill>
            <a:prstDash val="solid"/>
          </a:ln>
        </p:spPr>
      </p:sp>
      <p:sp>
        <p:nvSpPr>
          <p:cNvPr id="22" name="Text 20"/>
          <p:cNvSpPr/>
          <p:nvPr/>
        </p:nvSpPr>
        <p:spPr>
          <a:xfrm>
            <a:off x="6972300" y="1907977"/>
            <a:ext cx="1412087" cy="180975"/>
          </a:xfrm>
          <a:prstGeom prst="rect">
            <a:avLst/>
          </a:prstGeom>
          <a:noFill/>
          <a:ln/>
        </p:spPr>
        <p:txBody>
          <a:bodyPr wrap="square" lIns="0" tIns="0" rIns="0" bIns="0" rtlCol="0" anchor="t"/>
          <a:lstStyle/>
          <a:p>
            <a:pPr algn="l" indent="0" marL="0">
              <a:spcAft>
                <a:spcPts val="1000"/>
              </a:spcAft>
              <a:buNone/>
            </a:pPr>
            <a:r>
              <a:rPr lang="en-US" sz="1300" dirty="0">
                <a:solidFill>
                  <a:srgbClr val="06D6A0"/>
                </a:solidFill>
                <a:latin typeface="Courier New" pitchFamily="34" charset="0"/>
                <a:ea typeface="Courier New" pitchFamily="34" charset="-122"/>
                <a:cs typeface="Courier New" pitchFamily="34" charset="-120"/>
              </a:rPr>
              <a:t>04</a:t>
            </a:r>
            <a:endParaRPr lang="en-US" sz="1300" dirty="0"/>
          </a:p>
        </p:txBody>
      </p:sp>
      <p:sp>
        <p:nvSpPr>
          <p:cNvPr id="23" name="Text 21"/>
          <p:cNvSpPr/>
          <p:nvPr/>
        </p:nvSpPr>
        <p:spPr>
          <a:xfrm>
            <a:off x="6972300" y="2215902"/>
            <a:ext cx="1412087" cy="266700"/>
          </a:xfrm>
          <a:prstGeom prst="rect">
            <a:avLst/>
          </a:prstGeom>
          <a:noFill/>
          <a:ln/>
        </p:spPr>
        <p:txBody>
          <a:bodyPr wrap="square" lIns="0" tIns="0" rIns="0" bIns="0" rtlCol="0" anchor="t"/>
          <a:lstStyle/>
          <a:p>
            <a:pPr algn="l" indent="0" marL="0">
              <a:spcAft>
                <a:spcPts val="1000"/>
              </a:spcAft>
              <a:buNone/>
            </a:pPr>
            <a:r>
              <a:rPr lang="en-US" sz="1800" b="1" dirty="0">
                <a:solidFill>
                  <a:srgbClr val="F4F4FB"/>
                </a:solidFill>
                <a:latin typeface="Arial" pitchFamily="34" charset="0"/>
                <a:ea typeface="Arial" pitchFamily="34" charset="-122"/>
                <a:cs typeface="Arial" pitchFamily="34" charset="-120"/>
              </a:rPr>
              <a:t>Misaligned</a:t>
            </a:r>
            <a:endParaRPr lang="en-US" sz="1800" dirty="0"/>
          </a:p>
        </p:txBody>
      </p:sp>
      <p:sp>
        <p:nvSpPr>
          <p:cNvPr id="24" name="Text 22"/>
          <p:cNvSpPr/>
          <p:nvPr/>
        </p:nvSpPr>
        <p:spPr>
          <a:xfrm>
            <a:off x="6972300" y="2609552"/>
            <a:ext cx="1412087" cy="692944"/>
          </a:xfrm>
          <a:prstGeom prst="rect">
            <a:avLst/>
          </a:prstGeom>
          <a:noFill/>
          <a:ln/>
        </p:spPr>
        <p:txBody>
          <a:bodyPr wrap="square" lIns="0" tIns="0" rIns="0" bIns="0" rtlCol="0" anchor="t"/>
          <a:lstStyle/>
          <a:p>
            <a:pPr algn="l" indent="0" marL="0">
              <a:lnSpc>
                <a:spcPts val="1820"/>
              </a:lnSpc>
              <a:buNone/>
            </a:pPr>
            <a:r>
              <a:rPr lang="en-US" sz="1300" dirty="0">
                <a:solidFill>
                  <a:srgbClr val="F4F4FB"/>
                </a:solidFill>
                <a:latin typeface="Arial" pitchFamily="34" charset="0"/>
                <a:ea typeface="Arial" pitchFamily="34" charset="-122"/>
                <a:cs typeface="Arial" pitchFamily="34" charset="-120"/>
              </a:rPr>
              <a:t>The clip might start mid-chorus, not at the beat.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85651" y="330101"/>
            <a:ext cx="8057641" cy="171450"/>
          </a:xfrm>
          <a:prstGeom prst="rect">
            <a:avLst/>
          </a:prstGeom>
          <a:noFill/>
          <a:ln/>
        </p:spPr>
        <p:txBody>
          <a:bodyPr wrap="square" lIns="0" tIns="0" rIns="0" bIns="0" rtlCol="0" anchor="t"/>
          <a:lstStyle/>
          <a:p>
            <a:pPr algn="l" indent="0" marL="0">
              <a:spcAft>
                <a:spcPts val="800"/>
              </a:spcAft>
              <a:buNone/>
            </a:pPr>
            <a:r>
              <a:rPr lang="en-US" sz="1200" dirty="0">
                <a:solidFill>
                  <a:srgbClr val="06D6A0"/>
                </a:solidFill>
                <a:latin typeface="Courier New" pitchFamily="34" charset="0"/>
                <a:ea typeface="Courier New" pitchFamily="34" charset="-122"/>
                <a:cs typeface="Courier New" pitchFamily="34" charset="-120"/>
              </a:rPr>
              <a:t>CH 00 · WHAT WE ASKED</a:t>
            </a:r>
            <a:endParaRPr lang="en-US" sz="1200" dirty="0"/>
          </a:p>
        </p:txBody>
      </p:sp>
      <p:sp>
        <p:nvSpPr>
          <p:cNvPr id="4" name="Text 2"/>
          <p:cNvSpPr/>
          <p:nvPr/>
        </p:nvSpPr>
        <p:spPr>
          <a:xfrm>
            <a:off x="685651" y="603052"/>
            <a:ext cx="8057641" cy="495300"/>
          </a:xfrm>
          <a:prstGeom prst="rect">
            <a:avLst/>
          </a:prstGeom>
          <a:noFill/>
          <a:ln/>
        </p:spPr>
        <p:txBody>
          <a:bodyPr wrap="square" lIns="0" tIns="0" rIns="0" bIns="0" rtlCol="0" anchor="t"/>
          <a:lstStyle/>
          <a:p>
            <a:pPr algn="l" indent="0" marL="0">
              <a:spcAft>
                <a:spcPts val="1400"/>
              </a:spcAft>
              <a:buNone/>
            </a:pPr>
            <a:r>
              <a:rPr lang="en-US" sz="3400" b="1" dirty="0">
                <a:solidFill>
                  <a:srgbClr val="F4F4FB"/>
                </a:solidFill>
                <a:latin typeface="Arial" pitchFamily="34" charset="0"/>
                <a:ea typeface="Arial" pitchFamily="34" charset="-122"/>
                <a:cs typeface="Arial" pitchFamily="34" charset="-120"/>
              </a:rPr>
              <a:t>Three research questions</a:t>
            </a:r>
            <a:endParaRPr lang="en-US" sz="3400" dirty="0"/>
          </a:p>
        </p:txBody>
      </p:sp>
      <p:sp>
        <p:nvSpPr>
          <p:cNvPr id="5" name="Text 3"/>
          <p:cNvSpPr/>
          <p:nvPr/>
        </p:nvSpPr>
        <p:spPr>
          <a:xfrm>
            <a:off x="685651" y="1276052"/>
            <a:ext cx="7899648" cy="1032272"/>
          </a:xfrm>
          <a:prstGeom prst="roundRect">
            <a:avLst>
              <a:gd name="adj" fmla="val 7382"/>
            </a:avLst>
          </a:prstGeom>
          <a:solidFill>
            <a:srgbClr val="25253D"/>
          </a:solidFill>
          <a:ln/>
        </p:spPr>
        <p:txBody>
          <a:bodyPr wrap="square" rtlCol="0" anchor="ctr"/>
          <a:lstStyle/>
          <a:p>
            <a:pPr indent="0" marL="0">
              <a:buNone/>
            </a:pPr>
            <a:endParaRPr lang="en-US" dirty="0"/>
          </a:p>
        </p:txBody>
      </p:sp>
      <p:sp>
        <p:nvSpPr>
          <p:cNvPr id="6" name="Shape 4"/>
          <p:cNvSpPr/>
          <p:nvPr/>
        </p:nvSpPr>
        <p:spPr>
          <a:xfrm>
            <a:off x="714226" y="1276052"/>
            <a:ext cx="0" cy="1032272"/>
          </a:xfrm>
          <a:prstGeom prst="line">
            <a:avLst/>
          </a:prstGeom>
          <a:noFill/>
          <a:ln w="57150">
            <a:solidFill>
              <a:srgbClr val="06D6A0"/>
            </a:solidFill>
            <a:prstDash val="solid"/>
          </a:ln>
        </p:spPr>
      </p:sp>
      <p:sp>
        <p:nvSpPr>
          <p:cNvPr id="7" name="Text 5"/>
          <p:cNvSpPr/>
          <p:nvPr/>
        </p:nvSpPr>
        <p:spPr>
          <a:xfrm>
            <a:off x="1022152" y="1428452"/>
            <a:ext cx="7429473" cy="171450"/>
          </a:xfrm>
          <a:prstGeom prst="rect">
            <a:avLst/>
          </a:prstGeom>
          <a:noFill/>
          <a:ln/>
        </p:spPr>
        <p:txBody>
          <a:bodyPr wrap="square" lIns="0" tIns="0" rIns="0" bIns="0" rtlCol="0" anchor="t"/>
          <a:lstStyle/>
          <a:p>
            <a:pPr algn="l" indent="0" marL="0">
              <a:spcAft>
                <a:spcPts val="200"/>
              </a:spcAft>
              <a:buNone/>
            </a:pPr>
            <a:r>
              <a:rPr lang="en-US" sz="1200" dirty="0">
                <a:solidFill>
                  <a:srgbClr val="9D4EDD"/>
                </a:solidFill>
                <a:latin typeface="Courier New" pitchFamily="34" charset="0"/>
                <a:ea typeface="Courier New" pitchFamily="34" charset="-122"/>
                <a:cs typeface="Courier New" pitchFamily="34" charset="-120"/>
              </a:rPr>
              <a:t>Q1  ·  ARCHITECTURE</a:t>
            </a:r>
            <a:endParaRPr lang="en-US" sz="1200" dirty="0"/>
          </a:p>
        </p:txBody>
      </p:sp>
      <p:sp>
        <p:nvSpPr>
          <p:cNvPr id="8" name="Text 6"/>
          <p:cNvSpPr/>
          <p:nvPr/>
        </p:nvSpPr>
        <p:spPr>
          <a:xfrm>
            <a:off x="1022152" y="1625203"/>
            <a:ext cx="7429473" cy="257175"/>
          </a:xfrm>
          <a:prstGeom prst="rect">
            <a:avLst/>
          </a:prstGeom>
          <a:noFill/>
          <a:ln/>
        </p:spPr>
        <p:txBody>
          <a:bodyPr wrap="square" lIns="0" tIns="0" rIns="0" bIns="0" rtlCol="0" anchor="t"/>
          <a:lstStyle/>
          <a:p>
            <a:pPr algn="l" indent="0" marL="0">
              <a:spcAft>
                <a:spcPts val="400"/>
              </a:spcAft>
              <a:buNone/>
            </a:pPr>
            <a:r>
              <a:rPr lang="en-US" sz="1700" b="1" dirty="0">
                <a:solidFill>
                  <a:srgbClr val="F4F4FB"/>
                </a:solidFill>
                <a:latin typeface="Arial" pitchFamily="34" charset="0"/>
                <a:ea typeface="Arial" pitchFamily="34" charset="-122"/>
                <a:cs typeface="Arial" pitchFamily="34" charset="-120"/>
              </a:rPr>
              <a:t>Which model family learns the best audio fingerprints?</a:t>
            </a:r>
            <a:endParaRPr lang="en-US" sz="1700" dirty="0"/>
          </a:p>
        </p:txBody>
      </p:sp>
      <p:sp>
        <p:nvSpPr>
          <p:cNvPr id="9" name="Text 7"/>
          <p:cNvSpPr/>
          <p:nvPr/>
        </p:nvSpPr>
        <p:spPr>
          <a:xfrm>
            <a:off x="1022152" y="1933129"/>
            <a:ext cx="7429473" cy="222796"/>
          </a:xfrm>
          <a:prstGeom prst="rect">
            <a:avLst/>
          </a:prstGeom>
          <a:noFill/>
          <a:ln/>
        </p:spPr>
        <p:txBody>
          <a:bodyPr wrap="square" lIns="0" tIns="0" rIns="0" bIns="0" rtlCol="0" anchor="t"/>
          <a:lstStyle/>
          <a:p>
            <a:pPr algn="l" indent="0" marL="0">
              <a:lnSpc>
                <a:spcPts val="1755"/>
              </a:lnSpc>
              <a:buNone/>
            </a:pPr>
            <a:r>
              <a:rPr lang="en-US" sz="1300" dirty="0">
                <a:solidFill>
                  <a:srgbClr val="F4F4FB"/>
                </a:solidFill>
                <a:latin typeface="Arial" pitchFamily="34" charset="0"/>
                <a:ea typeface="Arial" pitchFamily="34" charset="-122"/>
                <a:cs typeface="Arial" pitchFamily="34" charset="-120"/>
              </a:rPr>
              <a:t>A small CNN, a hybrid transformer, or a pretrained foundation model?</a:t>
            </a:r>
            <a:endParaRPr lang="en-US" sz="1300" dirty="0"/>
          </a:p>
        </p:txBody>
      </p:sp>
      <p:sp>
        <p:nvSpPr>
          <p:cNvPr id="10" name="Text 8"/>
          <p:cNvSpPr/>
          <p:nvPr/>
        </p:nvSpPr>
        <p:spPr>
          <a:xfrm>
            <a:off x="685651" y="2422624"/>
            <a:ext cx="7899648" cy="1032272"/>
          </a:xfrm>
          <a:prstGeom prst="roundRect">
            <a:avLst>
              <a:gd name="adj" fmla="val 7382"/>
            </a:avLst>
          </a:prstGeom>
          <a:solidFill>
            <a:srgbClr val="25253D"/>
          </a:solidFill>
          <a:ln/>
        </p:spPr>
        <p:txBody>
          <a:bodyPr wrap="square" rtlCol="0" anchor="ctr"/>
          <a:lstStyle/>
          <a:p>
            <a:pPr indent="0" marL="0">
              <a:buNone/>
            </a:pPr>
            <a:endParaRPr lang="en-US" dirty="0"/>
          </a:p>
        </p:txBody>
      </p:sp>
      <p:sp>
        <p:nvSpPr>
          <p:cNvPr id="11" name="Shape 9"/>
          <p:cNvSpPr/>
          <p:nvPr/>
        </p:nvSpPr>
        <p:spPr>
          <a:xfrm>
            <a:off x="714226" y="2422624"/>
            <a:ext cx="0" cy="1032272"/>
          </a:xfrm>
          <a:prstGeom prst="line">
            <a:avLst/>
          </a:prstGeom>
          <a:noFill/>
          <a:ln w="57150">
            <a:solidFill>
              <a:srgbClr val="06D6A0"/>
            </a:solidFill>
            <a:prstDash val="solid"/>
          </a:ln>
        </p:spPr>
      </p:sp>
      <p:sp>
        <p:nvSpPr>
          <p:cNvPr id="12" name="Text 10"/>
          <p:cNvSpPr/>
          <p:nvPr/>
        </p:nvSpPr>
        <p:spPr>
          <a:xfrm>
            <a:off x="1022152" y="2575024"/>
            <a:ext cx="7429473" cy="171450"/>
          </a:xfrm>
          <a:prstGeom prst="rect">
            <a:avLst/>
          </a:prstGeom>
          <a:noFill/>
          <a:ln/>
        </p:spPr>
        <p:txBody>
          <a:bodyPr wrap="square" lIns="0" tIns="0" rIns="0" bIns="0" rtlCol="0" anchor="t"/>
          <a:lstStyle/>
          <a:p>
            <a:pPr algn="l" indent="0" marL="0">
              <a:spcAft>
                <a:spcPts val="200"/>
              </a:spcAft>
              <a:buNone/>
            </a:pPr>
            <a:r>
              <a:rPr lang="en-US" sz="1200" dirty="0">
                <a:solidFill>
                  <a:srgbClr val="9D4EDD"/>
                </a:solidFill>
                <a:latin typeface="Courier New" pitchFamily="34" charset="0"/>
                <a:ea typeface="Courier New" pitchFamily="34" charset="-122"/>
                <a:cs typeface="Courier New" pitchFamily="34" charset="-120"/>
              </a:rPr>
              <a:t>Q2  ·  TRAINING</a:t>
            </a:r>
            <a:endParaRPr lang="en-US" sz="1200" dirty="0"/>
          </a:p>
        </p:txBody>
      </p:sp>
      <p:sp>
        <p:nvSpPr>
          <p:cNvPr id="13" name="Text 11"/>
          <p:cNvSpPr/>
          <p:nvPr/>
        </p:nvSpPr>
        <p:spPr>
          <a:xfrm>
            <a:off x="1022152" y="2771775"/>
            <a:ext cx="7429473" cy="257175"/>
          </a:xfrm>
          <a:prstGeom prst="rect">
            <a:avLst/>
          </a:prstGeom>
          <a:noFill/>
          <a:ln/>
        </p:spPr>
        <p:txBody>
          <a:bodyPr wrap="square" lIns="0" tIns="0" rIns="0" bIns="0" rtlCol="0" anchor="t"/>
          <a:lstStyle/>
          <a:p>
            <a:pPr algn="l" indent="0" marL="0">
              <a:spcAft>
                <a:spcPts val="400"/>
              </a:spcAft>
              <a:buNone/>
            </a:pPr>
            <a:r>
              <a:rPr lang="en-US" sz="1700" b="1" dirty="0">
                <a:solidFill>
                  <a:srgbClr val="F4F4FB"/>
                </a:solidFill>
                <a:latin typeface="Arial" pitchFamily="34" charset="0"/>
                <a:ea typeface="Arial" pitchFamily="34" charset="-122"/>
                <a:cs typeface="Arial" pitchFamily="34" charset="-120"/>
              </a:rPr>
              <a:t>How much does the augmentation recipe shape robustness?</a:t>
            </a:r>
            <a:endParaRPr lang="en-US" sz="1700" dirty="0"/>
          </a:p>
        </p:txBody>
      </p:sp>
      <p:sp>
        <p:nvSpPr>
          <p:cNvPr id="14" name="Text 12"/>
          <p:cNvSpPr/>
          <p:nvPr/>
        </p:nvSpPr>
        <p:spPr>
          <a:xfrm>
            <a:off x="1022152" y="3079700"/>
            <a:ext cx="7429473" cy="222796"/>
          </a:xfrm>
          <a:prstGeom prst="rect">
            <a:avLst/>
          </a:prstGeom>
          <a:noFill/>
          <a:ln/>
        </p:spPr>
        <p:txBody>
          <a:bodyPr wrap="square" lIns="0" tIns="0" rIns="0" bIns="0" rtlCol="0" anchor="t"/>
          <a:lstStyle/>
          <a:p>
            <a:pPr algn="l" indent="0" marL="0">
              <a:lnSpc>
                <a:spcPts val="1755"/>
              </a:lnSpc>
              <a:buNone/>
            </a:pPr>
            <a:r>
              <a:rPr lang="en-US" sz="1300" dirty="0">
                <a:solidFill>
                  <a:srgbClr val="F4F4FB"/>
                </a:solidFill>
                <a:latin typeface="Arial" pitchFamily="34" charset="0"/>
                <a:ea typeface="Arial" pitchFamily="34" charset="-122"/>
                <a:cs typeface="Arial" pitchFamily="34" charset="-120"/>
              </a:rPr>
              <a:t>What the model "sees" during training decides what it can handle later.</a:t>
            </a:r>
            <a:endParaRPr lang="en-US" sz="1300" dirty="0"/>
          </a:p>
        </p:txBody>
      </p:sp>
      <p:sp>
        <p:nvSpPr>
          <p:cNvPr id="15" name="Text 13"/>
          <p:cNvSpPr/>
          <p:nvPr/>
        </p:nvSpPr>
        <p:spPr>
          <a:xfrm>
            <a:off x="685651" y="3569196"/>
            <a:ext cx="7899648" cy="1032272"/>
          </a:xfrm>
          <a:prstGeom prst="roundRect">
            <a:avLst>
              <a:gd name="adj" fmla="val 7382"/>
            </a:avLst>
          </a:prstGeom>
          <a:solidFill>
            <a:srgbClr val="25253D"/>
          </a:solidFill>
          <a:ln/>
        </p:spPr>
        <p:txBody>
          <a:bodyPr wrap="square" rtlCol="0" anchor="ctr"/>
          <a:lstStyle/>
          <a:p>
            <a:pPr indent="0" marL="0">
              <a:buNone/>
            </a:pPr>
            <a:endParaRPr lang="en-US" dirty="0"/>
          </a:p>
        </p:txBody>
      </p:sp>
      <p:sp>
        <p:nvSpPr>
          <p:cNvPr id="16" name="Shape 14"/>
          <p:cNvSpPr/>
          <p:nvPr/>
        </p:nvSpPr>
        <p:spPr>
          <a:xfrm>
            <a:off x="714226" y="3569196"/>
            <a:ext cx="0" cy="1032272"/>
          </a:xfrm>
          <a:prstGeom prst="line">
            <a:avLst/>
          </a:prstGeom>
          <a:noFill/>
          <a:ln w="57150">
            <a:solidFill>
              <a:srgbClr val="06D6A0"/>
            </a:solidFill>
            <a:prstDash val="solid"/>
          </a:ln>
        </p:spPr>
      </p:sp>
      <p:sp>
        <p:nvSpPr>
          <p:cNvPr id="17" name="Text 15"/>
          <p:cNvSpPr/>
          <p:nvPr/>
        </p:nvSpPr>
        <p:spPr>
          <a:xfrm>
            <a:off x="1022152" y="3721596"/>
            <a:ext cx="7429473" cy="171450"/>
          </a:xfrm>
          <a:prstGeom prst="rect">
            <a:avLst/>
          </a:prstGeom>
          <a:noFill/>
          <a:ln/>
        </p:spPr>
        <p:txBody>
          <a:bodyPr wrap="square" lIns="0" tIns="0" rIns="0" bIns="0" rtlCol="0" anchor="t"/>
          <a:lstStyle/>
          <a:p>
            <a:pPr algn="l" indent="0" marL="0">
              <a:spcAft>
                <a:spcPts val="200"/>
              </a:spcAft>
              <a:buNone/>
            </a:pPr>
            <a:r>
              <a:rPr lang="en-US" sz="1200" dirty="0">
                <a:solidFill>
                  <a:srgbClr val="9D4EDD"/>
                </a:solidFill>
                <a:latin typeface="Courier New" pitchFamily="34" charset="0"/>
                <a:ea typeface="Courier New" pitchFamily="34" charset="-122"/>
                <a:cs typeface="Courier New" pitchFamily="34" charset="-120"/>
              </a:rPr>
              <a:t>Q3  ·  RETRIEVAL</a:t>
            </a:r>
            <a:endParaRPr lang="en-US" sz="1200" dirty="0"/>
          </a:p>
        </p:txBody>
      </p:sp>
      <p:sp>
        <p:nvSpPr>
          <p:cNvPr id="18" name="Text 16"/>
          <p:cNvSpPr/>
          <p:nvPr/>
        </p:nvSpPr>
        <p:spPr>
          <a:xfrm>
            <a:off x="1022152" y="3918347"/>
            <a:ext cx="7429473" cy="257175"/>
          </a:xfrm>
          <a:prstGeom prst="rect">
            <a:avLst/>
          </a:prstGeom>
          <a:noFill/>
          <a:ln/>
        </p:spPr>
        <p:txBody>
          <a:bodyPr wrap="square" lIns="0" tIns="0" rIns="0" bIns="0" rtlCol="0" anchor="t"/>
          <a:lstStyle/>
          <a:p>
            <a:pPr algn="l" indent="0" marL="0">
              <a:spcAft>
                <a:spcPts val="400"/>
              </a:spcAft>
              <a:buNone/>
            </a:pPr>
            <a:r>
              <a:rPr lang="en-US" sz="1700" b="1" dirty="0">
                <a:solidFill>
                  <a:srgbClr val="F4F4FB"/>
                </a:solidFill>
                <a:latin typeface="Arial" pitchFamily="34" charset="0"/>
                <a:ea typeface="Arial" pitchFamily="34" charset="-122"/>
                <a:cs typeface="Arial" pitchFamily="34" charset="-120"/>
              </a:rPr>
              <a:t>Can we trade a little accuracy for much faster search?</a:t>
            </a:r>
            <a:endParaRPr lang="en-US" sz="1700" dirty="0"/>
          </a:p>
        </p:txBody>
      </p:sp>
      <p:sp>
        <p:nvSpPr>
          <p:cNvPr id="19" name="Text 17"/>
          <p:cNvSpPr/>
          <p:nvPr/>
        </p:nvSpPr>
        <p:spPr>
          <a:xfrm>
            <a:off x="1022152" y="4226272"/>
            <a:ext cx="7429473" cy="222796"/>
          </a:xfrm>
          <a:prstGeom prst="rect">
            <a:avLst/>
          </a:prstGeom>
          <a:noFill/>
          <a:ln/>
        </p:spPr>
        <p:txBody>
          <a:bodyPr wrap="square" lIns="0" tIns="0" rIns="0" bIns="0" rtlCol="0" anchor="t"/>
          <a:lstStyle/>
          <a:p>
            <a:pPr algn="l" indent="0" marL="0">
              <a:lnSpc>
                <a:spcPts val="1755"/>
              </a:lnSpc>
              <a:buNone/>
            </a:pPr>
            <a:r>
              <a:rPr lang="en-US" sz="1300" dirty="0">
                <a:solidFill>
                  <a:srgbClr val="F4F4FB"/>
                </a:solidFill>
                <a:latin typeface="Arial" pitchFamily="34" charset="0"/>
                <a:ea typeface="Arial" pitchFamily="34" charset="-122"/>
                <a:cs typeface="Arial" pitchFamily="34" charset="-120"/>
              </a:rPr>
              <a:t>Approximate FAISS indexes vs. exact search at realistic catalog scale.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34901" y="355550"/>
            <a:ext cx="8161172" cy="171450"/>
          </a:xfrm>
          <a:prstGeom prst="rect">
            <a:avLst/>
          </a:prstGeom>
          <a:noFill/>
          <a:ln/>
        </p:spPr>
        <p:txBody>
          <a:bodyPr wrap="square" lIns="0" tIns="0" rIns="0" bIns="0" rtlCol="0" anchor="t"/>
          <a:lstStyle/>
          <a:p>
            <a:pPr algn="l" indent="0" marL="0">
              <a:spcAft>
                <a:spcPts val="800"/>
              </a:spcAft>
              <a:buNone/>
            </a:pPr>
            <a:r>
              <a:rPr lang="en-US" sz="1200" dirty="0">
                <a:solidFill>
                  <a:srgbClr val="06D6A0"/>
                </a:solidFill>
                <a:latin typeface="Courier New" pitchFamily="34" charset="0"/>
                <a:ea typeface="Courier New" pitchFamily="34" charset="-122"/>
                <a:cs typeface="Courier New" pitchFamily="34" charset="-120"/>
              </a:rPr>
              <a:t>01 · THE SETUP</a:t>
            </a:r>
            <a:endParaRPr lang="en-US" sz="1200" dirty="0"/>
          </a:p>
        </p:txBody>
      </p:sp>
      <p:sp>
        <p:nvSpPr>
          <p:cNvPr id="4" name="Text 2"/>
          <p:cNvSpPr/>
          <p:nvPr/>
        </p:nvSpPr>
        <p:spPr>
          <a:xfrm>
            <a:off x="634901" y="628501"/>
            <a:ext cx="8161172" cy="495300"/>
          </a:xfrm>
          <a:prstGeom prst="rect">
            <a:avLst/>
          </a:prstGeom>
          <a:noFill/>
          <a:ln/>
        </p:spPr>
        <p:txBody>
          <a:bodyPr wrap="square" lIns="0" tIns="0" rIns="0" bIns="0" rtlCol="0" anchor="t"/>
          <a:lstStyle/>
          <a:p>
            <a:pPr algn="l" indent="0" marL="0">
              <a:spcAft>
                <a:spcPts val="400"/>
              </a:spcAft>
              <a:buNone/>
            </a:pPr>
            <a:r>
              <a:rPr lang="en-US" sz="3400" b="1" dirty="0">
                <a:solidFill>
                  <a:srgbClr val="F4F4FB"/>
                </a:solidFill>
                <a:latin typeface="Arial" pitchFamily="34" charset="0"/>
                <a:ea typeface="Arial" pitchFamily="34" charset="-122"/>
                <a:cs typeface="Arial" pitchFamily="34" charset="-120"/>
              </a:rPr>
              <a:t>Data &amp; preprocessing</a:t>
            </a:r>
            <a:endParaRPr lang="en-US" sz="3400" dirty="0"/>
          </a:p>
        </p:txBody>
      </p:sp>
      <p:sp>
        <p:nvSpPr>
          <p:cNvPr id="5" name="Text 3"/>
          <p:cNvSpPr/>
          <p:nvPr/>
        </p:nvSpPr>
        <p:spPr>
          <a:xfrm>
            <a:off x="634901" y="1174552"/>
            <a:ext cx="8161172" cy="209550"/>
          </a:xfrm>
          <a:prstGeom prst="rect">
            <a:avLst/>
          </a:prstGeom>
          <a:noFill/>
          <a:ln/>
        </p:spPr>
        <p:txBody>
          <a:bodyPr wrap="square" lIns="0" tIns="0" rIns="0" bIns="0" rtlCol="0" anchor="t"/>
          <a:lstStyle/>
          <a:p>
            <a:pPr algn="l" indent="0" marL="0">
              <a:spcAft>
                <a:spcPts val="1600"/>
              </a:spcAft>
              <a:buNone/>
            </a:pPr>
            <a:r>
              <a:rPr lang="en-US" sz="1400" b="1" dirty="0">
                <a:solidFill>
                  <a:srgbClr val="9D4EDD"/>
                </a:solidFill>
                <a:latin typeface="Arial" pitchFamily="34" charset="0"/>
                <a:ea typeface="Arial" pitchFamily="34" charset="-122"/>
                <a:cs typeface="Arial" pitchFamily="34" charset="-120"/>
              </a:rPr>
              <a:t>Free Music Archive → log-mel spectrograms</a:t>
            </a:r>
            <a:endParaRPr lang="en-US" sz="1400" dirty="0"/>
          </a:p>
        </p:txBody>
      </p:sp>
      <p:sp>
        <p:nvSpPr>
          <p:cNvPr id="6" name="Text 4"/>
          <p:cNvSpPr/>
          <p:nvPr/>
        </p:nvSpPr>
        <p:spPr>
          <a:xfrm>
            <a:off x="634901" y="1587252"/>
            <a:ext cx="3886200" cy="1116509"/>
          </a:xfrm>
          <a:prstGeom prst="roundRect">
            <a:avLst>
              <a:gd name="adj" fmla="val 6825"/>
            </a:avLst>
          </a:prstGeom>
          <a:solidFill>
            <a:srgbClr val="25253D"/>
          </a:solidFill>
          <a:ln/>
        </p:spPr>
        <p:txBody>
          <a:bodyPr wrap="square" rtlCol="0" anchor="ctr"/>
          <a:lstStyle/>
          <a:p>
            <a:pPr indent="0" marL="0">
              <a:buNone/>
            </a:pPr>
            <a:endParaRPr lang="en-US" dirty="0"/>
          </a:p>
        </p:txBody>
      </p:sp>
      <p:sp>
        <p:nvSpPr>
          <p:cNvPr id="7" name="Shape 5"/>
          <p:cNvSpPr/>
          <p:nvPr/>
        </p:nvSpPr>
        <p:spPr>
          <a:xfrm>
            <a:off x="663476" y="1587252"/>
            <a:ext cx="0" cy="1116509"/>
          </a:xfrm>
          <a:prstGeom prst="line">
            <a:avLst/>
          </a:prstGeom>
          <a:noFill/>
          <a:ln w="57150">
            <a:solidFill>
              <a:srgbClr val="06D6A0"/>
            </a:solidFill>
            <a:prstDash val="solid"/>
          </a:ln>
        </p:spPr>
      </p:sp>
      <p:sp>
        <p:nvSpPr>
          <p:cNvPr id="8" name="Text 6"/>
          <p:cNvSpPr/>
          <p:nvPr/>
        </p:nvSpPr>
        <p:spPr>
          <a:xfrm>
            <a:off x="945952" y="1764953"/>
            <a:ext cx="3387673" cy="152400"/>
          </a:xfrm>
          <a:prstGeom prst="rect">
            <a:avLst/>
          </a:prstGeom>
          <a:noFill/>
          <a:ln/>
        </p:spPr>
        <p:txBody>
          <a:bodyPr wrap="square" lIns="0" tIns="0" rIns="0" bIns="0" rtlCol="0" anchor="t"/>
          <a:lstStyle/>
          <a:p>
            <a:pPr algn="l" indent="0" marL="0">
              <a:spcAft>
                <a:spcPts val="200"/>
              </a:spcAft>
              <a:buNone/>
            </a:pPr>
            <a:r>
              <a:rPr lang="en-US" sz="1100" dirty="0">
                <a:solidFill>
                  <a:srgbClr val="06D6A0"/>
                </a:solidFill>
                <a:latin typeface="Courier New" pitchFamily="34" charset="0"/>
                <a:ea typeface="Courier New" pitchFamily="34" charset="-122"/>
                <a:cs typeface="Courier New" pitchFamily="34" charset="-120"/>
              </a:rPr>
              <a:t>FMA SMALL</a:t>
            </a:r>
            <a:endParaRPr lang="en-US" sz="1100" dirty="0"/>
          </a:p>
        </p:txBody>
      </p:sp>
      <p:sp>
        <p:nvSpPr>
          <p:cNvPr id="9" name="Text 7"/>
          <p:cNvSpPr/>
          <p:nvPr/>
        </p:nvSpPr>
        <p:spPr>
          <a:xfrm>
            <a:off x="945952" y="1942654"/>
            <a:ext cx="3387673" cy="352425"/>
          </a:xfrm>
          <a:prstGeom prst="rect">
            <a:avLst/>
          </a:prstGeom>
          <a:noFill/>
          <a:ln/>
        </p:spPr>
        <p:txBody>
          <a:bodyPr wrap="square" lIns="0" tIns="0" rIns="0" bIns="0" rtlCol="0" anchor="t"/>
          <a:lstStyle/>
          <a:p>
            <a:pPr algn="l" indent="0" marL="0">
              <a:spcAft>
                <a:spcPts val="200"/>
              </a:spcAft>
              <a:buNone/>
            </a:pPr>
            <a:r>
              <a:rPr lang="en-US" sz="2400" b="1" dirty="0">
                <a:solidFill>
                  <a:srgbClr val="F4F4FB"/>
                </a:solidFill>
                <a:latin typeface="Courier New" pitchFamily="34" charset="0"/>
                <a:ea typeface="Courier New" pitchFamily="34" charset="-122"/>
                <a:cs typeface="Courier New" pitchFamily="34" charset="-120"/>
              </a:rPr>
              <a:t>8,000</a:t>
            </a:r>
            <a:endParaRPr lang="en-US" sz="2400" dirty="0"/>
          </a:p>
        </p:txBody>
      </p:sp>
      <p:sp>
        <p:nvSpPr>
          <p:cNvPr id="10" name="Text 8"/>
          <p:cNvSpPr/>
          <p:nvPr/>
        </p:nvSpPr>
        <p:spPr>
          <a:xfrm>
            <a:off x="945952" y="2320379"/>
            <a:ext cx="3387673" cy="205680"/>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tracks across 8 genres · Notebooks 1–3</a:t>
            </a:r>
            <a:endParaRPr lang="en-US" sz="1200" dirty="0"/>
          </a:p>
        </p:txBody>
      </p:sp>
      <p:sp>
        <p:nvSpPr>
          <p:cNvPr id="11" name="Text 9"/>
          <p:cNvSpPr/>
          <p:nvPr/>
        </p:nvSpPr>
        <p:spPr>
          <a:xfrm>
            <a:off x="634901" y="2830711"/>
            <a:ext cx="3886200" cy="1116509"/>
          </a:xfrm>
          <a:prstGeom prst="roundRect">
            <a:avLst>
              <a:gd name="adj" fmla="val 6825"/>
            </a:avLst>
          </a:prstGeom>
          <a:solidFill>
            <a:srgbClr val="25253D"/>
          </a:solidFill>
          <a:ln/>
        </p:spPr>
        <p:txBody>
          <a:bodyPr wrap="square" rtlCol="0" anchor="ctr"/>
          <a:lstStyle/>
          <a:p>
            <a:pPr indent="0" marL="0">
              <a:buNone/>
            </a:pPr>
            <a:endParaRPr lang="en-US" dirty="0"/>
          </a:p>
        </p:txBody>
      </p:sp>
      <p:sp>
        <p:nvSpPr>
          <p:cNvPr id="12" name="Shape 10"/>
          <p:cNvSpPr/>
          <p:nvPr/>
        </p:nvSpPr>
        <p:spPr>
          <a:xfrm>
            <a:off x="663476" y="2830711"/>
            <a:ext cx="0" cy="1116509"/>
          </a:xfrm>
          <a:prstGeom prst="line">
            <a:avLst/>
          </a:prstGeom>
          <a:noFill/>
          <a:ln w="57150">
            <a:solidFill>
              <a:srgbClr val="06D6A0"/>
            </a:solidFill>
            <a:prstDash val="solid"/>
          </a:ln>
        </p:spPr>
      </p:sp>
      <p:sp>
        <p:nvSpPr>
          <p:cNvPr id="13" name="Text 11"/>
          <p:cNvSpPr/>
          <p:nvPr/>
        </p:nvSpPr>
        <p:spPr>
          <a:xfrm>
            <a:off x="945952" y="3008412"/>
            <a:ext cx="3387673" cy="152400"/>
          </a:xfrm>
          <a:prstGeom prst="rect">
            <a:avLst/>
          </a:prstGeom>
          <a:noFill/>
          <a:ln/>
        </p:spPr>
        <p:txBody>
          <a:bodyPr wrap="square" lIns="0" tIns="0" rIns="0" bIns="0" rtlCol="0" anchor="t"/>
          <a:lstStyle/>
          <a:p>
            <a:pPr algn="l" indent="0" marL="0">
              <a:spcAft>
                <a:spcPts val="200"/>
              </a:spcAft>
              <a:buNone/>
            </a:pPr>
            <a:r>
              <a:rPr lang="en-US" sz="1100" dirty="0">
                <a:solidFill>
                  <a:srgbClr val="06D6A0"/>
                </a:solidFill>
                <a:latin typeface="Courier New" pitchFamily="34" charset="0"/>
                <a:ea typeface="Courier New" pitchFamily="34" charset="-122"/>
                <a:cs typeface="Courier New" pitchFamily="34" charset="-120"/>
              </a:rPr>
              <a:t>FMA MEDIUM</a:t>
            </a:r>
            <a:endParaRPr lang="en-US" sz="1100" dirty="0"/>
          </a:p>
        </p:txBody>
      </p:sp>
      <p:sp>
        <p:nvSpPr>
          <p:cNvPr id="14" name="Text 12"/>
          <p:cNvSpPr/>
          <p:nvPr/>
        </p:nvSpPr>
        <p:spPr>
          <a:xfrm>
            <a:off x="945952" y="3186113"/>
            <a:ext cx="3387673" cy="352425"/>
          </a:xfrm>
          <a:prstGeom prst="rect">
            <a:avLst/>
          </a:prstGeom>
          <a:noFill/>
          <a:ln/>
        </p:spPr>
        <p:txBody>
          <a:bodyPr wrap="square" lIns="0" tIns="0" rIns="0" bIns="0" rtlCol="0" anchor="t"/>
          <a:lstStyle/>
          <a:p>
            <a:pPr algn="l" indent="0" marL="0">
              <a:spcAft>
                <a:spcPts val="200"/>
              </a:spcAft>
              <a:buNone/>
            </a:pPr>
            <a:r>
              <a:rPr lang="en-US" sz="2400" b="1" dirty="0">
                <a:solidFill>
                  <a:srgbClr val="F4F4FB"/>
                </a:solidFill>
                <a:latin typeface="Courier New" pitchFamily="34" charset="0"/>
                <a:ea typeface="Courier New" pitchFamily="34" charset="-122"/>
                <a:cs typeface="Courier New" pitchFamily="34" charset="-120"/>
              </a:rPr>
              <a:t>24,995</a:t>
            </a:r>
            <a:endParaRPr lang="en-US" sz="2400" dirty="0"/>
          </a:p>
        </p:txBody>
      </p:sp>
      <p:sp>
        <p:nvSpPr>
          <p:cNvPr id="15" name="Text 13"/>
          <p:cNvSpPr/>
          <p:nvPr/>
        </p:nvSpPr>
        <p:spPr>
          <a:xfrm>
            <a:off x="945952" y="3563838"/>
            <a:ext cx="3387673" cy="205680"/>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tracks at final scale · Notebook 4</a:t>
            </a:r>
            <a:endParaRPr lang="en-US" sz="1200" dirty="0"/>
          </a:p>
        </p:txBody>
      </p:sp>
      <p:sp>
        <p:nvSpPr>
          <p:cNvPr id="16" name="Text 14"/>
          <p:cNvSpPr/>
          <p:nvPr/>
        </p:nvSpPr>
        <p:spPr>
          <a:xfrm>
            <a:off x="634901" y="4074170"/>
            <a:ext cx="3963924" cy="142875"/>
          </a:xfrm>
          <a:prstGeom prst="rect">
            <a:avLst/>
          </a:prstGeom>
          <a:noFill/>
          <a:ln/>
        </p:spPr>
        <p:txBody>
          <a:bodyPr wrap="square" lIns="0" tIns="0" rIns="0" bIns="0" rtlCol="0" anchor="t"/>
          <a:lstStyle/>
          <a:p>
            <a:pPr algn="l" indent="0" marL="0">
              <a:spcBef>
                <a:spcPts val="600"/>
              </a:spcBef>
              <a:buNone/>
            </a:pPr>
            <a:r>
              <a:rPr lang="en-US" sz="1000" dirty="0">
                <a:solidFill>
                  <a:srgbClr val="9D4EDD"/>
                </a:solidFill>
                <a:latin typeface="Courier New" pitchFamily="34" charset="0"/>
                <a:ea typeface="Courier New" pitchFamily="34" charset="-122"/>
                <a:cs typeface="Courier New" pitchFamily="34" charset="-120"/>
              </a:rPr>
              <a:t>Dataset: Defferrard et al. 2017 · arXiv:1612.01840</a:t>
            </a:r>
            <a:endParaRPr lang="en-US" sz="1000" dirty="0"/>
          </a:p>
        </p:txBody>
      </p:sp>
      <p:sp>
        <p:nvSpPr>
          <p:cNvPr id="17" name="Text 15"/>
          <p:cNvSpPr/>
          <p:nvPr/>
        </p:nvSpPr>
        <p:spPr>
          <a:xfrm>
            <a:off x="4749701" y="1587252"/>
            <a:ext cx="3886349" cy="1539627"/>
          </a:xfrm>
          <a:prstGeom prst="roundRect">
            <a:avLst>
              <a:gd name="adj" fmla="val 4949"/>
            </a:avLst>
          </a:prstGeom>
          <a:solidFill>
            <a:srgbClr val="25253D"/>
          </a:solidFill>
          <a:ln/>
        </p:spPr>
        <p:txBody>
          <a:bodyPr wrap="square" rtlCol="0" anchor="ctr"/>
          <a:lstStyle/>
          <a:p>
            <a:pPr indent="0" marL="0">
              <a:buNone/>
            </a:pPr>
            <a:endParaRPr lang="en-US" dirty="0"/>
          </a:p>
        </p:txBody>
      </p:sp>
      <p:sp>
        <p:nvSpPr>
          <p:cNvPr id="18" name="Shape 16"/>
          <p:cNvSpPr/>
          <p:nvPr/>
        </p:nvSpPr>
        <p:spPr>
          <a:xfrm>
            <a:off x="4778276" y="1587252"/>
            <a:ext cx="0" cy="1539627"/>
          </a:xfrm>
          <a:prstGeom prst="line">
            <a:avLst/>
          </a:prstGeom>
          <a:noFill/>
          <a:ln w="57150">
            <a:solidFill>
              <a:srgbClr val="9D4EDD"/>
            </a:solidFill>
            <a:prstDash val="solid"/>
          </a:ln>
        </p:spPr>
      </p:sp>
      <p:sp>
        <p:nvSpPr>
          <p:cNvPr id="19" name="Text 17"/>
          <p:cNvSpPr/>
          <p:nvPr/>
        </p:nvSpPr>
        <p:spPr>
          <a:xfrm>
            <a:off x="5060752" y="1764953"/>
            <a:ext cx="3387825" cy="209550"/>
          </a:xfrm>
          <a:prstGeom prst="rect">
            <a:avLst/>
          </a:prstGeom>
          <a:noFill/>
          <a:ln/>
        </p:spPr>
        <p:txBody>
          <a:bodyPr wrap="square" lIns="0" tIns="0" rIns="0" bIns="0" rtlCol="0" anchor="t"/>
          <a:lstStyle/>
          <a:p>
            <a:pPr algn="l" indent="0" marL="0">
              <a:spcAft>
                <a:spcPts val="400"/>
              </a:spcAft>
              <a:buNone/>
            </a:pPr>
            <a:r>
              <a:rPr lang="en-US" sz="1400" b="1" dirty="0">
                <a:solidFill>
                  <a:srgbClr val="9D4EDD"/>
                </a:solidFill>
                <a:latin typeface="Arial" pitchFamily="34" charset="0"/>
                <a:ea typeface="Arial" pitchFamily="34" charset="-122"/>
                <a:cs typeface="Arial" pitchFamily="34" charset="-120"/>
              </a:rPr>
              <a:t>Audio → sheet music for the model</a:t>
            </a:r>
            <a:endParaRPr lang="en-US" sz="1400" dirty="0"/>
          </a:p>
        </p:txBody>
      </p:sp>
      <p:sp>
        <p:nvSpPr>
          <p:cNvPr id="20" name="Text 18"/>
          <p:cNvSpPr/>
          <p:nvPr/>
        </p:nvSpPr>
        <p:spPr>
          <a:xfrm>
            <a:off x="5060752" y="2025253"/>
            <a:ext cx="3387825" cy="923925"/>
          </a:xfrm>
          <a:prstGeom prst="rect">
            <a:avLst/>
          </a:prstGeom>
          <a:noFill/>
          <a:ln/>
        </p:spPr>
        <p:txBody>
          <a:bodyPr wrap="square" lIns="0" tIns="0" rIns="0" bIns="0" rtlCol="0" anchor="t"/>
          <a:lstStyle/>
          <a:p>
            <a:pPr algn="l" indent="0" marL="0">
              <a:lnSpc>
                <a:spcPts val="1820"/>
              </a:lnSpc>
              <a:buNone/>
            </a:pPr>
            <a:r>
              <a:rPr lang="en-US" sz="1300" dirty="0">
                <a:solidFill>
                  <a:srgbClr val="F4F4FB"/>
                </a:solidFill>
                <a:latin typeface="Arial" pitchFamily="34" charset="0"/>
                <a:ea typeface="Arial" pitchFamily="34" charset="-122"/>
                <a:cs typeface="Arial" pitchFamily="34" charset="-120"/>
              </a:rPr>
              <a:t>Raw sound is a 1-D waveform. Each 3-second clip becomes a </a:t>
            </a:r>
            <a:pPr algn="l" indent="0" marL="0">
              <a:lnSpc>
                <a:spcPts val="1820"/>
              </a:lnSpc>
              <a:buNone/>
            </a:pPr>
            <a:r>
              <a:rPr lang="en-US" sz="1300" b="1" dirty="0">
                <a:solidFill>
                  <a:srgbClr val="F4F4FB"/>
                </a:solidFill>
                <a:latin typeface="Arial" pitchFamily="34" charset="0"/>
                <a:ea typeface="Arial" pitchFamily="34" charset="-122"/>
                <a:cs typeface="Arial" pitchFamily="34" charset="-120"/>
              </a:rPr>
              <a:t>mel-spectrogram</a:t>
            </a:r>
            <a:pPr algn="l" indent="0" marL="0">
              <a:lnSpc>
                <a:spcPts val="1820"/>
              </a:lnSpc>
              <a:buNone/>
            </a:pPr>
            <a:r>
              <a:rPr lang="en-US" sz="1300" dirty="0">
                <a:solidFill>
                  <a:srgbClr val="F4F4FB"/>
                </a:solidFill>
                <a:latin typeface="Arial" pitchFamily="34" charset="0"/>
                <a:ea typeface="Arial" pitchFamily="34" charset="-122"/>
                <a:cs typeface="Arial" pitchFamily="34" charset="-120"/>
              </a:rPr>
              <a:t>: a 2-D picture of frequencies over time — sheet music the network can stare at.</a:t>
            </a:r>
            <a:endParaRPr lang="en-US" sz="1300" dirty="0"/>
          </a:p>
        </p:txBody>
      </p:sp>
      <p:sp>
        <p:nvSpPr>
          <p:cNvPr id="21" name="Text 19"/>
          <p:cNvSpPr/>
          <p:nvPr/>
        </p:nvSpPr>
        <p:spPr>
          <a:xfrm>
            <a:off x="4749701" y="3253829"/>
            <a:ext cx="3886349" cy="978694"/>
          </a:xfrm>
          <a:prstGeom prst="roundRect">
            <a:avLst>
              <a:gd name="adj" fmla="val 7786"/>
            </a:avLst>
          </a:prstGeom>
          <a:solidFill>
            <a:srgbClr val="25253D"/>
          </a:solidFill>
          <a:ln/>
        </p:spPr>
        <p:txBody>
          <a:bodyPr wrap="square" rtlCol="0" anchor="ctr"/>
          <a:lstStyle/>
          <a:p>
            <a:pPr indent="0" marL="0">
              <a:buNone/>
            </a:pPr>
            <a:endParaRPr lang="en-US" dirty="0"/>
          </a:p>
        </p:txBody>
      </p:sp>
      <p:sp>
        <p:nvSpPr>
          <p:cNvPr id="22" name="Shape 20"/>
          <p:cNvSpPr/>
          <p:nvPr/>
        </p:nvSpPr>
        <p:spPr>
          <a:xfrm>
            <a:off x="4778276" y="3253829"/>
            <a:ext cx="0" cy="978694"/>
          </a:xfrm>
          <a:prstGeom prst="line">
            <a:avLst/>
          </a:prstGeom>
          <a:noFill/>
          <a:ln w="57150">
            <a:solidFill>
              <a:srgbClr val="06D6A0"/>
            </a:solidFill>
            <a:prstDash val="solid"/>
          </a:ln>
        </p:spPr>
      </p:sp>
      <p:sp>
        <p:nvSpPr>
          <p:cNvPr id="23" name="Text 21"/>
          <p:cNvSpPr/>
          <p:nvPr/>
        </p:nvSpPr>
        <p:spPr>
          <a:xfrm>
            <a:off x="5060752" y="3431530"/>
            <a:ext cx="3387825" cy="152400"/>
          </a:xfrm>
          <a:prstGeom prst="rect">
            <a:avLst/>
          </a:prstGeom>
          <a:noFill/>
          <a:ln/>
        </p:spPr>
        <p:txBody>
          <a:bodyPr wrap="square" lIns="0" tIns="0" rIns="0" bIns="0" rtlCol="0" anchor="t"/>
          <a:lstStyle/>
          <a:p>
            <a:pPr algn="l" indent="0" marL="0">
              <a:spcAft>
                <a:spcPts val="200"/>
              </a:spcAft>
              <a:buNone/>
            </a:pPr>
            <a:r>
              <a:rPr lang="en-US" sz="1100" dirty="0">
                <a:solidFill>
                  <a:srgbClr val="06D6A0"/>
                </a:solidFill>
                <a:latin typeface="Courier New" pitchFamily="34" charset="0"/>
                <a:ea typeface="Courier New" pitchFamily="34" charset="-122"/>
                <a:cs typeface="Courier New" pitchFamily="34" charset="-120"/>
              </a:rPr>
              <a:t>SPEC CONFIG</a:t>
            </a:r>
            <a:endParaRPr lang="en-US" sz="1100" dirty="0"/>
          </a:p>
        </p:txBody>
      </p:sp>
      <p:sp>
        <p:nvSpPr>
          <p:cNvPr id="24" name="Text 22"/>
          <p:cNvSpPr/>
          <p:nvPr/>
        </p:nvSpPr>
        <p:spPr>
          <a:xfrm>
            <a:off x="5060752" y="3609231"/>
            <a:ext cx="3387825" cy="445591"/>
          </a:xfrm>
          <a:prstGeom prst="rect">
            <a:avLst/>
          </a:prstGeom>
          <a:noFill/>
          <a:ln/>
        </p:spPr>
        <p:txBody>
          <a:bodyPr wrap="square" lIns="0" tIns="0" rIns="0" bIns="0" rtlCol="0" anchor="t"/>
          <a:lstStyle/>
          <a:p>
            <a:pPr algn="l" indent="0" marL="0">
              <a:lnSpc>
                <a:spcPts val="1755"/>
              </a:lnSpc>
              <a:buNone/>
            </a:pPr>
            <a:r>
              <a:rPr lang="en-US" sz="1300" dirty="0">
                <a:solidFill>
                  <a:srgbClr val="F4F4FB"/>
                </a:solidFill>
                <a:latin typeface="Arial" pitchFamily="34" charset="0"/>
                <a:ea typeface="Arial" pitchFamily="34" charset="-122"/>
                <a:cs typeface="Arial" pitchFamily="34" charset="-120"/>
              </a:rPr>
              <a:t>16 kHz · 128 mel bands · FFT 1024 · hop 256</a:t>
            </a:r>
            <a:endParaRPr lang="en-US" sz="1300" dirty="0"/>
          </a:p>
        </p:txBody>
      </p:sp>
      <p:sp>
        <p:nvSpPr>
          <p:cNvPr id="25" name="Text 23"/>
          <p:cNvSpPr/>
          <p:nvPr/>
        </p:nvSpPr>
        <p:spPr>
          <a:xfrm>
            <a:off x="4749701" y="4359473"/>
            <a:ext cx="3964076" cy="142875"/>
          </a:xfrm>
          <a:prstGeom prst="rect">
            <a:avLst/>
          </a:prstGeom>
          <a:noFill/>
          <a:ln/>
        </p:spPr>
        <p:txBody>
          <a:bodyPr wrap="square" lIns="0" tIns="0" rIns="0" bIns="0" rtlCol="0" anchor="t"/>
          <a:lstStyle/>
          <a:p>
            <a:pPr algn="l" indent="0" marL="0">
              <a:spcBef>
                <a:spcPts val="600"/>
              </a:spcBef>
              <a:buNone/>
            </a:pPr>
            <a:r>
              <a:rPr lang="en-US" sz="1000" dirty="0">
                <a:solidFill>
                  <a:srgbClr val="9D4EDD"/>
                </a:solidFill>
                <a:latin typeface="Courier New" pitchFamily="34" charset="0"/>
                <a:ea typeface="Courier New" pitchFamily="34" charset="-122"/>
                <a:cs typeface="Courier New" pitchFamily="34" charset="-120"/>
              </a:rPr>
              <a:t>Config follows NAFP [1] Chang et al. 2021</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34901" y="304800"/>
            <a:ext cx="8161172" cy="171450"/>
          </a:xfrm>
          <a:prstGeom prst="rect">
            <a:avLst/>
          </a:prstGeom>
          <a:noFill/>
          <a:ln/>
        </p:spPr>
        <p:txBody>
          <a:bodyPr wrap="square" lIns="0" tIns="0" rIns="0" bIns="0" rtlCol="0" anchor="t"/>
          <a:lstStyle/>
          <a:p>
            <a:pPr algn="l" indent="0" marL="0">
              <a:spcAft>
                <a:spcPts val="600"/>
              </a:spcAft>
              <a:buNone/>
            </a:pPr>
            <a:r>
              <a:rPr lang="en-US" sz="1200" dirty="0">
                <a:solidFill>
                  <a:srgbClr val="06D6A0"/>
                </a:solidFill>
                <a:latin typeface="Courier New" pitchFamily="34" charset="0"/>
                <a:ea typeface="Courier New" pitchFamily="34" charset="-122"/>
                <a:cs typeface="Courier New" pitchFamily="34" charset="-120"/>
              </a:rPr>
              <a:t>01 · THE SETUP</a:t>
            </a:r>
            <a:endParaRPr lang="en-US" sz="1200" dirty="0"/>
          </a:p>
        </p:txBody>
      </p:sp>
      <p:sp>
        <p:nvSpPr>
          <p:cNvPr id="4" name="Text 2"/>
          <p:cNvSpPr/>
          <p:nvPr/>
        </p:nvSpPr>
        <p:spPr>
          <a:xfrm>
            <a:off x="634901" y="552450"/>
            <a:ext cx="8161172" cy="428625"/>
          </a:xfrm>
          <a:prstGeom prst="rect">
            <a:avLst/>
          </a:prstGeom>
          <a:noFill/>
          <a:ln/>
        </p:spPr>
        <p:txBody>
          <a:bodyPr wrap="square" lIns="0" tIns="0" rIns="0" bIns="0" rtlCol="0" anchor="t"/>
          <a:lstStyle/>
          <a:p>
            <a:pPr algn="l" indent="0" marL="0">
              <a:spcAft>
                <a:spcPts val="200"/>
              </a:spcAft>
              <a:buNone/>
            </a:pPr>
            <a:r>
              <a:rPr lang="en-US" sz="3000" b="1" dirty="0">
                <a:solidFill>
                  <a:srgbClr val="F4F4FB"/>
                </a:solidFill>
                <a:latin typeface="Arial" pitchFamily="34" charset="0"/>
                <a:ea typeface="Arial" pitchFamily="34" charset="-122"/>
                <a:cs typeface="Arial" pitchFamily="34" charset="-120"/>
              </a:rPr>
              <a:t>How the model learns: contrastive learning</a:t>
            </a:r>
            <a:endParaRPr lang="en-US" sz="3000" dirty="0"/>
          </a:p>
        </p:txBody>
      </p:sp>
      <p:sp>
        <p:nvSpPr>
          <p:cNvPr id="5" name="Text 3"/>
          <p:cNvSpPr/>
          <p:nvPr/>
        </p:nvSpPr>
        <p:spPr>
          <a:xfrm>
            <a:off x="634901" y="1006376"/>
            <a:ext cx="8161172" cy="209550"/>
          </a:xfrm>
          <a:prstGeom prst="rect">
            <a:avLst/>
          </a:prstGeom>
          <a:noFill/>
          <a:ln/>
        </p:spPr>
        <p:txBody>
          <a:bodyPr wrap="square" lIns="0" tIns="0" rIns="0" bIns="0" rtlCol="0" anchor="t"/>
          <a:lstStyle/>
          <a:p>
            <a:pPr algn="l" indent="0" marL="0">
              <a:spcAft>
                <a:spcPts val="1200"/>
              </a:spcAft>
              <a:buNone/>
            </a:pPr>
            <a:r>
              <a:rPr lang="en-US" sz="1400" b="1" dirty="0">
                <a:solidFill>
                  <a:srgbClr val="9D4EDD"/>
                </a:solidFill>
                <a:latin typeface="Arial" pitchFamily="34" charset="0"/>
                <a:ea typeface="Arial" pitchFamily="34" charset="-122"/>
                <a:cs typeface="Arial" pitchFamily="34" charset="-120"/>
              </a:rPr>
              <a:t>Don't teach "this is song X" — teach "these two clips go together."</a:t>
            </a:r>
            <a:endParaRPr lang="en-US" sz="1400" dirty="0"/>
          </a:p>
        </p:txBody>
      </p:sp>
      <p:sp>
        <p:nvSpPr>
          <p:cNvPr id="6" name="Text 4"/>
          <p:cNvSpPr/>
          <p:nvPr/>
        </p:nvSpPr>
        <p:spPr>
          <a:xfrm>
            <a:off x="634901" y="1368326"/>
            <a:ext cx="3886200" cy="1898303"/>
          </a:xfrm>
          <a:prstGeom prst="roundRect">
            <a:avLst>
              <a:gd name="adj" fmla="val 4014"/>
            </a:avLst>
          </a:prstGeom>
          <a:solidFill>
            <a:srgbClr val="25253D"/>
          </a:solidFill>
          <a:ln/>
        </p:spPr>
        <p:txBody>
          <a:bodyPr wrap="square" rtlCol="0" anchor="ctr"/>
          <a:lstStyle/>
          <a:p>
            <a:pPr indent="0" marL="0">
              <a:buNone/>
            </a:pPr>
            <a:endParaRPr lang="en-US" dirty="0"/>
          </a:p>
        </p:txBody>
      </p:sp>
      <p:sp>
        <p:nvSpPr>
          <p:cNvPr id="7" name="Shape 5"/>
          <p:cNvSpPr/>
          <p:nvPr/>
        </p:nvSpPr>
        <p:spPr>
          <a:xfrm>
            <a:off x="663476" y="1368326"/>
            <a:ext cx="0" cy="1898303"/>
          </a:xfrm>
          <a:prstGeom prst="line">
            <a:avLst/>
          </a:prstGeom>
          <a:noFill/>
          <a:ln w="57150">
            <a:solidFill>
              <a:srgbClr val="9D4EDD"/>
            </a:solidFill>
            <a:prstDash val="solid"/>
          </a:ln>
        </p:spPr>
      </p:sp>
      <p:sp>
        <p:nvSpPr>
          <p:cNvPr id="8" name="Text 6"/>
          <p:cNvSpPr/>
          <p:nvPr/>
        </p:nvSpPr>
        <p:spPr>
          <a:xfrm>
            <a:off x="945952" y="1520726"/>
            <a:ext cx="3387673" cy="209550"/>
          </a:xfrm>
          <a:prstGeom prst="rect">
            <a:avLst/>
          </a:prstGeom>
          <a:noFill/>
          <a:ln/>
        </p:spPr>
        <p:txBody>
          <a:bodyPr wrap="square" lIns="0" tIns="0" rIns="0" bIns="0" rtlCol="0" anchor="t"/>
          <a:lstStyle/>
          <a:p>
            <a:pPr algn="l" indent="0" marL="0">
              <a:spcAft>
                <a:spcPts val="400"/>
              </a:spcAft>
              <a:buNone/>
            </a:pPr>
            <a:r>
              <a:rPr lang="en-US" sz="1400" b="1" dirty="0">
                <a:solidFill>
                  <a:srgbClr val="9D4EDD"/>
                </a:solidFill>
                <a:latin typeface="Arial" pitchFamily="34" charset="0"/>
                <a:ea typeface="Arial" pitchFamily="34" charset="-122"/>
                <a:cs typeface="Arial" pitchFamily="34" charset="-120"/>
              </a:rPr>
              <a:t>The photo-sorting analogy</a:t>
            </a:r>
            <a:endParaRPr lang="en-US" sz="1400" dirty="0"/>
          </a:p>
        </p:txBody>
      </p:sp>
      <p:sp>
        <p:nvSpPr>
          <p:cNvPr id="9" name="Text 7"/>
          <p:cNvSpPr/>
          <p:nvPr/>
        </p:nvSpPr>
        <p:spPr>
          <a:xfrm>
            <a:off x="945952" y="1781026"/>
            <a:ext cx="3387673" cy="1333202"/>
          </a:xfrm>
          <a:prstGeom prst="rect">
            <a:avLst/>
          </a:prstGeom>
          <a:noFill/>
          <a:ln/>
        </p:spPr>
        <p:txBody>
          <a:bodyPr wrap="square" lIns="0" tIns="0" rIns="0" bIns="0" rtlCol="0" anchor="t"/>
          <a:lstStyle/>
          <a:p>
            <a:pPr algn="l" indent="0" marL="0">
              <a:lnSpc>
                <a:spcPts val="1750"/>
              </a:lnSpc>
              <a:buNone/>
            </a:pPr>
            <a:r>
              <a:rPr lang="en-US" sz="1250" dirty="0">
                <a:solidFill>
                  <a:srgbClr val="F4F4FB"/>
                </a:solidFill>
                <a:latin typeface="Arial" pitchFamily="34" charset="0"/>
                <a:ea typeface="Arial" pitchFamily="34" charset="-122"/>
                <a:cs typeface="Arial" pitchFamily="34" charset="-120"/>
              </a:rPr>
              <a:t>Imagine family photos with no names. You just group ones that look like the same person together, and push strangers apart. Do that enough times and the model learns what "sameness" means — without ever seeing a label.</a:t>
            </a:r>
            <a:endParaRPr lang="en-US" sz="1250" dirty="0"/>
          </a:p>
        </p:txBody>
      </p:sp>
      <p:sp>
        <p:nvSpPr>
          <p:cNvPr id="10" name="Text 8"/>
          <p:cNvSpPr/>
          <p:nvPr/>
        </p:nvSpPr>
        <p:spPr>
          <a:xfrm>
            <a:off x="634901" y="3368129"/>
            <a:ext cx="3886200" cy="1231702"/>
          </a:xfrm>
          <a:prstGeom prst="roundRect">
            <a:avLst>
              <a:gd name="adj" fmla="val 6187"/>
            </a:avLst>
          </a:prstGeom>
          <a:solidFill>
            <a:srgbClr val="25253D"/>
          </a:solidFill>
          <a:ln/>
        </p:spPr>
        <p:txBody>
          <a:bodyPr wrap="square" rtlCol="0" anchor="ctr"/>
          <a:lstStyle/>
          <a:p>
            <a:pPr indent="0" marL="0">
              <a:buNone/>
            </a:pPr>
            <a:endParaRPr lang="en-US" dirty="0"/>
          </a:p>
        </p:txBody>
      </p:sp>
      <p:sp>
        <p:nvSpPr>
          <p:cNvPr id="11" name="Shape 9"/>
          <p:cNvSpPr/>
          <p:nvPr/>
        </p:nvSpPr>
        <p:spPr>
          <a:xfrm>
            <a:off x="663476" y="3368129"/>
            <a:ext cx="0" cy="1231702"/>
          </a:xfrm>
          <a:prstGeom prst="line">
            <a:avLst/>
          </a:prstGeom>
          <a:noFill/>
          <a:ln w="57150">
            <a:solidFill>
              <a:srgbClr val="9D4EDD"/>
            </a:solidFill>
            <a:prstDash val="solid"/>
          </a:ln>
        </p:spPr>
      </p:sp>
      <p:sp>
        <p:nvSpPr>
          <p:cNvPr id="12" name="Text 10"/>
          <p:cNvSpPr/>
          <p:nvPr/>
        </p:nvSpPr>
        <p:spPr>
          <a:xfrm>
            <a:off x="945952" y="3520529"/>
            <a:ext cx="3387673" cy="209550"/>
          </a:xfrm>
          <a:prstGeom prst="rect">
            <a:avLst/>
          </a:prstGeom>
          <a:noFill/>
          <a:ln/>
        </p:spPr>
        <p:txBody>
          <a:bodyPr wrap="square" lIns="0" tIns="0" rIns="0" bIns="0" rtlCol="0" anchor="t"/>
          <a:lstStyle/>
          <a:p>
            <a:pPr algn="l" indent="0" marL="0">
              <a:spcAft>
                <a:spcPts val="400"/>
              </a:spcAft>
              <a:buNone/>
            </a:pPr>
            <a:r>
              <a:rPr lang="en-US" sz="1400" b="1" dirty="0">
                <a:solidFill>
                  <a:srgbClr val="9D4EDD"/>
                </a:solidFill>
                <a:latin typeface="Arial" pitchFamily="34" charset="0"/>
                <a:ea typeface="Arial" pitchFamily="34" charset="-122"/>
                <a:cs typeface="Arial" pitchFamily="34" charset="-120"/>
              </a:rPr>
              <a:t>Same trick, with audio</a:t>
            </a:r>
            <a:endParaRPr lang="en-US" sz="1400" dirty="0"/>
          </a:p>
        </p:txBody>
      </p:sp>
      <p:sp>
        <p:nvSpPr>
          <p:cNvPr id="13" name="Text 11"/>
          <p:cNvSpPr/>
          <p:nvPr/>
        </p:nvSpPr>
        <p:spPr>
          <a:xfrm>
            <a:off x="945952" y="3780830"/>
            <a:ext cx="3387673" cy="666601"/>
          </a:xfrm>
          <a:prstGeom prst="rect">
            <a:avLst/>
          </a:prstGeom>
          <a:noFill/>
          <a:ln/>
        </p:spPr>
        <p:txBody>
          <a:bodyPr wrap="square" lIns="0" tIns="0" rIns="0" bIns="0" rtlCol="0" anchor="t"/>
          <a:lstStyle/>
          <a:p>
            <a:pPr algn="l" indent="0" marL="0">
              <a:lnSpc>
                <a:spcPts val="1750"/>
              </a:lnSpc>
              <a:buNone/>
            </a:pPr>
            <a:r>
              <a:rPr lang="en-US" sz="1250" dirty="0">
                <a:solidFill>
                  <a:srgbClr val="F4F4FB"/>
                </a:solidFill>
                <a:latin typeface="Arial" pitchFamily="34" charset="0"/>
                <a:ea typeface="Arial" pitchFamily="34" charset="-122"/>
                <a:cs typeface="Arial" pitchFamily="34" charset="-120"/>
              </a:rPr>
              <a:t>Anchor + a distorted copy = a positive pair. Other songs in the batch = negatives. Pull positives together; push negatives apart.</a:t>
            </a:r>
            <a:endParaRPr lang="en-US" sz="1250" dirty="0"/>
          </a:p>
        </p:txBody>
      </p:sp>
      <p:sp>
        <p:nvSpPr>
          <p:cNvPr id="14" name="Text 12"/>
          <p:cNvSpPr/>
          <p:nvPr/>
        </p:nvSpPr>
        <p:spPr>
          <a:xfrm>
            <a:off x="4749701" y="1368326"/>
            <a:ext cx="3886349" cy="2285554"/>
          </a:xfrm>
          <a:prstGeom prst="roundRect">
            <a:avLst>
              <a:gd name="adj" fmla="val 3334"/>
            </a:avLst>
          </a:prstGeom>
          <a:solidFill>
            <a:srgbClr val="25253D"/>
          </a:solidFill>
          <a:ln/>
        </p:spPr>
        <p:txBody>
          <a:bodyPr wrap="square" rtlCol="0" anchor="ctr"/>
          <a:lstStyle/>
          <a:p>
            <a:pPr indent="0" marL="0">
              <a:buNone/>
            </a:pPr>
            <a:endParaRPr lang="en-US" dirty="0"/>
          </a:p>
        </p:txBody>
      </p:sp>
      <p:sp>
        <p:nvSpPr>
          <p:cNvPr id="15" name="Shape 13"/>
          <p:cNvSpPr/>
          <p:nvPr/>
        </p:nvSpPr>
        <p:spPr>
          <a:xfrm>
            <a:off x="4778276" y="1368326"/>
            <a:ext cx="0" cy="2285554"/>
          </a:xfrm>
          <a:prstGeom prst="line">
            <a:avLst/>
          </a:prstGeom>
          <a:noFill/>
          <a:ln w="57150">
            <a:solidFill>
              <a:srgbClr val="06D6A0"/>
            </a:solidFill>
            <a:prstDash val="solid"/>
          </a:ln>
        </p:spPr>
      </p:sp>
      <p:sp>
        <p:nvSpPr>
          <p:cNvPr id="16" name="Text 14"/>
          <p:cNvSpPr/>
          <p:nvPr/>
        </p:nvSpPr>
        <p:spPr>
          <a:xfrm>
            <a:off x="5060752" y="1520726"/>
            <a:ext cx="3387825" cy="171450"/>
          </a:xfrm>
          <a:prstGeom prst="rect">
            <a:avLst/>
          </a:prstGeom>
          <a:noFill/>
          <a:ln/>
        </p:spPr>
        <p:txBody>
          <a:bodyPr wrap="square" lIns="0" tIns="0" rIns="0" bIns="0" rtlCol="0" anchor="t"/>
          <a:lstStyle/>
          <a:p>
            <a:pPr algn="l" indent="0" marL="0">
              <a:spcAft>
                <a:spcPts val="400"/>
              </a:spcAft>
              <a:buNone/>
            </a:pPr>
            <a:r>
              <a:rPr lang="en-US" sz="1200" b="1" dirty="0">
                <a:solidFill>
                  <a:srgbClr val="06D6A0"/>
                </a:solidFill>
                <a:latin typeface="Courier New" pitchFamily="34" charset="0"/>
                <a:ea typeface="Courier New" pitchFamily="34" charset="-122"/>
                <a:cs typeface="Courier New" pitchFamily="34" charset="-120"/>
              </a:rPr>
              <a:t>THE RECIPE</a:t>
            </a:r>
            <a:endParaRPr lang="en-US" sz="1200" dirty="0"/>
          </a:p>
        </p:txBody>
      </p:sp>
      <p:sp>
        <p:nvSpPr>
          <p:cNvPr id="17" name="Text 15"/>
          <p:cNvSpPr/>
          <p:nvPr/>
        </p:nvSpPr>
        <p:spPr>
          <a:xfrm>
            <a:off x="5060752" y="1742926"/>
            <a:ext cx="3387825" cy="428625"/>
          </a:xfrm>
          <a:prstGeom prst="rect">
            <a:avLst/>
          </a:prstGeom>
          <a:noFill/>
          <a:ln/>
        </p:spPr>
        <p:txBody>
          <a:bodyPr wrap="square" lIns="0" tIns="0" rIns="0" bIns="0" rtlCol="0" anchor="t"/>
          <a:lstStyle/>
          <a:p>
            <a:pPr algn="l" indent="0" marL="0">
              <a:lnSpc>
                <a:spcPts val="1688"/>
              </a:lnSpc>
              <a:spcAft>
                <a:spcPts val="500"/>
              </a:spcAft>
              <a:buNone/>
            </a:pPr>
            <a:r>
              <a:rPr lang="en-US" sz="1250" dirty="0">
                <a:solidFill>
                  <a:srgbClr val="F4F4FB"/>
                </a:solidFill>
                <a:latin typeface="Arial" pitchFamily="34" charset="0"/>
                <a:ea typeface="Arial" pitchFamily="34" charset="-122"/>
                <a:cs typeface="Arial" pitchFamily="34" charset="-120"/>
              </a:rPr>
              <a:t>· </a:t>
            </a:r>
            <a:pPr algn="l" indent="0" marL="0">
              <a:lnSpc>
                <a:spcPts val="1688"/>
              </a:lnSpc>
              <a:spcAft>
                <a:spcPts val="500"/>
              </a:spcAft>
              <a:buNone/>
            </a:pPr>
            <a:r>
              <a:rPr lang="en-US" sz="1250" b="1" dirty="0">
                <a:solidFill>
                  <a:srgbClr val="F4F4FB"/>
                </a:solidFill>
                <a:latin typeface="Arial" pitchFamily="34" charset="0"/>
                <a:ea typeface="Arial" pitchFamily="34" charset="-122"/>
                <a:cs typeface="Arial" pitchFamily="34" charset="-120"/>
              </a:rPr>
              <a:t>NT-Xent loss</a:t>
            </a:r>
            <a:pPr algn="l" indent="0" marL="0">
              <a:lnSpc>
                <a:spcPts val="1688"/>
              </a:lnSpc>
              <a:spcAft>
                <a:spcPts val="500"/>
              </a:spcAft>
              <a:buNone/>
            </a:pPr>
            <a:r>
              <a:rPr lang="en-US" sz="1250" dirty="0">
                <a:solidFill>
                  <a:srgbClr val="F4F4FB"/>
                </a:solidFill>
                <a:latin typeface="Arial" pitchFamily="34" charset="0"/>
                <a:ea typeface="Arial" pitchFamily="34" charset="-122"/>
                <a:cs typeface="Arial" pitchFamily="34" charset="-120"/>
              </a:rPr>
              <a:t> — normalized temperature-scaled cross-entropy</a:t>
            </a:r>
            <a:endParaRPr lang="en-US" sz="1250" dirty="0"/>
          </a:p>
        </p:txBody>
      </p:sp>
      <p:sp>
        <p:nvSpPr>
          <p:cNvPr id="18" name="Text 16"/>
          <p:cNvSpPr/>
          <p:nvPr/>
        </p:nvSpPr>
        <p:spPr>
          <a:xfrm>
            <a:off x="5060752" y="2234952"/>
            <a:ext cx="3387825" cy="214313"/>
          </a:xfrm>
          <a:prstGeom prst="rect">
            <a:avLst/>
          </a:prstGeom>
          <a:noFill/>
          <a:ln/>
        </p:spPr>
        <p:txBody>
          <a:bodyPr wrap="square" lIns="0" tIns="0" rIns="0" bIns="0" rtlCol="0" anchor="t"/>
          <a:lstStyle/>
          <a:p>
            <a:pPr algn="l" indent="0" marL="0">
              <a:lnSpc>
                <a:spcPts val="1688"/>
              </a:lnSpc>
              <a:spcAft>
                <a:spcPts val="500"/>
              </a:spcAft>
              <a:buNone/>
            </a:pPr>
            <a:r>
              <a:rPr lang="en-US" sz="1250" dirty="0">
                <a:solidFill>
                  <a:srgbClr val="F4F4FB"/>
                </a:solidFill>
                <a:latin typeface="Arial" pitchFamily="34" charset="0"/>
                <a:ea typeface="Arial" pitchFamily="34" charset="-122"/>
                <a:cs typeface="Arial" pitchFamily="34" charset="-120"/>
              </a:rPr>
              <a:t>· L2-normalize embeddings onto a unit sphere</a:t>
            </a:r>
            <a:endParaRPr lang="en-US" sz="1250" dirty="0"/>
          </a:p>
        </p:txBody>
      </p:sp>
      <p:sp>
        <p:nvSpPr>
          <p:cNvPr id="19" name="Text 17"/>
          <p:cNvSpPr/>
          <p:nvPr/>
        </p:nvSpPr>
        <p:spPr>
          <a:xfrm>
            <a:off x="5060752" y="2512665"/>
            <a:ext cx="3387825" cy="214313"/>
          </a:xfrm>
          <a:prstGeom prst="rect">
            <a:avLst/>
          </a:prstGeom>
          <a:noFill/>
          <a:ln/>
        </p:spPr>
        <p:txBody>
          <a:bodyPr wrap="square" lIns="0" tIns="0" rIns="0" bIns="0" rtlCol="0" anchor="t"/>
          <a:lstStyle/>
          <a:p>
            <a:pPr algn="l" indent="0" marL="0">
              <a:lnSpc>
                <a:spcPts val="1688"/>
              </a:lnSpc>
              <a:spcAft>
                <a:spcPts val="500"/>
              </a:spcAft>
              <a:buNone/>
            </a:pPr>
            <a:r>
              <a:rPr lang="en-US" sz="1250" dirty="0">
                <a:solidFill>
                  <a:srgbClr val="F4F4FB"/>
                </a:solidFill>
                <a:latin typeface="Arial" pitchFamily="34" charset="0"/>
                <a:ea typeface="Arial" pitchFamily="34" charset="-122"/>
                <a:cs typeface="Arial" pitchFamily="34" charset="-120"/>
              </a:rPr>
              <a:t>· In-batch negatives (free, no extra labels)</a:t>
            </a:r>
            <a:endParaRPr lang="en-US" sz="1250" dirty="0"/>
          </a:p>
        </p:txBody>
      </p:sp>
      <p:sp>
        <p:nvSpPr>
          <p:cNvPr id="20" name="Text 18"/>
          <p:cNvSpPr/>
          <p:nvPr/>
        </p:nvSpPr>
        <p:spPr>
          <a:xfrm>
            <a:off x="5060752" y="2790379"/>
            <a:ext cx="3387825" cy="214313"/>
          </a:xfrm>
          <a:prstGeom prst="rect">
            <a:avLst/>
          </a:prstGeom>
          <a:noFill/>
          <a:ln/>
        </p:spPr>
        <p:txBody>
          <a:bodyPr wrap="square" lIns="0" tIns="0" rIns="0" bIns="0" rtlCol="0" anchor="t"/>
          <a:lstStyle/>
          <a:p>
            <a:pPr algn="l" indent="0" marL="0">
              <a:lnSpc>
                <a:spcPts val="1688"/>
              </a:lnSpc>
              <a:spcAft>
                <a:spcPts val="500"/>
              </a:spcAft>
              <a:buNone/>
            </a:pPr>
            <a:r>
              <a:rPr lang="en-US" sz="1250" dirty="0">
                <a:solidFill>
                  <a:srgbClr val="F4F4FB"/>
                </a:solidFill>
                <a:latin typeface="Arial" pitchFamily="34" charset="0"/>
                <a:ea typeface="Arial" pitchFamily="34" charset="-122"/>
                <a:cs typeface="Arial" pitchFamily="34" charset="-120"/>
              </a:rPr>
              <a:t>· Inner-product similarity for retrieval</a:t>
            </a:r>
            <a:endParaRPr lang="en-US" sz="1250" dirty="0"/>
          </a:p>
        </p:txBody>
      </p:sp>
      <p:sp>
        <p:nvSpPr>
          <p:cNvPr id="21" name="Text 19"/>
          <p:cNvSpPr/>
          <p:nvPr/>
        </p:nvSpPr>
        <p:spPr>
          <a:xfrm>
            <a:off x="5060752" y="3068092"/>
            <a:ext cx="3387825" cy="214313"/>
          </a:xfrm>
          <a:prstGeom prst="rect">
            <a:avLst/>
          </a:prstGeom>
          <a:noFill/>
          <a:ln/>
        </p:spPr>
        <p:txBody>
          <a:bodyPr wrap="square" lIns="0" tIns="0" rIns="0" bIns="0" rtlCol="0" anchor="t"/>
          <a:lstStyle/>
          <a:p>
            <a:pPr algn="l" indent="0" marL="0">
              <a:lnSpc>
                <a:spcPts val="1688"/>
              </a:lnSpc>
              <a:spcAft>
                <a:spcPts val="500"/>
              </a:spcAft>
              <a:buNone/>
            </a:pPr>
            <a:r>
              <a:rPr lang="en-US" sz="1250" dirty="0">
                <a:solidFill>
                  <a:srgbClr val="F4F4FB"/>
                </a:solidFill>
                <a:latin typeface="Arial" pitchFamily="34" charset="0"/>
                <a:ea typeface="Arial" pitchFamily="34" charset="-122"/>
                <a:cs typeface="Arial" pitchFamily="34" charset="-120"/>
              </a:rPr>
              <a:t>· Output: a 128-dim fingerprint per clip</a:t>
            </a:r>
            <a:endParaRPr lang="en-US" sz="1250" dirty="0"/>
          </a:p>
        </p:txBody>
      </p:sp>
      <p:sp>
        <p:nvSpPr>
          <p:cNvPr id="22" name="Text 20"/>
          <p:cNvSpPr/>
          <p:nvPr/>
        </p:nvSpPr>
        <p:spPr>
          <a:xfrm>
            <a:off x="5060752" y="3358604"/>
            <a:ext cx="3387825" cy="142875"/>
          </a:xfrm>
          <a:prstGeom prst="rect">
            <a:avLst/>
          </a:prstGeom>
          <a:noFill/>
          <a:ln/>
        </p:spPr>
        <p:txBody>
          <a:bodyPr wrap="square" lIns="0" tIns="0" rIns="0" bIns="0" rtlCol="0" anchor="t"/>
          <a:lstStyle/>
          <a:p>
            <a:pPr algn="l" indent="0" marL="0">
              <a:spcBef>
                <a:spcPts val="600"/>
              </a:spcBef>
              <a:buNone/>
            </a:pPr>
            <a:r>
              <a:rPr lang="en-US" sz="1000" dirty="0">
                <a:solidFill>
                  <a:srgbClr val="9D4EDD"/>
                </a:solidFill>
                <a:latin typeface="Courier New" pitchFamily="34" charset="0"/>
                <a:ea typeface="Courier New" pitchFamily="34" charset="-122"/>
                <a:cs typeface="Courier New" pitchFamily="34" charset="-120"/>
              </a:rPr>
              <a:t>Framework from NAFP [1] Chang et al. 2021</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736550" y="431750"/>
            <a:ext cx="7953807" cy="171450"/>
          </a:xfrm>
          <a:prstGeom prst="rect">
            <a:avLst/>
          </a:prstGeom>
          <a:noFill/>
          <a:ln/>
        </p:spPr>
        <p:txBody>
          <a:bodyPr wrap="square" lIns="0" tIns="0" rIns="0" bIns="0" rtlCol="0" anchor="t"/>
          <a:lstStyle/>
          <a:p>
            <a:pPr algn="l" indent="0" marL="0">
              <a:spcAft>
                <a:spcPts val="1200"/>
              </a:spcAft>
              <a:buNone/>
            </a:pPr>
            <a:r>
              <a:rPr lang="en-US" sz="1200" dirty="0">
                <a:solidFill>
                  <a:srgbClr val="06D6A0"/>
                </a:solidFill>
                <a:latin typeface="Courier New" pitchFamily="34" charset="0"/>
                <a:ea typeface="Courier New" pitchFamily="34" charset="-122"/>
                <a:cs typeface="Courier New" pitchFamily="34" charset="-120"/>
              </a:rPr>
              <a:t>01 · THE SETUP</a:t>
            </a:r>
            <a:endParaRPr lang="en-US" sz="1200" dirty="0"/>
          </a:p>
        </p:txBody>
      </p:sp>
      <p:sp>
        <p:nvSpPr>
          <p:cNvPr id="4" name="Text 2"/>
          <p:cNvSpPr/>
          <p:nvPr/>
        </p:nvSpPr>
        <p:spPr>
          <a:xfrm>
            <a:off x="736550" y="755600"/>
            <a:ext cx="7953807" cy="561975"/>
          </a:xfrm>
          <a:prstGeom prst="rect">
            <a:avLst/>
          </a:prstGeom>
          <a:noFill/>
          <a:ln/>
        </p:spPr>
        <p:txBody>
          <a:bodyPr wrap="square" lIns="0" tIns="0" rIns="0" bIns="0" rtlCol="0" anchor="t"/>
          <a:lstStyle/>
          <a:p>
            <a:pPr algn="l" indent="0" marL="0">
              <a:spcAft>
                <a:spcPts val="400"/>
              </a:spcAft>
              <a:buNone/>
            </a:pPr>
            <a:r>
              <a:rPr lang="en-US" sz="3800" b="1" dirty="0">
                <a:solidFill>
                  <a:srgbClr val="F4F4FB"/>
                </a:solidFill>
                <a:latin typeface="Arial" pitchFamily="34" charset="0"/>
                <a:ea typeface="Arial" pitchFamily="34" charset="-122"/>
                <a:cs typeface="Arial" pitchFamily="34" charset="-120"/>
              </a:rPr>
              <a:t>Three contenders</a:t>
            </a:r>
            <a:endParaRPr lang="en-US" sz="3800" dirty="0"/>
          </a:p>
        </p:txBody>
      </p:sp>
      <p:sp>
        <p:nvSpPr>
          <p:cNvPr id="5" name="Text 3"/>
          <p:cNvSpPr/>
          <p:nvPr/>
        </p:nvSpPr>
        <p:spPr>
          <a:xfrm>
            <a:off x="736550" y="1368326"/>
            <a:ext cx="7953807" cy="238125"/>
          </a:xfrm>
          <a:prstGeom prst="rect">
            <a:avLst/>
          </a:prstGeom>
          <a:noFill/>
          <a:ln/>
        </p:spPr>
        <p:txBody>
          <a:bodyPr wrap="square" lIns="0" tIns="0" rIns="0" bIns="0" rtlCol="0" anchor="t"/>
          <a:lstStyle/>
          <a:p>
            <a:pPr algn="l" indent="0" marL="0">
              <a:spcAft>
                <a:spcPts val="1800"/>
              </a:spcAft>
              <a:buNone/>
            </a:pPr>
            <a:r>
              <a:rPr lang="en-US" sz="1600" b="1" dirty="0">
                <a:solidFill>
                  <a:srgbClr val="9D4EDD"/>
                </a:solidFill>
                <a:latin typeface="Arial" pitchFamily="34" charset="0"/>
                <a:ea typeface="Arial" pitchFamily="34" charset="-122"/>
                <a:cs typeface="Arial" pitchFamily="34" charset="-120"/>
              </a:rPr>
              <a:t>Same training recipe, very different brains.</a:t>
            </a:r>
            <a:endParaRPr lang="en-US" sz="1600" dirty="0"/>
          </a:p>
        </p:txBody>
      </p:sp>
      <p:sp>
        <p:nvSpPr>
          <p:cNvPr id="6" name="Text 4"/>
          <p:cNvSpPr/>
          <p:nvPr/>
        </p:nvSpPr>
        <p:spPr>
          <a:xfrm>
            <a:off x="736550" y="1835051"/>
            <a:ext cx="2463850" cy="2981027"/>
          </a:xfrm>
          <a:prstGeom prst="roundRect">
            <a:avLst>
              <a:gd name="adj" fmla="val 3093"/>
            </a:avLst>
          </a:prstGeom>
          <a:solidFill>
            <a:srgbClr val="25253D"/>
          </a:solidFill>
          <a:ln/>
        </p:spPr>
        <p:txBody>
          <a:bodyPr wrap="square" rtlCol="0" anchor="ctr"/>
          <a:lstStyle/>
          <a:p>
            <a:pPr indent="0" marL="0">
              <a:buNone/>
            </a:pPr>
            <a:endParaRPr lang="en-US" dirty="0"/>
          </a:p>
        </p:txBody>
      </p:sp>
      <p:sp>
        <p:nvSpPr>
          <p:cNvPr id="7" name="Shape 5"/>
          <p:cNvSpPr/>
          <p:nvPr/>
        </p:nvSpPr>
        <p:spPr>
          <a:xfrm>
            <a:off x="736550" y="1863626"/>
            <a:ext cx="2463850" cy="0"/>
          </a:xfrm>
          <a:prstGeom prst="line">
            <a:avLst/>
          </a:prstGeom>
          <a:noFill/>
          <a:ln w="57150">
            <a:solidFill>
              <a:srgbClr val="9D4EDD"/>
            </a:solidFill>
            <a:prstDash val="solid"/>
          </a:ln>
        </p:spPr>
      </p:sp>
      <p:sp>
        <p:nvSpPr>
          <p:cNvPr id="8" name="Text 6"/>
          <p:cNvSpPr/>
          <p:nvPr/>
        </p:nvSpPr>
        <p:spPr>
          <a:xfrm>
            <a:off x="1015901" y="2146102"/>
            <a:ext cx="1943252" cy="152400"/>
          </a:xfrm>
          <a:prstGeom prst="rect">
            <a:avLst/>
          </a:prstGeom>
          <a:noFill/>
          <a:ln/>
        </p:spPr>
        <p:txBody>
          <a:bodyPr wrap="square" lIns="0" tIns="0" rIns="0" bIns="0" rtlCol="0" anchor="t"/>
          <a:lstStyle/>
          <a:p>
            <a:pPr algn="l" indent="0" marL="0">
              <a:spcAft>
                <a:spcPts val="600"/>
              </a:spcAft>
              <a:buNone/>
            </a:pPr>
            <a:r>
              <a:rPr lang="en-US" sz="1100" dirty="0">
                <a:solidFill>
                  <a:srgbClr val="9D4EDD"/>
                </a:solidFill>
                <a:latin typeface="Courier New" pitchFamily="34" charset="0"/>
                <a:ea typeface="Courier New" pitchFamily="34" charset="-122"/>
                <a:cs typeface="Courier New" pitchFamily="34" charset="-120"/>
              </a:rPr>
              <a:t>CONTENDER 01</a:t>
            </a:r>
            <a:endParaRPr lang="en-US" sz="1100" dirty="0"/>
          </a:p>
        </p:txBody>
      </p:sp>
      <p:sp>
        <p:nvSpPr>
          <p:cNvPr id="9" name="Text 7"/>
          <p:cNvSpPr/>
          <p:nvPr/>
        </p:nvSpPr>
        <p:spPr>
          <a:xfrm>
            <a:off x="1015901" y="2374702"/>
            <a:ext cx="1943252" cy="295275"/>
          </a:xfrm>
          <a:prstGeom prst="rect">
            <a:avLst/>
          </a:prstGeom>
          <a:noFill/>
          <a:ln/>
        </p:spPr>
        <p:txBody>
          <a:bodyPr wrap="square" lIns="0" tIns="0" rIns="0" bIns="0" rtlCol="0" anchor="t"/>
          <a:lstStyle/>
          <a:p>
            <a:pPr algn="l" indent="0" marL="0">
              <a:spcAft>
                <a:spcPts val="1000"/>
              </a:spcAft>
              <a:buNone/>
            </a:pPr>
            <a:r>
              <a:rPr lang="en-US" sz="2000" b="1" dirty="0">
                <a:solidFill>
                  <a:srgbClr val="F4F4FB"/>
                </a:solidFill>
                <a:latin typeface="Arial" pitchFamily="34" charset="0"/>
                <a:ea typeface="Arial" pitchFamily="34" charset="-122"/>
                <a:cs typeface="Arial" pitchFamily="34" charset="-120"/>
              </a:rPr>
              <a:t>CNN Baseline</a:t>
            </a:r>
            <a:endParaRPr lang="en-US" sz="2000" dirty="0"/>
          </a:p>
        </p:txBody>
      </p:sp>
      <p:sp>
        <p:nvSpPr>
          <p:cNvPr id="10" name="Text 8"/>
          <p:cNvSpPr/>
          <p:nvPr/>
        </p:nvSpPr>
        <p:spPr>
          <a:xfrm>
            <a:off x="1015901" y="2796927"/>
            <a:ext cx="1943252" cy="1154906"/>
          </a:xfrm>
          <a:prstGeom prst="rect">
            <a:avLst/>
          </a:prstGeom>
          <a:noFill/>
          <a:ln/>
        </p:spPr>
        <p:txBody>
          <a:bodyPr wrap="square" lIns="0" tIns="0" rIns="0" bIns="0" rtlCol="0" anchor="t"/>
          <a:lstStyle/>
          <a:p>
            <a:pPr algn="l" indent="0" marL="0">
              <a:lnSpc>
                <a:spcPts val="1820"/>
              </a:lnSpc>
              <a:spcAft>
                <a:spcPts val="1000"/>
              </a:spcAft>
              <a:buNone/>
            </a:pPr>
            <a:r>
              <a:rPr lang="en-US" sz="1300" dirty="0">
                <a:solidFill>
                  <a:srgbClr val="F4F4FB"/>
                </a:solidFill>
                <a:latin typeface="Arial" pitchFamily="34" charset="0"/>
                <a:ea typeface="Arial" pitchFamily="34" charset="-122"/>
                <a:cs typeface="Arial" pitchFamily="34" charset="-120"/>
              </a:rPr>
              <a:t>A small 4-layer convolutional net. The "simple" reference. Reads the spectrogram like an image.</a:t>
            </a:r>
            <a:endParaRPr lang="en-US" sz="1300" dirty="0"/>
          </a:p>
        </p:txBody>
      </p:sp>
      <p:sp>
        <p:nvSpPr>
          <p:cNvPr id="11" name="Text 9"/>
          <p:cNvSpPr/>
          <p:nvPr/>
        </p:nvSpPr>
        <p:spPr>
          <a:xfrm>
            <a:off x="1015901" y="4078784"/>
            <a:ext cx="1943252" cy="419100"/>
          </a:xfrm>
          <a:prstGeom prst="rect">
            <a:avLst/>
          </a:prstGeom>
          <a:noFill/>
          <a:ln/>
        </p:spPr>
        <p:txBody>
          <a:bodyPr wrap="square" lIns="0" tIns="0" rIns="0" bIns="0" rtlCol="0" anchor="t"/>
          <a:lstStyle/>
          <a:p>
            <a:pPr algn="l" indent="0" marL="0">
              <a:lnSpc>
                <a:spcPts val="1650"/>
              </a:lnSpc>
              <a:buNone/>
            </a:pPr>
            <a:r>
              <a:rPr lang="en-US" sz="1100" dirty="0">
                <a:solidFill>
                  <a:srgbClr val="9D4EDD"/>
                </a:solidFill>
                <a:latin typeface="Courier New" pitchFamily="34" charset="0"/>
                <a:ea typeface="Courier New" pitchFamily="34" charset="-122"/>
                <a:cs typeface="Courier New" pitchFamily="34" charset="-120"/>
              </a:rPr>
              <a:t>~1M params · 128-dim out</a:t>
            </a:r>
            <a:endParaRPr lang="en-US" sz="1100" dirty="0"/>
          </a:p>
        </p:txBody>
      </p:sp>
      <p:sp>
        <p:nvSpPr>
          <p:cNvPr id="12" name="Text 10"/>
          <p:cNvSpPr/>
          <p:nvPr/>
        </p:nvSpPr>
        <p:spPr>
          <a:xfrm>
            <a:off x="3403550" y="1835051"/>
            <a:ext cx="2463850" cy="2981027"/>
          </a:xfrm>
          <a:prstGeom prst="roundRect">
            <a:avLst>
              <a:gd name="adj" fmla="val 3093"/>
            </a:avLst>
          </a:prstGeom>
          <a:solidFill>
            <a:srgbClr val="25253D"/>
          </a:solidFill>
          <a:ln/>
        </p:spPr>
        <p:txBody>
          <a:bodyPr wrap="square" rtlCol="0" anchor="ctr"/>
          <a:lstStyle/>
          <a:p>
            <a:pPr indent="0" marL="0">
              <a:buNone/>
            </a:pPr>
            <a:endParaRPr lang="en-US" dirty="0"/>
          </a:p>
        </p:txBody>
      </p:sp>
      <p:sp>
        <p:nvSpPr>
          <p:cNvPr id="13" name="Shape 11"/>
          <p:cNvSpPr/>
          <p:nvPr/>
        </p:nvSpPr>
        <p:spPr>
          <a:xfrm>
            <a:off x="3403550" y="1863626"/>
            <a:ext cx="2463850" cy="0"/>
          </a:xfrm>
          <a:prstGeom prst="line">
            <a:avLst/>
          </a:prstGeom>
          <a:noFill/>
          <a:ln w="57150">
            <a:solidFill>
              <a:srgbClr val="06D6A0"/>
            </a:solidFill>
            <a:prstDash val="solid"/>
          </a:ln>
        </p:spPr>
      </p:sp>
      <p:sp>
        <p:nvSpPr>
          <p:cNvPr id="14" name="Text 12"/>
          <p:cNvSpPr/>
          <p:nvPr/>
        </p:nvSpPr>
        <p:spPr>
          <a:xfrm>
            <a:off x="3682901" y="2146102"/>
            <a:ext cx="1943252" cy="152400"/>
          </a:xfrm>
          <a:prstGeom prst="rect">
            <a:avLst/>
          </a:prstGeom>
          <a:noFill/>
          <a:ln/>
        </p:spPr>
        <p:txBody>
          <a:bodyPr wrap="square" lIns="0" tIns="0" rIns="0" bIns="0" rtlCol="0" anchor="t"/>
          <a:lstStyle/>
          <a:p>
            <a:pPr algn="l" indent="0" marL="0">
              <a:spcAft>
                <a:spcPts val="600"/>
              </a:spcAft>
              <a:buNone/>
            </a:pPr>
            <a:r>
              <a:rPr lang="en-US" sz="1100" dirty="0">
                <a:solidFill>
                  <a:srgbClr val="06D6A0"/>
                </a:solidFill>
                <a:latin typeface="Courier New" pitchFamily="34" charset="0"/>
                <a:ea typeface="Courier New" pitchFamily="34" charset="-122"/>
                <a:cs typeface="Courier New" pitchFamily="34" charset="-120"/>
              </a:rPr>
              <a:t>CONTENDER 02</a:t>
            </a:r>
            <a:endParaRPr lang="en-US" sz="1100" dirty="0"/>
          </a:p>
        </p:txBody>
      </p:sp>
      <p:sp>
        <p:nvSpPr>
          <p:cNvPr id="15" name="Text 13"/>
          <p:cNvSpPr/>
          <p:nvPr/>
        </p:nvSpPr>
        <p:spPr>
          <a:xfrm>
            <a:off x="3682901" y="2374702"/>
            <a:ext cx="1943252" cy="590550"/>
          </a:xfrm>
          <a:prstGeom prst="rect">
            <a:avLst/>
          </a:prstGeom>
          <a:noFill/>
          <a:ln/>
        </p:spPr>
        <p:txBody>
          <a:bodyPr wrap="square" lIns="0" tIns="0" rIns="0" bIns="0" rtlCol="0" anchor="t"/>
          <a:lstStyle/>
          <a:p>
            <a:pPr algn="l" indent="0" marL="0">
              <a:spcAft>
                <a:spcPts val="1000"/>
              </a:spcAft>
              <a:buNone/>
            </a:pPr>
            <a:r>
              <a:rPr lang="en-US" sz="2000" b="1" dirty="0">
                <a:solidFill>
                  <a:srgbClr val="F4F4FB"/>
                </a:solidFill>
                <a:latin typeface="Arial" pitchFamily="34" charset="0"/>
                <a:ea typeface="Arial" pitchFamily="34" charset="-122"/>
                <a:cs typeface="Arial" pitchFamily="34" charset="-120"/>
              </a:rPr>
              <a:t>Hybrid Transformer</a:t>
            </a:r>
            <a:endParaRPr lang="en-US" sz="2000" dirty="0"/>
          </a:p>
        </p:txBody>
      </p:sp>
      <p:sp>
        <p:nvSpPr>
          <p:cNvPr id="16" name="Text 14"/>
          <p:cNvSpPr/>
          <p:nvPr/>
        </p:nvSpPr>
        <p:spPr>
          <a:xfrm>
            <a:off x="3682901" y="3092202"/>
            <a:ext cx="1943252" cy="923925"/>
          </a:xfrm>
          <a:prstGeom prst="rect">
            <a:avLst/>
          </a:prstGeom>
          <a:noFill/>
          <a:ln/>
        </p:spPr>
        <p:txBody>
          <a:bodyPr wrap="square" lIns="0" tIns="0" rIns="0" bIns="0" rtlCol="0" anchor="t"/>
          <a:lstStyle/>
          <a:p>
            <a:pPr algn="l" indent="0" marL="0">
              <a:lnSpc>
                <a:spcPts val="1820"/>
              </a:lnSpc>
              <a:spcAft>
                <a:spcPts val="1000"/>
              </a:spcAft>
              <a:buNone/>
            </a:pPr>
            <a:r>
              <a:rPr lang="en-US" sz="1300" dirty="0">
                <a:solidFill>
                  <a:srgbClr val="F4F4FB"/>
                </a:solidFill>
                <a:latin typeface="Arial" pitchFamily="34" charset="0"/>
                <a:ea typeface="Arial" pitchFamily="34" charset="-122"/>
                <a:cs typeface="Arial" pitchFamily="34" charset="-120"/>
              </a:rPr>
              <a:t>Conv stem + transformer encoder. Expected winner — local and global patterns in one model.</a:t>
            </a:r>
            <a:endParaRPr lang="en-US" sz="1300" dirty="0"/>
          </a:p>
        </p:txBody>
      </p:sp>
      <p:sp>
        <p:nvSpPr>
          <p:cNvPr id="17" name="Text 15"/>
          <p:cNvSpPr/>
          <p:nvPr/>
        </p:nvSpPr>
        <p:spPr>
          <a:xfrm>
            <a:off x="3682901" y="4143077"/>
            <a:ext cx="1943252" cy="419100"/>
          </a:xfrm>
          <a:prstGeom prst="rect">
            <a:avLst/>
          </a:prstGeom>
          <a:noFill/>
          <a:ln/>
        </p:spPr>
        <p:txBody>
          <a:bodyPr wrap="square" lIns="0" tIns="0" rIns="0" bIns="0" rtlCol="0" anchor="t"/>
          <a:lstStyle/>
          <a:p>
            <a:pPr algn="l" indent="0" marL="0">
              <a:lnSpc>
                <a:spcPts val="1650"/>
              </a:lnSpc>
              <a:buNone/>
            </a:pPr>
            <a:r>
              <a:rPr lang="en-US" sz="1100" dirty="0">
                <a:solidFill>
                  <a:srgbClr val="06D6A0"/>
                </a:solidFill>
                <a:latin typeface="Courier New" pitchFamily="34" charset="0"/>
                <a:ea typeface="Courier New" pitchFamily="34" charset="-122"/>
                <a:cs typeface="Courier New" pitchFamily="34" charset="-120"/>
              </a:rPr>
              <a:t>d=256 · 4 heads · 4 layers</a:t>
            </a:r>
            <a:endParaRPr lang="en-US" sz="1100" dirty="0"/>
          </a:p>
        </p:txBody>
      </p:sp>
      <p:sp>
        <p:nvSpPr>
          <p:cNvPr id="18" name="Text 16"/>
          <p:cNvSpPr/>
          <p:nvPr/>
        </p:nvSpPr>
        <p:spPr>
          <a:xfrm>
            <a:off x="6070550" y="1835051"/>
            <a:ext cx="2463850" cy="2981027"/>
          </a:xfrm>
          <a:prstGeom prst="roundRect">
            <a:avLst>
              <a:gd name="adj" fmla="val 3093"/>
            </a:avLst>
          </a:prstGeom>
          <a:solidFill>
            <a:srgbClr val="25253D"/>
          </a:solidFill>
          <a:ln/>
        </p:spPr>
        <p:txBody>
          <a:bodyPr wrap="square" rtlCol="0" anchor="ctr"/>
          <a:lstStyle/>
          <a:p>
            <a:pPr indent="0" marL="0">
              <a:buNone/>
            </a:pPr>
            <a:endParaRPr lang="en-US" dirty="0"/>
          </a:p>
        </p:txBody>
      </p:sp>
      <p:sp>
        <p:nvSpPr>
          <p:cNvPr id="19" name="Shape 17"/>
          <p:cNvSpPr/>
          <p:nvPr/>
        </p:nvSpPr>
        <p:spPr>
          <a:xfrm>
            <a:off x="6070550" y="1863626"/>
            <a:ext cx="2463850" cy="0"/>
          </a:xfrm>
          <a:prstGeom prst="line">
            <a:avLst/>
          </a:prstGeom>
          <a:noFill/>
          <a:ln w="57150">
            <a:solidFill>
              <a:srgbClr val="EF476F"/>
            </a:solidFill>
            <a:prstDash val="solid"/>
          </a:ln>
        </p:spPr>
      </p:sp>
      <p:sp>
        <p:nvSpPr>
          <p:cNvPr id="20" name="Text 18"/>
          <p:cNvSpPr/>
          <p:nvPr/>
        </p:nvSpPr>
        <p:spPr>
          <a:xfrm>
            <a:off x="6349901" y="2146102"/>
            <a:ext cx="1943252" cy="152400"/>
          </a:xfrm>
          <a:prstGeom prst="rect">
            <a:avLst/>
          </a:prstGeom>
          <a:noFill/>
          <a:ln/>
        </p:spPr>
        <p:txBody>
          <a:bodyPr wrap="square" lIns="0" tIns="0" rIns="0" bIns="0" rtlCol="0" anchor="t"/>
          <a:lstStyle/>
          <a:p>
            <a:pPr algn="l" indent="0" marL="0">
              <a:spcAft>
                <a:spcPts val="600"/>
              </a:spcAft>
              <a:buNone/>
            </a:pPr>
            <a:r>
              <a:rPr lang="en-US" sz="1100" dirty="0">
                <a:solidFill>
                  <a:srgbClr val="EF476F"/>
                </a:solidFill>
                <a:latin typeface="Courier New" pitchFamily="34" charset="0"/>
                <a:ea typeface="Courier New" pitchFamily="34" charset="-122"/>
                <a:cs typeface="Courier New" pitchFamily="34" charset="-120"/>
              </a:rPr>
              <a:t>CONTENDER 03</a:t>
            </a:r>
            <a:endParaRPr lang="en-US" sz="1100" dirty="0"/>
          </a:p>
        </p:txBody>
      </p:sp>
      <p:sp>
        <p:nvSpPr>
          <p:cNvPr id="21" name="Text 19"/>
          <p:cNvSpPr/>
          <p:nvPr/>
        </p:nvSpPr>
        <p:spPr>
          <a:xfrm>
            <a:off x="6349901" y="2374702"/>
            <a:ext cx="1943252" cy="295275"/>
          </a:xfrm>
          <a:prstGeom prst="rect">
            <a:avLst/>
          </a:prstGeom>
          <a:noFill/>
          <a:ln/>
        </p:spPr>
        <p:txBody>
          <a:bodyPr wrap="square" lIns="0" tIns="0" rIns="0" bIns="0" rtlCol="0" anchor="t"/>
          <a:lstStyle/>
          <a:p>
            <a:pPr algn="l" indent="0" marL="0">
              <a:spcAft>
                <a:spcPts val="1000"/>
              </a:spcAft>
              <a:buNone/>
            </a:pPr>
            <a:r>
              <a:rPr lang="en-US" sz="2000" b="1" dirty="0">
                <a:solidFill>
                  <a:srgbClr val="F4F4FB"/>
                </a:solidFill>
                <a:latin typeface="Arial" pitchFamily="34" charset="0"/>
                <a:ea typeface="Arial" pitchFamily="34" charset="-122"/>
                <a:cs typeface="Arial" pitchFamily="34" charset="-120"/>
              </a:rPr>
              <a:t>Frozen MERT</a:t>
            </a:r>
            <a:endParaRPr lang="en-US" sz="2000" dirty="0"/>
          </a:p>
        </p:txBody>
      </p:sp>
      <p:sp>
        <p:nvSpPr>
          <p:cNvPr id="22" name="Text 20"/>
          <p:cNvSpPr/>
          <p:nvPr/>
        </p:nvSpPr>
        <p:spPr>
          <a:xfrm>
            <a:off x="6349901" y="2796927"/>
            <a:ext cx="1943252" cy="1385888"/>
          </a:xfrm>
          <a:prstGeom prst="rect">
            <a:avLst/>
          </a:prstGeom>
          <a:noFill/>
          <a:ln/>
        </p:spPr>
        <p:txBody>
          <a:bodyPr wrap="square" lIns="0" tIns="0" rIns="0" bIns="0" rtlCol="0" anchor="t"/>
          <a:lstStyle/>
          <a:p>
            <a:pPr algn="l" indent="0" marL="0">
              <a:lnSpc>
                <a:spcPts val="1820"/>
              </a:lnSpc>
              <a:spcAft>
                <a:spcPts val="1000"/>
              </a:spcAft>
              <a:buNone/>
            </a:pPr>
            <a:r>
              <a:rPr lang="en-US" sz="1300" dirty="0">
                <a:solidFill>
                  <a:srgbClr val="F4F4FB"/>
                </a:solidFill>
                <a:latin typeface="Arial" pitchFamily="34" charset="0"/>
                <a:ea typeface="Arial" pitchFamily="34" charset="-122"/>
                <a:cs typeface="Arial" pitchFamily="34" charset="-120"/>
              </a:rPr>
              <a:t>A 95M-parameter music foundation model. Backbone frozen, only the projection head trained — transfer learning.</a:t>
            </a:r>
            <a:endParaRPr lang="en-US" sz="1300" dirty="0"/>
          </a:p>
        </p:txBody>
      </p:sp>
      <p:sp>
        <p:nvSpPr>
          <p:cNvPr id="23" name="Text 21"/>
          <p:cNvSpPr/>
          <p:nvPr/>
        </p:nvSpPr>
        <p:spPr>
          <a:xfrm>
            <a:off x="6349901" y="4309765"/>
            <a:ext cx="1943252" cy="209550"/>
          </a:xfrm>
          <a:prstGeom prst="rect">
            <a:avLst/>
          </a:prstGeom>
          <a:noFill/>
          <a:ln/>
        </p:spPr>
        <p:txBody>
          <a:bodyPr wrap="square" lIns="0" tIns="0" rIns="0" bIns="0" rtlCol="0" anchor="t"/>
          <a:lstStyle/>
          <a:p>
            <a:pPr algn="l" indent="0" marL="0">
              <a:lnSpc>
                <a:spcPts val="1650"/>
              </a:lnSpc>
              <a:buNone/>
            </a:pPr>
            <a:r>
              <a:rPr lang="en-US" sz="1100" dirty="0">
                <a:solidFill>
                  <a:srgbClr val="EF476F"/>
                </a:solidFill>
                <a:latin typeface="Courier New" pitchFamily="34" charset="0"/>
                <a:ea typeface="Courier New" pitchFamily="34" charset="-122"/>
                <a:cs typeface="Courier New" pitchFamily="34" charset="-120"/>
              </a:rPr>
              <a:t>95M params frozen</a:t>
            </a:r>
            <a:endParaRPr lang="en-US" sz="1100" dirty="0"/>
          </a:p>
        </p:txBody>
      </p:sp>
      <p:sp>
        <p:nvSpPr>
          <p:cNvPr id="24" name="Text 22"/>
          <p:cNvSpPr/>
          <p:nvPr/>
        </p:nvSpPr>
        <p:spPr>
          <a:xfrm>
            <a:off x="736550" y="4993779"/>
            <a:ext cx="7953807" cy="142875"/>
          </a:xfrm>
          <a:prstGeom prst="rect">
            <a:avLst/>
          </a:prstGeom>
          <a:noFill/>
          <a:ln/>
        </p:spPr>
        <p:txBody>
          <a:bodyPr wrap="square" lIns="0" tIns="0" rIns="0" bIns="0" rtlCol="0" anchor="t"/>
          <a:lstStyle/>
          <a:p>
            <a:pPr algn="l" indent="0" marL="0">
              <a:spcBef>
                <a:spcPts val="1400"/>
              </a:spcBef>
              <a:buNone/>
            </a:pPr>
            <a:r>
              <a:rPr lang="en-US" sz="1000" dirty="0">
                <a:solidFill>
                  <a:srgbClr val="9D4EDD"/>
                </a:solidFill>
                <a:latin typeface="Courier New" pitchFamily="34" charset="0"/>
                <a:ea typeface="Courier New" pitchFamily="34" charset="-122"/>
                <a:cs typeface="Courier New" pitchFamily="34" charset="-120"/>
              </a:rPr>
              <a:t>MERT baseline motivated by Singh et al. 2025 [2]</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85651" y="330101"/>
            <a:ext cx="8057641" cy="171450"/>
          </a:xfrm>
          <a:prstGeom prst="rect">
            <a:avLst/>
          </a:prstGeom>
          <a:noFill/>
          <a:ln/>
        </p:spPr>
        <p:txBody>
          <a:bodyPr wrap="square" lIns="0" tIns="0" rIns="0" bIns="0" rtlCol="0" anchor="t"/>
          <a:lstStyle/>
          <a:p>
            <a:pPr algn="l" indent="0" marL="0">
              <a:spcAft>
                <a:spcPts val="800"/>
              </a:spcAft>
              <a:buNone/>
            </a:pPr>
            <a:r>
              <a:rPr lang="en-US" sz="1200" dirty="0">
                <a:solidFill>
                  <a:srgbClr val="06D6A0"/>
                </a:solidFill>
                <a:latin typeface="Courier New" pitchFamily="34" charset="0"/>
                <a:ea typeface="Courier New" pitchFamily="34" charset="-122"/>
                <a:cs typeface="Courier New" pitchFamily="34" charset="-120"/>
              </a:rPr>
              <a:t>02 · THE TWIST</a:t>
            </a:r>
            <a:endParaRPr lang="en-US" sz="1200" dirty="0"/>
          </a:p>
        </p:txBody>
      </p:sp>
      <p:sp>
        <p:nvSpPr>
          <p:cNvPr id="4" name="Text 2"/>
          <p:cNvSpPr/>
          <p:nvPr/>
        </p:nvSpPr>
        <p:spPr>
          <a:xfrm>
            <a:off x="685651" y="603052"/>
            <a:ext cx="8057641" cy="495300"/>
          </a:xfrm>
          <a:prstGeom prst="rect">
            <a:avLst/>
          </a:prstGeom>
          <a:noFill/>
          <a:ln/>
        </p:spPr>
        <p:txBody>
          <a:bodyPr wrap="square" lIns="0" tIns="0" rIns="0" bIns="0" rtlCol="0" anchor="t"/>
          <a:lstStyle/>
          <a:p>
            <a:pPr algn="l" indent="0" marL="0">
              <a:spcAft>
                <a:spcPts val="400"/>
              </a:spcAft>
              <a:buNone/>
            </a:pPr>
            <a:r>
              <a:rPr lang="en-US" sz="3400" b="1" dirty="0">
                <a:solidFill>
                  <a:srgbClr val="F4F4FB"/>
                </a:solidFill>
                <a:latin typeface="Arial" pitchFamily="34" charset="0"/>
                <a:ea typeface="Arial" pitchFamily="34" charset="-122"/>
                <a:cs typeface="Arial" pitchFamily="34" charset="-120"/>
              </a:rPr>
              <a:t>First result: it looks solved.</a:t>
            </a:r>
            <a:endParaRPr lang="en-US" sz="3400" dirty="0"/>
          </a:p>
        </p:txBody>
      </p:sp>
      <p:sp>
        <p:nvSpPr>
          <p:cNvPr id="5" name="Text 3"/>
          <p:cNvSpPr/>
          <p:nvPr/>
        </p:nvSpPr>
        <p:spPr>
          <a:xfrm>
            <a:off x="685651" y="1149102"/>
            <a:ext cx="8057641" cy="209550"/>
          </a:xfrm>
          <a:prstGeom prst="rect">
            <a:avLst/>
          </a:prstGeom>
          <a:noFill/>
          <a:ln/>
        </p:spPr>
        <p:txBody>
          <a:bodyPr wrap="square" lIns="0" tIns="0" rIns="0" bIns="0" rtlCol="0" anchor="t"/>
          <a:lstStyle/>
          <a:p>
            <a:pPr algn="l" indent="0" marL="0">
              <a:spcAft>
                <a:spcPts val="1800"/>
              </a:spcAft>
              <a:buNone/>
            </a:pPr>
            <a:r>
              <a:rPr lang="en-US" sz="1400" b="1" dirty="0">
                <a:solidFill>
                  <a:srgbClr val="9D4EDD"/>
                </a:solidFill>
                <a:latin typeface="Arial" pitchFamily="34" charset="0"/>
                <a:ea typeface="Arial" pitchFamily="34" charset="-122"/>
                <a:cs typeface="Arial" pitchFamily="34" charset="-120"/>
              </a:rPr>
              <a:t>Clean 3-second retrieval on FMA-small · Notebook 2</a:t>
            </a:r>
            <a:endParaRPr lang="en-US" sz="1400" dirty="0"/>
          </a:p>
        </p:txBody>
      </p:sp>
      <p:sp>
        <p:nvSpPr>
          <p:cNvPr id="6" name="Text 4"/>
          <p:cNvSpPr/>
          <p:nvPr/>
        </p:nvSpPr>
        <p:spPr>
          <a:xfrm>
            <a:off x="685651" y="1966020"/>
            <a:ext cx="3987701" cy="2239863"/>
          </a:xfrm>
          <a:prstGeom prst="roundRect">
            <a:avLst>
              <a:gd name="adj" fmla="val 4536"/>
            </a:avLst>
          </a:prstGeom>
          <a:solidFill>
            <a:srgbClr val="25253D"/>
          </a:solidFill>
          <a:ln/>
        </p:spPr>
        <p:txBody>
          <a:bodyPr wrap="square" rtlCol="0" anchor="ctr"/>
          <a:lstStyle/>
          <a:p>
            <a:pPr indent="0" marL="0">
              <a:buNone/>
            </a:pPr>
            <a:endParaRPr lang="en-US" dirty="0"/>
          </a:p>
        </p:txBody>
      </p:sp>
      <p:sp>
        <p:nvSpPr>
          <p:cNvPr id="7" name="Shape 5"/>
          <p:cNvSpPr/>
          <p:nvPr/>
        </p:nvSpPr>
        <p:spPr>
          <a:xfrm>
            <a:off x="723751" y="1966020"/>
            <a:ext cx="0" cy="2239863"/>
          </a:xfrm>
          <a:prstGeom prst="line">
            <a:avLst/>
          </a:prstGeom>
          <a:noFill/>
          <a:ln w="76200">
            <a:solidFill>
              <a:srgbClr val="06D6A0"/>
            </a:solidFill>
            <a:prstDash val="solid"/>
          </a:ln>
        </p:spPr>
      </p:sp>
      <p:sp>
        <p:nvSpPr>
          <p:cNvPr id="8" name="Text 6"/>
          <p:cNvSpPr/>
          <p:nvPr/>
        </p:nvSpPr>
        <p:spPr>
          <a:xfrm>
            <a:off x="1066651" y="2245370"/>
            <a:ext cx="3367939" cy="152400"/>
          </a:xfrm>
          <a:prstGeom prst="rect">
            <a:avLst/>
          </a:prstGeom>
          <a:noFill/>
          <a:ln/>
        </p:spPr>
        <p:txBody>
          <a:bodyPr wrap="square" lIns="0" tIns="0" rIns="0" bIns="0" rtlCol="0" anchor="t"/>
          <a:lstStyle/>
          <a:p>
            <a:pPr algn="l" indent="0" marL="0">
              <a:spcAft>
                <a:spcPts val="600"/>
              </a:spcAft>
              <a:buNone/>
            </a:pPr>
            <a:r>
              <a:rPr lang="en-US" sz="1100" dirty="0">
                <a:solidFill>
                  <a:srgbClr val="06D6A0"/>
                </a:solidFill>
                <a:latin typeface="Courier New" pitchFamily="34" charset="0"/>
                <a:ea typeface="Courier New" pitchFamily="34" charset="-122"/>
                <a:cs typeface="Courier New" pitchFamily="34" charset="-120"/>
              </a:rPr>
              <a:t>TOP-1 ACCURACY</a:t>
            </a:r>
            <a:endParaRPr lang="en-US" sz="1100" dirty="0"/>
          </a:p>
        </p:txBody>
      </p:sp>
      <p:sp>
        <p:nvSpPr>
          <p:cNvPr id="9" name="Text 7"/>
          <p:cNvSpPr/>
          <p:nvPr/>
        </p:nvSpPr>
        <p:spPr>
          <a:xfrm>
            <a:off x="1066651" y="2473970"/>
            <a:ext cx="3367939" cy="863650"/>
          </a:xfrm>
          <a:prstGeom prst="rect">
            <a:avLst/>
          </a:prstGeom>
          <a:noFill/>
          <a:ln/>
        </p:spPr>
        <p:txBody>
          <a:bodyPr wrap="square" lIns="0" tIns="0" rIns="0" bIns="0" rtlCol="0" anchor="t"/>
          <a:lstStyle/>
          <a:p>
            <a:pPr algn="l" indent="0" marL="0">
              <a:lnSpc>
                <a:spcPts val="6800"/>
              </a:lnSpc>
              <a:buNone/>
            </a:pPr>
            <a:r>
              <a:rPr lang="en-US" sz="6800" b="1" dirty="0">
                <a:solidFill>
                  <a:srgbClr val="06D6A0"/>
                </a:solidFill>
                <a:latin typeface="Courier New" pitchFamily="34" charset="0"/>
                <a:ea typeface="Courier New" pitchFamily="34" charset="-122"/>
                <a:cs typeface="Courier New" pitchFamily="34" charset="-120"/>
              </a:rPr>
              <a:t>99.6%</a:t>
            </a:r>
            <a:endParaRPr lang="en-US" sz="6800" dirty="0"/>
          </a:p>
        </p:txBody>
      </p:sp>
      <p:sp>
        <p:nvSpPr>
          <p:cNvPr id="10" name="Text 8"/>
          <p:cNvSpPr/>
          <p:nvPr/>
        </p:nvSpPr>
        <p:spPr>
          <a:xfrm>
            <a:off x="1066651" y="3464570"/>
            <a:ext cx="3367939" cy="461963"/>
          </a:xfrm>
          <a:prstGeom prst="rect">
            <a:avLst/>
          </a:prstGeom>
          <a:noFill/>
          <a:ln/>
        </p:spPr>
        <p:txBody>
          <a:bodyPr wrap="square" lIns="0" tIns="0" rIns="0" bIns="0" rtlCol="0" anchor="t"/>
          <a:lstStyle/>
          <a:p>
            <a:pPr algn="l" indent="0" marL="0">
              <a:lnSpc>
                <a:spcPts val="1820"/>
              </a:lnSpc>
              <a:spcBef>
                <a:spcPts val="1000"/>
              </a:spcBef>
              <a:buNone/>
            </a:pPr>
            <a:r>
              <a:rPr lang="en-US" sz="1300" dirty="0">
                <a:solidFill>
                  <a:srgbClr val="F4F4FB"/>
                </a:solidFill>
                <a:latin typeface="Arial" pitchFamily="34" charset="0"/>
                <a:ea typeface="Arial" pitchFamily="34" charset="-122"/>
                <a:cs typeface="Arial" pitchFamily="34" charset="-120"/>
              </a:rPr>
              <a:t>All three models find the right song on clean audio.</a:t>
            </a:r>
            <a:endParaRPr lang="en-US" sz="1300" dirty="0"/>
          </a:p>
        </p:txBody>
      </p:sp>
      <p:sp>
        <p:nvSpPr>
          <p:cNvPr id="11" name="Text 9"/>
          <p:cNvSpPr/>
          <p:nvPr/>
        </p:nvSpPr>
        <p:spPr>
          <a:xfrm>
            <a:off x="4978152" y="2113062"/>
            <a:ext cx="3679290" cy="853232"/>
          </a:xfrm>
          <a:prstGeom prst="rect">
            <a:avLst/>
          </a:prstGeom>
          <a:noFill/>
          <a:ln/>
        </p:spPr>
        <p:txBody>
          <a:bodyPr wrap="square" lIns="0" tIns="0" rIns="0" bIns="0" rtlCol="0" anchor="t"/>
          <a:lstStyle/>
          <a:p>
            <a:pPr algn="l" indent="0" marL="0">
              <a:lnSpc>
                <a:spcPts val="2240"/>
              </a:lnSpc>
              <a:spcAft>
                <a:spcPts val="1200"/>
              </a:spcAft>
              <a:buNone/>
            </a:pPr>
            <a:r>
              <a:rPr lang="en-US" sz="1600" b="1" dirty="0">
                <a:solidFill>
                  <a:srgbClr val="9D4EDD"/>
                </a:solidFill>
                <a:latin typeface="Arial" pitchFamily="34" charset="0"/>
                <a:ea typeface="Arial" pitchFamily="34" charset="-122"/>
                <a:cs typeface="Arial" pitchFamily="34" charset="-120"/>
              </a:rPr>
              <a:t>Under mild noise:</a:t>
            </a:r>
            <a:pPr algn="l" indent="0" marL="0">
              <a:lnSpc>
                <a:spcPts val="2240"/>
              </a:lnSpc>
              <a:spcAft>
                <a:spcPts val="1200"/>
              </a:spcAft>
              <a:buNone/>
            </a:pPr>
            <a:r>
              <a:rPr lang="en-US" sz="1600" dirty="0">
                <a:solidFill>
                  <a:srgbClr val="F4F4FB"/>
                </a:solidFill>
                <a:latin typeface="Arial" pitchFamily="34" charset="0"/>
                <a:ea typeface="Arial" pitchFamily="34" charset="-122"/>
                <a:cs typeface="Arial" pitchFamily="34" charset="-120"/>
              </a:rPr>
              <a:t> Hybrid Transformer leads on pitch shift, time stretch, and low-pass filtering.</a:t>
            </a:r>
            <a:endParaRPr lang="en-US" sz="1600" dirty="0"/>
          </a:p>
        </p:txBody>
      </p:sp>
      <p:sp>
        <p:nvSpPr>
          <p:cNvPr id="12" name="Text 10"/>
          <p:cNvSpPr/>
          <p:nvPr/>
        </p:nvSpPr>
        <p:spPr>
          <a:xfrm>
            <a:off x="4978152" y="3118693"/>
            <a:ext cx="3679290" cy="568821"/>
          </a:xfrm>
          <a:prstGeom prst="rect">
            <a:avLst/>
          </a:prstGeom>
          <a:noFill/>
          <a:ln/>
        </p:spPr>
        <p:txBody>
          <a:bodyPr wrap="square" lIns="0" tIns="0" rIns="0" bIns="0" rtlCol="0" anchor="t"/>
          <a:lstStyle/>
          <a:p>
            <a:pPr algn="l" indent="0" marL="0">
              <a:lnSpc>
                <a:spcPts val="2240"/>
              </a:lnSpc>
              <a:spcAft>
                <a:spcPts val="1200"/>
              </a:spcAft>
              <a:buNone/>
            </a:pPr>
            <a:r>
              <a:rPr lang="en-US" sz="1600" b="1" dirty="0">
                <a:solidFill>
                  <a:srgbClr val="9D4EDD"/>
                </a:solidFill>
                <a:latin typeface="Arial" pitchFamily="34" charset="0"/>
                <a:ea typeface="Arial" pitchFamily="34" charset="-122"/>
                <a:cs typeface="Arial" pitchFamily="34" charset="-120"/>
              </a:rPr>
              <a:t>Early verdict:</a:t>
            </a:r>
            <a:pPr algn="l" indent="0" marL="0">
              <a:lnSpc>
                <a:spcPts val="2240"/>
              </a:lnSpc>
              <a:spcAft>
                <a:spcPts val="1200"/>
              </a:spcAft>
              <a:buNone/>
            </a:pPr>
            <a:r>
              <a:rPr lang="en-US" sz="1600" dirty="0">
                <a:solidFill>
                  <a:srgbClr val="F4F4FB"/>
                </a:solidFill>
                <a:latin typeface="Arial" pitchFamily="34" charset="0"/>
                <a:ea typeface="Arial" pitchFamily="34" charset="-122"/>
                <a:cs typeface="Arial" pitchFamily="34" charset="-120"/>
              </a:rPr>
              <a:t> transformer &gt; CNN. The fancy model wins. Pack it up.</a:t>
            </a:r>
            <a:endParaRPr lang="en-US" sz="1600" dirty="0"/>
          </a:p>
        </p:txBody>
      </p:sp>
      <p:sp>
        <p:nvSpPr>
          <p:cNvPr id="13" name="Text 11"/>
          <p:cNvSpPr/>
          <p:nvPr/>
        </p:nvSpPr>
        <p:spPr>
          <a:xfrm>
            <a:off x="4978152" y="3839914"/>
            <a:ext cx="3679290" cy="219075"/>
          </a:xfrm>
          <a:prstGeom prst="rect">
            <a:avLst/>
          </a:prstGeom>
          <a:noFill/>
          <a:ln/>
        </p:spPr>
        <p:txBody>
          <a:bodyPr wrap="square" lIns="0" tIns="0" rIns="0" bIns="0" rtlCol="0" anchor="t"/>
          <a:lstStyle/>
          <a:p>
            <a:pPr algn="l" indent="0" marL="0">
              <a:spcBef>
                <a:spcPts val="1000"/>
              </a:spcBef>
              <a:buNone/>
            </a:pPr>
            <a:r>
              <a:rPr lang="en-US" sz="1500" b="1" dirty="0">
                <a:solidFill>
                  <a:srgbClr val="EF476F"/>
                </a:solidFill>
                <a:latin typeface="Arial" pitchFamily="34" charset="0"/>
                <a:ea typeface="Arial" pitchFamily="34" charset="-122"/>
                <a:cs typeface="Arial" pitchFamily="34" charset="-120"/>
              </a:rPr>
              <a:t>But then we tried one more test…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EF476F"/>
          </a:solidFill>
          <a:ln/>
        </p:spPr>
        <p:txBody>
          <a:bodyPr wrap="square" rtlCol="0" anchor="ctr"/>
          <a:lstStyle/>
          <a:p>
            <a:pPr indent="0" marL="0">
              <a:buNone/>
            </a:pPr>
            <a:endParaRPr lang="en-US" dirty="0"/>
          </a:p>
        </p:txBody>
      </p:sp>
      <p:sp>
        <p:nvSpPr>
          <p:cNvPr id="3" name="Text 1"/>
          <p:cNvSpPr/>
          <p:nvPr/>
        </p:nvSpPr>
        <p:spPr>
          <a:xfrm>
            <a:off x="685651" y="330101"/>
            <a:ext cx="8057641" cy="171450"/>
          </a:xfrm>
          <a:prstGeom prst="rect">
            <a:avLst/>
          </a:prstGeom>
          <a:noFill/>
          <a:ln/>
        </p:spPr>
        <p:txBody>
          <a:bodyPr wrap="square" lIns="0" tIns="0" rIns="0" bIns="0" rtlCol="0" anchor="t"/>
          <a:lstStyle/>
          <a:p>
            <a:pPr algn="l" indent="0" marL="0">
              <a:spcAft>
                <a:spcPts val="800"/>
              </a:spcAft>
              <a:buNone/>
            </a:pPr>
            <a:r>
              <a:rPr lang="en-US" sz="1200" dirty="0">
                <a:solidFill>
                  <a:srgbClr val="EF476F"/>
                </a:solidFill>
                <a:latin typeface="Courier New" pitchFamily="34" charset="0"/>
                <a:ea typeface="Courier New" pitchFamily="34" charset="-122"/>
                <a:cs typeface="Courier New" pitchFamily="34" charset="-120"/>
              </a:rPr>
              <a:t>02 · THE TWIST</a:t>
            </a:r>
            <a:endParaRPr lang="en-US" sz="1200" dirty="0"/>
          </a:p>
        </p:txBody>
      </p:sp>
      <p:sp>
        <p:nvSpPr>
          <p:cNvPr id="4" name="Text 2"/>
          <p:cNvSpPr/>
          <p:nvPr/>
        </p:nvSpPr>
        <p:spPr>
          <a:xfrm>
            <a:off x="685651" y="603052"/>
            <a:ext cx="8057641" cy="495300"/>
          </a:xfrm>
          <a:prstGeom prst="rect">
            <a:avLst/>
          </a:prstGeom>
          <a:noFill/>
          <a:ln/>
        </p:spPr>
        <p:txBody>
          <a:bodyPr wrap="square" lIns="0" tIns="0" rIns="0" bIns="0" rtlCol="0" anchor="t"/>
          <a:lstStyle/>
          <a:p>
            <a:pPr algn="l" indent="0" marL="0">
              <a:spcAft>
                <a:spcPts val="400"/>
              </a:spcAft>
              <a:buNone/>
            </a:pPr>
            <a:r>
              <a:rPr lang="en-US" sz="3400" b="1" dirty="0">
                <a:solidFill>
                  <a:srgbClr val="F4F4FB"/>
                </a:solidFill>
                <a:latin typeface="Arial" pitchFamily="34" charset="0"/>
                <a:ea typeface="Arial" pitchFamily="34" charset="-122"/>
                <a:cs typeface="Arial" pitchFamily="34" charset="-120"/>
              </a:rPr>
              <a:t>Then we tried a high-pass filter.</a:t>
            </a:r>
            <a:endParaRPr lang="en-US" sz="3400" dirty="0"/>
          </a:p>
        </p:txBody>
      </p:sp>
      <p:sp>
        <p:nvSpPr>
          <p:cNvPr id="5" name="Text 3"/>
          <p:cNvSpPr/>
          <p:nvPr/>
        </p:nvSpPr>
        <p:spPr>
          <a:xfrm>
            <a:off x="685651" y="1149102"/>
            <a:ext cx="8057641" cy="209550"/>
          </a:xfrm>
          <a:prstGeom prst="rect">
            <a:avLst/>
          </a:prstGeom>
          <a:noFill/>
          <a:ln/>
        </p:spPr>
        <p:txBody>
          <a:bodyPr wrap="square" lIns="0" tIns="0" rIns="0" bIns="0" rtlCol="0" anchor="t"/>
          <a:lstStyle/>
          <a:p>
            <a:pPr algn="l" indent="0" marL="0">
              <a:spcAft>
                <a:spcPts val="1600"/>
              </a:spcAft>
              <a:buNone/>
            </a:pPr>
            <a:r>
              <a:rPr lang="en-US" sz="1400" b="1" dirty="0">
                <a:solidFill>
                  <a:srgbClr val="9D4EDD"/>
                </a:solidFill>
                <a:latin typeface="Arial" pitchFamily="34" charset="0"/>
                <a:ea typeface="Arial" pitchFamily="34" charset="-122"/>
                <a:cs typeface="Arial" pitchFamily="34" charset="-120"/>
              </a:rPr>
              <a:t>Simulates a phone cutting off the bass — the transformer collapsed.</a:t>
            </a:r>
            <a:endParaRPr lang="en-US" sz="1400" dirty="0"/>
          </a:p>
        </p:txBody>
      </p:sp>
      <p:sp>
        <p:nvSpPr>
          <p:cNvPr id="6" name="Text 4"/>
          <p:cNvSpPr/>
          <p:nvPr/>
        </p:nvSpPr>
        <p:spPr>
          <a:xfrm>
            <a:off x="685651" y="1561802"/>
            <a:ext cx="3822799" cy="2570857"/>
          </a:xfrm>
          <a:prstGeom prst="roundRect">
            <a:avLst>
              <a:gd name="adj" fmla="val 3952"/>
            </a:avLst>
          </a:prstGeom>
          <a:solidFill>
            <a:srgbClr val="25253D"/>
          </a:solidFill>
          <a:ln/>
        </p:spPr>
        <p:txBody>
          <a:bodyPr wrap="square" rtlCol="0" anchor="ctr"/>
          <a:lstStyle/>
          <a:p>
            <a:pPr indent="0" marL="0">
              <a:buNone/>
            </a:pPr>
            <a:endParaRPr lang="en-US" dirty="0"/>
          </a:p>
        </p:txBody>
      </p:sp>
      <p:sp>
        <p:nvSpPr>
          <p:cNvPr id="7" name="Shape 5"/>
          <p:cNvSpPr/>
          <p:nvPr/>
        </p:nvSpPr>
        <p:spPr>
          <a:xfrm>
            <a:off x="723751" y="1561802"/>
            <a:ext cx="0" cy="2570857"/>
          </a:xfrm>
          <a:prstGeom prst="line">
            <a:avLst/>
          </a:prstGeom>
          <a:noFill/>
          <a:ln w="76200">
            <a:solidFill>
              <a:srgbClr val="EF476F"/>
            </a:solidFill>
            <a:prstDash val="solid"/>
          </a:ln>
        </p:spPr>
      </p:sp>
      <p:sp>
        <p:nvSpPr>
          <p:cNvPr id="8" name="Text 6"/>
          <p:cNvSpPr/>
          <p:nvPr/>
        </p:nvSpPr>
        <p:spPr>
          <a:xfrm>
            <a:off x="1041202" y="1790402"/>
            <a:ext cx="3251656" cy="361950"/>
          </a:xfrm>
          <a:prstGeom prst="rect">
            <a:avLst/>
          </a:prstGeom>
          <a:noFill/>
          <a:ln/>
        </p:spPr>
        <p:txBody>
          <a:bodyPr wrap="square" lIns="0" tIns="0" rIns="0" bIns="0" rtlCol="0" anchor="t"/>
          <a:lstStyle/>
          <a:p>
            <a:pPr algn="l" indent="0" marL="0">
              <a:spcAft>
                <a:spcPts val="1200"/>
              </a:spcAft>
              <a:buNone/>
            </a:pPr>
            <a:r>
              <a:rPr lang="en-US" sz="1300" dirty="0">
                <a:solidFill>
                  <a:srgbClr val="06D6A0"/>
                </a:solidFill>
                <a:latin typeface="Courier New" pitchFamily="34" charset="0"/>
                <a:ea typeface="Courier New" pitchFamily="34" charset="-122"/>
                <a:cs typeface="Courier New" pitchFamily="34" charset="-120"/>
              </a:rPr>
              <a:t>HIGH-PASS · TOP-1 ACCURACY</a:t>
            </a:r>
            <a:endParaRPr lang="en-US" sz="1300" dirty="0"/>
          </a:p>
        </p:txBody>
      </p:sp>
      <p:sp>
        <p:nvSpPr>
          <p:cNvPr id="9" name="Text 7"/>
          <p:cNvSpPr/>
          <p:nvPr/>
        </p:nvSpPr>
        <p:spPr>
          <a:xfrm>
            <a:off x="1041202" y="2444353"/>
            <a:ext cx="854964" cy="152400"/>
          </a:xfrm>
          <a:prstGeom prst="rect">
            <a:avLst/>
          </a:prstGeom>
          <a:noFill/>
          <a:ln/>
        </p:spPr>
        <p:txBody>
          <a:bodyPr wrap="square" lIns="0" tIns="0" rIns="0" bIns="0" rtlCol="0" anchor="t"/>
          <a:lstStyle/>
          <a:p>
            <a:pPr algn="l" indent="0" marL="0">
              <a:buNone/>
            </a:pPr>
            <a:r>
              <a:rPr lang="en-US" sz="1100" dirty="0">
                <a:solidFill>
                  <a:srgbClr val="F4F4FB"/>
                </a:solidFill>
                <a:latin typeface="Courier New" pitchFamily="34" charset="0"/>
                <a:ea typeface="Courier New" pitchFamily="34" charset="-122"/>
                <a:cs typeface="Courier New" pitchFamily="34" charset="-120"/>
              </a:rPr>
              <a:t>CNN</a:t>
            </a:r>
            <a:endParaRPr lang="en-US" sz="1100" dirty="0"/>
          </a:p>
        </p:txBody>
      </p:sp>
      <p:sp>
        <p:nvSpPr>
          <p:cNvPr id="10" name="Text 8"/>
          <p:cNvSpPr/>
          <p:nvPr/>
        </p:nvSpPr>
        <p:spPr>
          <a:xfrm>
            <a:off x="1879402" y="2418904"/>
            <a:ext cx="161329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11" name="Text 9"/>
          <p:cNvSpPr/>
          <p:nvPr/>
        </p:nvSpPr>
        <p:spPr>
          <a:xfrm>
            <a:off x="1879402" y="2418904"/>
            <a:ext cx="54769" cy="203150"/>
          </a:xfrm>
          <a:prstGeom prst="roundRect">
            <a:avLst>
              <a:gd name="adj" fmla="val 69565"/>
            </a:avLst>
          </a:prstGeom>
          <a:solidFill>
            <a:srgbClr val="EF476F"/>
          </a:solidFill>
          <a:ln/>
        </p:spPr>
        <p:txBody>
          <a:bodyPr wrap="square" rtlCol="0" anchor="ctr"/>
          <a:lstStyle/>
          <a:p>
            <a:pPr indent="0" marL="0">
              <a:buNone/>
            </a:pPr>
            <a:endParaRPr lang="en-US" dirty="0"/>
          </a:p>
        </p:txBody>
      </p:sp>
      <p:sp>
        <p:nvSpPr>
          <p:cNvPr id="12" name="Text 10"/>
          <p:cNvSpPr/>
          <p:nvPr/>
        </p:nvSpPr>
        <p:spPr>
          <a:xfrm>
            <a:off x="3581501" y="2444353"/>
            <a:ext cx="647599" cy="152400"/>
          </a:xfrm>
          <a:prstGeom prst="rect">
            <a:avLst/>
          </a:prstGeom>
          <a:noFill/>
          <a:ln/>
        </p:spPr>
        <p:txBody>
          <a:bodyPr wrap="square" lIns="0" tIns="0" rIns="0" bIns="0" rtlCol="0" anchor="t"/>
          <a:lstStyle/>
          <a:p>
            <a:pPr algn="r" indent="0" marL="0">
              <a:spcBef>
                <a:spcPts val="1100"/>
              </a:spcBef>
              <a:spcAft>
                <a:spcPts val="1100"/>
              </a:spcAft>
              <a:buNone/>
            </a:pPr>
            <a:r>
              <a:rPr lang="en-US" sz="1100" dirty="0">
                <a:solidFill>
                  <a:srgbClr val="F4F4FB"/>
                </a:solidFill>
                <a:latin typeface="Courier New" pitchFamily="34" charset="0"/>
                <a:ea typeface="Courier New" pitchFamily="34" charset="-122"/>
                <a:cs typeface="Courier New" pitchFamily="34" charset="-120"/>
              </a:rPr>
              <a:t>3.4%</a:t>
            </a:r>
            <a:endParaRPr lang="en-US" sz="1100" dirty="0"/>
          </a:p>
        </p:txBody>
      </p:sp>
      <p:sp>
        <p:nvSpPr>
          <p:cNvPr id="13" name="Text 11"/>
          <p:cNvSpPr/>
          <p:nvPr/>
        </p:nvSpPr>
        <p:spPr>
          <a:xfrm>
            <a:off x="1041202" y="2977455"/>
            <a:ext cx="854964" cy="152400"/>
          </a:xfrm>
          <a:prstGeom prst="rect">
            <a:avLst/>
          </a:prstGeom>
          <a:noFill/>
          <a:ln/>
        </p:spPr>
        <p:txBody>
          <a:bodyPr wrap="square" lIns="0" tIns="0" rIns="0" bIns="0" rtlCol="0" anchor="t"/>
          <a:lstStyle/>
          <a:p>
            <a:pPr algn="l" indent="0" marL="0">
              <a:buNone/>
            </a:pPr>
            <a:r>
              <a:rPr lang="en-US" sz="1100" dirty="0">
                <a:solidFill>
                  <a:srgbClr val="F4F4FB"/>
                </a:solidFill>
                <a:latin typeface="Courier New" pitchFamily="34" charset="0"/>
                <a:ea typeface="Courier New" pitchFamily="34" charset="-122"/>
                <a:cs typeface="Courier New" pitchFamily="34" charset="-120"/>
              </a:rPr>
              <a:t>Hybrid</a:t>
            </a:r>
            <a:endParaRPr lang="en-US" sz="1100" dirty="0"/>
          </a:p>
        </p:txBody>
      </p:sp>
      <p:sp>
        <p:nvSpPr>
          <p:cNvPr id="14" name="Text 12"/>
          <p:cNvSpPr/>
          <p:nvPr/>
        </p:nvSpPr>
        <p:spPr>
          <a:xfrm>
            <a:off x="1879402" y="2952006"/>
            <a:ext cx="161329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15" name="Text 13"/>
          <p:cNvSpPr/>
          <p:nvPr/>
        </p:nvSpPr>
        <p:spPr>
          <a:xfrm>
            <a:off x="1879402" y="2952006"/>
            <a:ext cx="16073" cy="203150"/>
          </a:xfrm>
          <a:prstGeom prst="roundRect">
            <a:avLst>
              <a:gd name="adj" fmla="val 237043"/>
            </a:avLst>
          </a:prstGeom>
          <a:solidFill>
            <a:srgbClr val="EF476F"/>
          </a:solidFill>
          <a:ln/>
        </p:spPr>
        <p:txBody>
          <a:bodyPr wrap="square" rtlCol="0" anchor="ctr"/>
          <a:lstStyle/>
          <a:p>
            <a:pPr indent="0" marL="0">
              <a:buNone/>
            </a:pPr>
            <a:endParaRPr lang="en-US" dirty="0"/>
          </a:p>
        </p:txBody>
      </p:sp>
      <p:sp>
        <p:nvSpPr>
          <p:cNvPr id="16" name="Text 14"/>
          <p:cNvSpPr/>
          <p:nvPr/>
        </p:nvSpPr>
        <p:spPr>
          <a:xfrm>
            <a:off x="3581501" y="2977455"/>
            <a:ext cx="647599" cy="152400"/>
          </a:xfrm>
          <a:prstGeom prst="rect">
            <a:avLst/>
          </a:prstGeom>
          <a:noFill/>
          <a:ln/>
        </p:spPr>
        <p:txBody>
          <a:bodyPr wrap="square" lIns="0" tIns="0" rIns="0" bIns="0" rtlCol="0" anchor="t"/>
          <a:lstStyle/>
          <a:p>
            <a:pPr algn="r" indent="0" marL="0">
              <a:spcBef>
                <a:spcPts val="1100"/>
              </a:spcBef>
              <a:spcAft>
                <a:spcPts val="1100"/>
              </a:spcAft>
              <a:buNone/>
            </a:pPr>
            <a:r>
              <a:rPr lang="en-US" sz="1100" dirty="0">
                <a:solidFill>
                  <a:srgbClr val="F4F4FB"/>
                </a:solidFill>
                <a:latin typeface="Courier New" pitchFamily="34" charset="0"/>
                <a:ea typeface="Courier New" pitchFamily="34" charset="-122"/>
                <a:cs typeface="Courier New" pitchFamily="34" charset="-120"/>
              </a:rPr>
              <a:t>~0%</a:t>
            </a:r>
            <a:endParaRPr lang="en-US" sz="1100" dirty="0"/>
          </a:p>
        </p:txBody>
      </p:sp>
      <p:sp>
        <p:nvSpPr>
          <p:cNvPr id="17" name="Text 15"/>
          <p:cNvSpPr/>
          <p:nvPr/>
        </p:nvSpPr>
        <p:spPr>
          <a:xfrm>
            <a:off x="1041202" y="3510558"/>
            <a:ext cx="854964" cy="152400"/>
          </a:xfrm>
          <a:prstGeom prst="rect">
            <a:avLst/>
          </a:prstGeom>
          <a:noFill/>
          <a:ln/>
        </p:spPr>
        <p:txBody>
          <a:bodyPr wrap="square" lIns="0" tIns="0" rIns="0" bIns="0" rtlCol="0" anchor="t"/>
          <a:lstStyle/>
          <a:p>
            <a:pPr algn="l" indent="0" marL="0">
              <a:buNone/>
            </a:pPr>
            <a:r>
              <a:rPr lang="en-US" sz="1100" dirty="0">
                <a:solidFill>
                  <a:srgbClr val="F4F4FB"/>
                </a:solidFill>
                <a:latin typeface="Courier New" pitchFamily="34" charset="0"/>
                <a:ea typeface="Courier New" pitchFamily="34" charset="-122"/>
                <a:cs typeface="Courier New" pitchFamily="34" charset="-120"/>
              </a:rPr>
              <a:t>MERT</a:t>
            </a:r>
            <a:endParaRPr lang="en-US" sz="1100" dirty="0"/>
          </a:p>
        </p:txBody>
      </p:sp>
      <p:sp>
        <p:nvSpPr>
          <p:cNvPr id="18" name="Text 16"/>
          <p:cNvSpPr/>
          <p:nvPr/>
        </p:nvSpPr>
        <p:spPr>
          <a:xfrm>
            <a:off x="1879402" y="3485108"/>
            <a:ext cx="161329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19" name="Text 17"/>
          <p:cNvSpPr/>
          <p:nvPr/>
        </p:nvSpPr>
        <p:spPr>
          <a:xfrm>
            <a:off x="1879402" y="3485108"/>
            <a:ext cx="863054" cy="203150"/>
          </a:xfrm>
          <a:prstGeom prst="roundRect">
            <a:avLst>
              <a:gd name="adj" fmla="val 18755"/>
            </a:avLst>
          </a:prstGeom>
          <a:solidFill>
            <a:srgbClr val="06D6A0"/>
          </a:solidFill>
          <a:ln/>
        </p:spPr>
        <p:txBody>
          <a:bodyPr wrap="square" rtlCol="0" anchor="ctr"/>
          <a:lstStyle/>
          <a:p>
            <a:pPr indent="0" marL="0">
              <a:buNone/>
            </a:pPr>
            <a:endParaRPr lang="en-US" dirty="0"/>
          </a:p>
        </p:txBody>
      </p:sp>
      <p:sp>
        <p:nvSpPr>
          <p:cNvPr id="20" name="Text 18"/>
          <p:cNvSpPr/>
          <p:nvPr/>
        </p:nvSpPr>
        <p:spPr>
          <a:xfrm>
            <a:off x="3581501" y="3510558"/>
            <a:ext cx="647599" cy="152400"/>
          </a:xfrm>
          <a:prstGeom prst="rect">
            <a:avLst/>
          </a:prstGeom>
          <a:noFill/>
          <a:ln/>
        </p:spPr>
        <p:txBody>
          <a:bodyPr wrap="square" lIns="0" tIns="0" rIns="0" bIns="0" rtlCol="0" anchor="t"/>
          <a:lstStyle/>
          <a:p>
            <a:pPr algn="r" indent="0" marL="0">
              <a:spcBef>
                <a:spcPts val="1100"/>
              </a:spcBef>
              <a:spcAft>
                <a:spcPts val="1100"/>
              </a:spcAft>
              <a:buNone/>
            </a:pPr>
            <a:r>
              <a:rPr lang="en-US" sz="1100" dirty="0">
                <a:solidFill>
                  <a:srgbClr val="F4F4FB"/>
                </a:solidFill>
                <a:latin typeface="Courier New" pitchFamily="34" charset="0"/>
                <a:ea typeface="Courier New" pitchFamily="34" charset="-122"/>
                <a:cs typeface="Courier New" pitchFamily="34" charset="-120"/>
              </a:rPr>
              <a:t>53.5%</a:t>
            </a:r>
            <a:endParaRPr lang="en-US" sz="1100" dirty="0"/>
          </a:p>
        </p:txBody>
      </p:sp>
      <p:sp>
        <p:nvSpPr>
          <p:cNvPr id="21" name="Text 19"/>
          <p:cNvSpPr/>
          <p:nvPr/>
        </p:nvSpPr>
        <p:spPr>
          <a:xfrm>
            <a:off x="4762351" y="1561802"/>
            <a:ext cx="3899407" cy="533400"/>
          </a:xfrm>
          <a:prstGeom prst="rect">
            <a:avLst/>
          </a:prstGeom>
          <a:noFill/>
          <a:ln/>
        </p:spPr>
        <p:txBody>
          <a:bodyPr wrap="square" lIns="0" tIns="0" rIns="0" bIns="0" rtlCol="0" anchor="t"/>
          <a:lstStyle/>
          <a:p>
            <a:pPr algn="l" indent="0" marL="0">
              <a:lnSpc>
                <a:spcPts val="2100"/>
              </a:lnSpc>
              <a:spcAft>
                <a:spcPts val="1000"/>
              </a:spcAft>
              <a:buNone/>
            </a:pPr>
            <a:r>
              <a:rPr lang="en-US" sz="1500" b="1" dirty="0">
                <a:solidFill>
                  <a:srgbClr val="EF476F"/>
                </a:solidFill>
                <a:latin typeface="Arial" pitchFamily="34" charset="0"/>
                <a:ea typeface="Arial" pitchFamily="34" charset="-122"/>
                <a:cs typeface="Arial" pitchFamily="34" charset="-120"/>
              </a:rPr>
              <a:t>The transformer's invariances didn't include "missing bass."</a:t>
            </a:r>
            <a:endParaRPr lang="en-US" sz="1500" dirty="0"/>
          </a:p>
        </p:txBody>
      </p:sp>
      <p:sp>
        <p:nvSpPr>
          <p:cNvPr id="22" name="Text 20"/>
          <p:cNvSpPr/>
          <p:nvPr/>
        </p:nvSpPr>
        <p:spPr>
          <a:xfrm>
            <a:off x="4762351" y="2222153"/>
            <a:ext cx="3899407" cy="800100"/>
          </a:xfrm>
          <a:prstGeom prst="rect">
            <a:avLst/>
          </a:prstGeom>
          <a:noFill/>
          <a:ln/>
        </p:spPr>
        <p:txBody>
          <a:bodyPr wrap="square" lIns="0" tIns="0" rIns="0" bIns="0" rtlCol="0" anchor="t"/>
          <a:lstStyle/>
          <a:p>
            <a:pPr algn="l" indent="0" marL="0">
              <a:lnSpc>
                <a:spcPts val="2100"/>
              </a:lnSpc>
              <a:spcAft>
                <a:spcPts val="1000"/>
              </a:spcAft>
              <a:buNone/>
            </a:pPr>
            <a:r>
              <a:rPr lang="en-US" sz="1500" dirty="0">
                <a:solidFill>
                  <a:srgbClr val="F4F4FB"/>
                </a:solidFill>
                <a:latin typeface="Arial" pitchFamily="34" charset="0"/>
                <a:ea typeface="Arial" pitchFamily="34" charset="-122"/>
                <a:cs typeface="Arial" pitchFamily="34" charset="-120"/>
              </a:rPr>
              <a:t>We added high-pass filters to training. The transformer improved on high-pass — but </a:t>
            </a:r>
            <a:pPr algn="l" indent="0" marL="0">
              <a:lnSpc>
                <a:spcPts val="2100"/>
              </a:lnSpc>
              <a:spcAft>
                <a:spcPts val="1000"/>
              </a:spcAft>
              <a:buNone/>
            </a:pPr>
            <a:r>
              <a:rPr lang="en-US" sz="1500" b="1" dirty="0">
                <a:solidFill>
                  <a:srgbClr val="EF476F"/>
                </a:solidFill>
                <a:latin typeface="Arial" pitchFamily="34" charset="0"/>
                <a:ea typeface="Arial" pitchFamily="34" charset="-122"/>
                <a:cs typeface="Arial" pitchFamily="34" charset="-120"/>
              </a:rPr>
              <a:t>lost</a:t>
            </a:r>
            <a:pPr algn="l" indent="0" marL="0">
              <a:lnSpc>
                <a:spcPts val="2100"/>
              </a:lnSpc>
              <a:spcAft>
                <a:spcPts val="1000"/>
              </a:spcAft>
              <a:buNone/>
            </a:pPr>
            <a:r>
              <a:rPr lang="en-US" sz="1500" dirty="0">
                <a:solidFill>
                  <a:srgbClr val="F4F4FB"/>
                </a:solidFill>
                <a:latin typeface="Arial" pitchFamily="34" charset="0"/>
                <a:ea typeface="Arial" pitchFamily="34" charset="-122"/>
                <a:cs typeface="Arial" pitchFamily="34" charset="-120"/>
              </a:rPr>
              <a:t> its edge on noise and pitch.</a:t>
            </a:r>
            <a:endParaRPr lang="en-US" sz="1500" dirty="0"/>
          </a:p>
        </p:txBody>
      </p:sp>
      <p:sp>
        <p:nvSpPr>
          <p:cNvPr id="23" name="Text 21"/>
          <p:cNvSpPr/>
          <p:nvPr/>
        </p:nvSpPr>
        <p:spPr>
          <a:xfrm>
            <a:off x="4762351" y="3225403"/>
            <a:ext cx="3822948" cy="1265039"/>
          </a:xfrm>
          <a:prstGeom prst="roundRect">
            <a:avLst>
              <a:gd name="adj" fmla="val 6024"/>
            </a:avLst>
          </a:prstGeom>
          <a:solidFill>
            <a:srgbClr val="25253D"/>
          </a:solidFill>
          <a:ln/>
        </p:spPr>
        <p:txBody>
          <a:bodyPr wrap="square" rtlCol="0" anchor="ctr"/>
          <a:lstStyle/>
          <a:p>
            <a:pPr indent="0" marL="0">
              <a:buNone/>
            </a:pPr>
            <a:endParaRPr lang="en-US" dirty="0"/>
          </a:p>
        </p:txBody>
      </p:sp>
      <p:sp>
        <p:nvSpPr>
          <p:cNvPr id="24" name="Shape 22"/>
          <p:cNvSpPr/>
          <p:nvPr/>
        </p:nvSpPr>
        <p:spPr>
          <a:xfrm>
            <a:off x="4790926" y="3225403"/>
            <a:ext cx="0" cy="1265039"/>
          </a:xfrm>
          <a:prstGeom prst="line">
            <a:avLst/>
          </a:prstGeom>
          <a:noFill/>
          <a:ln w="57150">
            <a:solidFill>
              <a:srgbClr val="9D4EDD"/>
            </a:solidFill>
            <a:prstDash val="solid"/>
          </a:ln>
        </p:spPr>
      </p:sp>
      <p:sp>
        <p:nvSpPr>
          <p:cNvPr id="25" name="Text 23"/>
          <p:cNvSpPr/>
          <p:nvPr/>
        </p:nvSpPr>
        <p:spPr>
          <a:xfrm>
            <a:off x="5022652" y="3377803"/>
            <a:ext cx="3426687" cy="960239"/>
          </a:xfrm>
          <a:prstGeom prst="rect">
            <a:avLst/>
          </a:prstGeom>
          <a:noFill/>
          <a:ln/>
        </p:spPr>
        <p:txBody>
          <a:bodyPr wrap="square" lIns="0" tIns="0" rIns="0" bIns="0" rtlCol="0" anchor="t"/>
          <a:lstStyle/>
          <a:p>
            <a:pPr algn="l" indent="0" marL="0">
              <a:lnSpc>
                <a:spcPts val="1890"/>
              </a:lnSpc>
              <a:buNone/>
            </a:pPr>
            <a:r>
              <a:rPr lang="en-US" sz="1400" i="1" dirty="0">
                <a:solidFill>
                  <a:srgbClr val="F4F4FB"/>
                </a:solidFill>
                <a:latin typeface="Arial" pitchFamily="34" charset="0"/>
                <a:ea typeface="Arial" pitchFamily="34" charset="-122"/>
                <a:cs typeface="Arial" pitchFamily="34" charset="-120"/>
              </a:rPr>
              <a:t>"Fixing one weakness broke another. The augmentations weren't making the model stronger — they were choosing which weaknesses it had."</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34901" y="304800"/>
            <a:ext cx="8161172" cy="171450"/>
          </a:xfrm>
          <a:prstGeom prst="rect">
            <a:avLst/>
          </a:prstGeom>
          <a:noFill/>
          <a:ln/>
        </p:spPr>
        <p:txBody>
          <a:bodyPr wrap="square" lIns="0" tIns="0" rIns="0" bIns="0" rtlCol="0" anchor="t"/>
          <a:lstStyle/>
          <a:p>
            <a:pPr algn="l" indent="0" marL="0">
              <a:spcAft>
                <a:spcPts val="600"/>
              </a:spcAft>
              <a:buNone/>
            </a:pPr>
            <a:r>
              <a:rPr lang="en-US" sz="1200" dirty="0">
                <a:solidFill>
                  <a:srgbClr val="06D6A0"/>
                </a:solidFill>
                <a:latin typeface="Courier New" pitchFamily="34" charset="0"/>
                <a:ea typeface="Courier New" pitchFamily="34" charset="-122"/>
                <a:cs typeface="Courier New" pitchFamily="34" charset="-120"/>
              </a:rPr>
              <a:t>02 · THE TWIST</a:t>
            </a:r>
            <a:endParaRPr lang="en-US" sz="1200" dirty="0"/>
          </a:p>
        </p:txBody>
      </p:sp>
      <p:sp>
        <p:nvSpPr>
          <p:cNvPr id="4" name="Text 2"/>
          <p:cNvSpPr/>
          <p:nvPr/>
        </p:nvSpPr>
        <p:spPr>
          <a:xfrm>
            <a:off x="634901" y="552450"/>
            <a:ext cx="8161172" cy="428625"/>
          </a:xfrm>
          <a:prstGeom prst="rect">
            <a:avLst/>
          </a:prstGeom>
          <a:noFill/>
          <a:ln/>
        </p:spPr>
        <p:txBody>
          <a:bodyPr wrap="square" lIns="0" tIns="0" rIns="0" bIns="0" rtlCol="0" anchor="t"/>
          <a:lstStyle/>
          <a:p>
            <a:pPr algn="l" indent="0" marL="0">
              <a:spcAft>
                <a:spcPts val="200"/>
              </a:spcAft>
              <a:buNone/>
            </a:pPr>
            <a:r>
              <a:rPr lang="en-US" sz="3000" b="1" dirty="0">
                <a:solidFill>
                  <a:srgbClr val="F4F4FB"/>
                </a:solidFill>
                <a:latin typeface="Arial" pitchFamily="34" charset="0"/>
                <a:ea typeface="Arial" pitchFamily="34" charset="-122"/>
                <a:cs typeface="Arial" pitchFamily="34" charset="-120"/>
              </a:rPr>
              <a:t>We hardened the test. The winner flipped.</a:t>
            </a:r>
            <a:endParaRPr lang="en-US" sz="3000" dirty="0"/>
          </a:p>
        </p:txBody>
      </p:sp>
      <p:sp>
        <p:nvSpPr>
          <p:cNvPr id="5" name="Text 3"/>
          <p:cNvSpPr/>
          <p:nvPr/>
        </p:nvSpPr>
        <p:spPr>
          <a:xfrm>
            <a:off x="634901" y="1006376"/>
            <a:ext cx="8161172" cy="200025"/>
          </a:xfrm>
          <a:prstGeom prst="rect">
            <a:avLst/>
          </a:prstGeom>
          <a:noFill/>
          <a:ln/>
        </p:spPr>
        <p:txBody>
          <a:bodyPr wrap="square" lIns="0" tIns="0" rIns="0" bIns="0" rtlCol="0" anchor="t"/>
          <a:lstStyle/>
          <a:p>
            <a:pPr algn="l" indent="0" marL="0">
              <a:spcAft>
                <a:spcPts val="1200"/>
              </a:spcAft>
              <a:buNone/>
            </a:pPr>
            <a:r>
              <a:rPr lang="en-US" sz="1300" b="1" dirty="0">
                <a:solidFill>
                  <a:srgbClr val="9D4EDD"/>
                </a:solidFill>
                <a:latin typeface="Arial" pitchFamily="34" charset="0"/>
                <a:ea typeface="Arial" pitchFamily="34" charset="-122"/>
                <a:cs typeface="Arial" pitchFamily="34" charset="-120"/>
              </a:rPr>
              <a:t>Short, off-center, combined degradations, multi-segment queries.</a:t>
            </a:r>
            <a:endParaRPr lang="en-US" sz="1300" dirty="0"/>
          </a:p>
        </p:txBody>
      </p:sp>
      <p:sp>
        <p:nvSpPr>
          <p:cNvPr id="6" name="Text 4"/>
          <p:cNvSpPr/>
          <p:nvPr/>
        </p:nvSpPr>
        <p:spPr>
          <a:xfrm>
            <a:off x="634901" y="1358801"/>
            <a:ext cx="3886200" cy="846237"/>
          </a:xfrm>
          <a:prstGeom prst="roundRect">
            <a:avLst>
              <a:gd name="adj" fmla="val 9005"/>
            </a:avLst>
          </a:prstGeom>
          <a:solidFill>
            <a:srgbClr val="25253D"/>
          </a:solidFill>
          <a:ln/>
        </p:spPr>
        <p:txBody>
          <a:bodyPr wrap="square" rtlCol="0" anchor="ctr"/>
          <a:lstStyle/>
          <a:p>
            <a:pPr indent="0" marL="0">
              <a:buNone/>
            </a:pPr>
            <a:endParaRPr lang="en-US" dirty="0"/>
          </a:p>
        </p:txBody>
      </p:sp>
      <p:sp>
        <p:nvSpPr>
          <p:cNvPr id="7" name="Shape 5"/>
          <p:cNvSpPr/>
          <p:nvPr/>
        </p:nvSpPr>
        <p:spPr>
          <a:xfrm>
            <a:off x="663476" y="1358801"/>
            <a:ext cx="0" cy="846237"/>
          </a:xfrm>
          <a:prstGeom prst="line">
            <a:avLst/>
          </a:prstGeom>
          <a:noFill/>
          <a:ln w="57150">
            <a:solidFill>
              <a:srgbClr val="9D4EDD"/>
            </a:solidFill>
            <a:prstDash val="solid"/>
          </a:ln>
        </p:spPr>
      </p:sp>
      <p:sp>
        <p:nvSpPr>
          <p:cNvPr id="8" name="Text 6"/>
          <p:cNvSpPr/>
          <p:nvPr/>
        </p:nvSpPr>
        <p:spPr>
          <a:xfrm>
            <a:off x="895201" y="1485751"/>
            <a:ext cx="3491204" cy="142875"/>
          </a:xfrm>
          <a:prstGeom prst="rect">
            <a:avLst/>
          </a:prstGeom>
          <a:noFill/>
          <a:ln/>
        </p:spPr>
        <p:txBody>
          <a:bodyPr wrap="square" lIns="0" tIns="0" rIns="0" bIns="0" rtlCol="0" anchor="t"/>
          <a:lstStyle/>
          <a:p>
            <a:pPr algn="l" indent="0" marL="0">
              <a:spcAft>
                <a:spcPts val="300"/>
              </a:spcAft>
              <a:buNone/>
            </a:pPr>
            <a:r>
              <a:rPr lang="en-US" sz="1000" dirty="0">
                <a:solidFill>
                  <a:srgbClr val="06D6A0"/>
                </a:solidFill>
                <a:latin typeface="Courier New" pitchFamily="34" charset="0"/>
                <a:ea typeface="Courier New" pitchFamily="34" charset="-122"/>
                <a:cs typeface="Courier New" pitchFamily="34" charset="-120"/>
              </a:rPr>
              <a:t>OLD TEST</a:t>
            </a:r>
            <a:endParaRPr lang="en-US" sz="1000" dirty="0"/>
          </a:p>
        </p:txBody>
      </p:sp>
      <p:sp>
        <p:nvSpPr>
          <p:cNvPr id="9" name="Text 7"/>
          <p:cNvSpPr/>
          <p:nvPr/>
        </p:nvSpPr>
        <p:spPr>
          <a:xfrm>
            <a:off x="895201" y="1666726"/>
            <a:ext cx="3491204"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Clean, centered, 3-second clip. Every model scored ~99% — useless for comparison.</a:t>
            </a:r>
            <a:endParaRPr lang="en-US" sz="1200" dirty="0"/>
          </a:p>
        </p:txBody>
      </p:sp>
      <p:sp>
        <p:nvSpPr>
          <p:cNvPr id="10" name="Text 8"/>
          <p:cNvSpPr/>
          <p:nvPr/>
        </p:nvSpPr>
        <p:spPr>
          <a:xfrm>
            <a:off x="634901" y="2306538"/>
            <a:ext cx="3886200" cy="1194792"/>
          </a:xfrm>
          <a:prstGeom prst="roundRect">
            <a:avLst>
              <a:gd name="adj" fmla="val 6378"/>
            </a:avLst>
          </a:prstGeom>
          <a:solidFill>
            <a:srgbClr val="25253D"/>
          </a:solidFill>
          <a:ln/>
        </p:spPr>
        <p:txBody>
          <a:bodyPr wrap="square" rtlCol="0" anchor="ctr"/>
          <a:lstStyle/>
          <a:p>
            <a:pPr indent="0" marL="0">
              <a:buNone/>
            </a:pPr>
            <a:endParaRPr lang="en-US" dirty="0"/>
          </a:p>
        </p:txBody>
      </p:sp>
      <p:sp>
        <p:nvSpPr>
          <p:cNvPr id="11" name="Shape 9"/>
          <p:cNvSpPr/>
          <p:nvPr/>
        </p:nvSpPr>
        <p:spPr>
          <a:xfrm>
            <a:off x="663476" y="2306538"/>
            <a:ext cx="0" cy="1194792"/>
          </a:xfrm>
          <a:prstGeom prst="line">
            <a:avLst/>
          </a:prstGeom>
          <a:noFill/>
          <a:ln w="57150">
            <a:solidFill>
              <a:srgbClr val="06D6A0"/>
            </a:solidFill>
            <a:prstDash val="solid"/>
          </a:ln>
        </p:spPr>
      </p:sp>
      <p:sp>
        <p:nvSpPr>
          <p:cNvPr id="12" name="Text 10"/>
          <p:cNvSpPr/>
          <p:nvPr/>
        </p:nvSpPr>
        <p:spPr>
          <a:xfrm>
            <a:off x="895201" y="2433489"/>
            <a:ext cx="3491204" cy="285750"/>
          </a:xfrm>
          <a:prstGeom prst="rect">
            <a:avLst/>
          </a:prstGeom>
          <a:noFill/>
          <a:ln/>
        </p:spPr>
        <p:txBody>
          <a:bodyPr wrap="square" lIns="0" tIns="0" rIns="0" bIns="0" rtlCol="0" anchor="t"/>
          <a:lstStyle/>
          <a:p>
            <a:pPr algn="l" indent="0" marL="0">
              <a:spcAft>
                <a:spcPts val="300"/>
              </a:spcAft>
              <a:buNone/>
            </a:pPr>
            <a:r>
              <a:rPr lang="en-US" sz="1000" dirty="0">
                <a:solidFill>
                  <a:srgbClr val="06D6A0"/>
                </a:solidFill>
                <a:latin typeface="Courier New" pitchFamily="34" charset="0"/>
                <a:ea typeface="Courier New" pitchFamily="34" charset="-122"/>
                <a:cs typeface="Courier New" pitchFamily="34" charset="-120"/>
              </a:rPr>
              <a:t>NEW TEST · NIKOU &amp; GIANNAKOPOULOS 2025 [3]</a:t>
            </a:r>
            <a:endParaRPr lang="en-US" sz="1000" dirty="0"/>
          </a:p>
        </p:txBody>
      </p:sp>
      <p:sp>
        <p:nvSpPr>
          <p:cNvPr id="13" name="Text 11"/>
          <p:cNvSpPr/>
          <p:nvPr/>
        </p:nvSpPr>
        <p:spPr>
          <a:xfrm>
            <a:off x="895201" y="2757339"/>
            <a:ext cx="3491204" cy="61704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1–3 s clips, random offsets, combined noise + filter + compression — like a phone recording in a café.</a:t>
            </a:r>
            <a:endParaRPr lang="en-US" sz="1200" dirty="0"/>
          </a:p>
        </p:txBody>
      </p:sp>
      <p:sp>
        <p:nvSpPr>
          <p:cNvPr id="14" name="Text 12"/>
          <p:cNvSpPr/>
          <p:nvPr/>
        </p:nvSpPr>
        <p:spPr>
          <a:xfrm>
            <a:off x="634901" y="3602831"/>
            <a:ext cx="3886200" cy="846237"/>
          </a:xfrm>
          <a:prstGeom prst="roundRect">
            <a:avLst>
              <a:gd name="adj" fmla="val 9005"/>
            </a:avLst>
          </a:prstGeom>
          <a:solidFill>
            <a:srgbClr val="25253D"/>
          </a:solidFill>
          <a:ln/>
        </p:spPr>
        <p:txBody>
          <a:bodyPr wrap="square" rtlCol="0" anchor="ctr"/>
          <a:lstStyle/>
          <a:p>
            <a:pPr indent="0" marL="0">
              <a:buNone/>
            </a:pPr>
            <a:endParaRPr lang="en-US" dirty="0"/>
          </a:p>
        </p:txBody>
      </p:sp>
      <p:sp>
        <p:nvSpPr>
          <p:cNvPr id="15" name="Shape 13"/>
          <p:cNvSpPr/>
          <p:nvPr/>
        </p:nvSpPr>
        <p:spPr>
          <a:xfrm>
            <a:off x="663476" y="3602831"/>
            <a:ext cx="0" cy="846237"/>
          </a:xfrm>
          <a:prstGeom prst="line">
            <a:avLst/>
          </a:prstGeom>
          <a:noFill/>
          <a:ln w="57150">
            <a:solidFill>
              <a:srgbClr val="EF476F"/>
            </a:solidFill>
            <a:prstDash val="solid"/>
          </a:ln>
        </p:spPr>
      </p:sp>
      <p:sp>
        <p:nvSpPr>
          <p:cNvPr id="16" name="Text 14"/>
          <p:cNvSpPr/>
          <p:nvPr/>
        </p:nvSpPr>
        <p:spPr>
          <a:xfrm>
            <a:off x="895201" y="3729782"/>
            <a:ext cx="3491204" cy="142875"/>
          </a:xfrm>
          <a:prstGeom prst="rect">
            <a:avLst/>
          </a:prstGeom>
          <a:noFill/>
          <a:ln/>
        </p:spPr>
        <p:txBody>
          <a:bodyPr wrap="square" lIns="0" tIns="0" rIns="0" bIns="0" rtlCol="0" anchor="t"/>
          <a:lstStyle/>
          <a:p>
            <a:pPr algn="l" indent="0" marL="0">
              <a:spcAft>
                <a:spcPts val="300"/>
              </a:spcAft>
              <a:buNone/>
            </a:pPr>
            <a:r>
              <a:rPr lang="en-US" sz="1000" dirty="0">
                <a:solidFill>
                  <a:srgbClr val="06D6A0"/>
                </a:solidFill>
                <a:latin typeface="Courier New" pitchFamily="34" charset="0"/>
                <a:ea typeface="Courier New" pitchFamily="34" charset="-122"/>
                <a:cs typeface="Courier New" pitchFamily="34" charset="-120"/>
              </a:rPr>
              <a:t>RESULT</a:t>
            </a:r>
            <a:endParaRPr lang="en-US" sz="1000" dirty="0"/>
          </a:p>
        </p:txBody>
      </p:sp>
      <p:sp>
        <p:nvSpPr>
          <p:cNvPr id="17" name="Text 15"/>
          <p:cNvSpPr/>
          <p:nvPr/>
        </p:nvSpPr>
        <p:spPr>
          <a:xfrm>
            <a:off x="895201" y="3910757"/>
            <a:ext cx="3491204"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The hybrid transformer's edge </a:t>
            </a:r>
            <a:pPr algn="l" indent="0" marL="0">
              <a:lnSpc>
                <a:spcPts val="1620"/>
              </a:lnSpc>
              <a:buNone/>
            </a:pPr>
            <a:r>
              <a:rPr lang="en-US" sz="1200" b="1" dirty="0">
                <a:solidFill>
                  <a:srgbClr val="F4F4FB"/>
                </a:solidFill>
                <a:latin typeface="Arial" pitchFamily="34" charset="0"/>
                <a:ea typeface="Arial" pitchFamily="34" charset="-122"/>
                <a:cs typeface="Arial" pitchFamily="34" charset="-120"/>
              </a:rPr>
              <a:t>vanished</a:t>
            </a:r>
            <a:pPr algn="l" indent="0" marL="0">
              <a:lnSpc>
                <a:spcPts val="1620"/>
              </a:lnSpc>
              <a:buNone/>
            </a:pPr>
            <a:r>
              <a:rPr lang="en-US" sz="1200" dirty="0">
                <a:solidFill>
                  <a:srgbClr val="F4F4FB"/>
                </a:solidFill>
                <a:latin typeface="Arial" pitchFamily="34" charset="0"/>
                <a:ea typeface="Arial" pitchFamily="34" charset="-122"/>
                <a:cs typeface="Arial" pitchFamily="34" charset="-120"/>
              </a:rPr>
              <a:t>. The simple CNN pulled ahead.</a:t>
            </a:r>
            <a:endParaRPr lang="en-US" sz="1200" dirty="0"/>
          </a:p>
        </p:txBody>
      </p:sp>
      <p:sp>
        <p:nvSpPr>
          <p:cNvPr id="18" name="Text 16"/>
          <p:cNvSpPr/>
          <p:nvPr/>
        </p:nvSpPr>
        <p:spPr>
          <a:xfrm>
            <a:off x="4749701" y="1358801"/>
            <a:ext cx="3886349" cy="3276749"/>
          </a:xfrm>
          <a:prstGeom prst="roundRect">
            <a:avLst>
              <a:gd name="adj" fmla="val 2325"/>
            </a:avLst>
          </a:prstGeom>
          <a:solidFill>
            <a:srgbClr val="25253D"/>
          </a:solidFill>
          <a:ln/>
        </p:spPr>
        <p:txBody>
          <a:bodyPr wrap="square" rtlCol="0" anchor="ctr"/>
          <a:lstStyle/>
          <a:p>
            <a:pPr indent="0" marL="0">
              <a:buNone/>
            </a:pPr>
            <a:endParaRPr lang="en-US" dirty="0"/>
          </a:p>
        </p:txBody>
      </p:sp>
      <p:sp>
        <p:nvSpPr>
          <p:cNvPr id="19" name="Shape 17"/>
          <p:cNvSpPr/>
          <p:nvPr/>
        </p:nvSpPr>
        <p:spPr>
          <a:xfrm>
            <a:off x="4778276" y="1358801"/>
            <a:ext cx="0" cy="3276749"/>
          </a:xfrm>
          <a:prstGeom prst="line">
            <a:avLst/>
          </a:prstGeom>
          <a:noFill/>
          <a:ln w="57150">
            <a:solidFill>
              <a:srgbClr val="06D6A0"/>
            </a:solidFill>
            <a:prstDash val="solid"/>
          </a:ln>
        </p:spPr>
      </p:sp>
      <p:sp>
        <p:nvSpPr>
          <p:cNvPr id="20" name="Text 18"/>
          <p:cNvSpPr/>
          <p:nvPr/>
        </p:nvSpPr>
        <p:spPr>
          <a:xfrm>
            <a:off x="5035451" y="1943398"/>
            <a:ext cx="3439439" cy="285750"/>
          </a:xfrm>
          <a:prstGeom prst="rect">
            <a:avLst/>
          </a:prstGeom>
          <a:noFill/>
          <a:ln/>
        </p:spPr>
        <p:txBody>
          <a:bodyPr wrap="square" lIns="0" tIns="0" rIns="0" bIns="0" rtlCol="0" anchor="t"/>
          <a:lstStyle/>
          <a:p>
            <a:pPr algn="l" indent="0" marL="0">
              <a:spcAft>
                <a:spcPts val="1000"/>
              </a:spcAft>
              <a:buNone/>
            </a:pPr>
            <a:r>
              <a:rPr lang="en-US" sz="1000" dirty="0">
                <a:solidFill>
                  <a:srgbClr val="06D6A0"/>
                </a:solidFill>
                <a:latin typeface="Courier New" pitchFamily="34" charset="0"/>
                <a:ea typeface="Courier New" pitchFamily="34" charset="-122"/>
                <a:cs typeface="Courier New" pitchFamily="34" charset="-120"/>
              </a:rPr>
              <a:t>RANKING SCORE · FMA SMALL · HARDER BENCHMARK</a:t>
            </a:r>
            <a:endParaRPr lang="en-US" sz="1000" dirty="0"/>
          </a:p>
        </p:txBody>
      </p:sp>
      <p:sp>
        <p:nvSpPr>
          <p:cNvPr id="21" name="Text 19"/>
          <p:cNvSpPr/>
          <p:nvPr/>
        </p:nvSpPr>
        <p:spPr>
          <a:xfrm>
            <a:off x="5035451" y="2386161"/>
            <a:ext cx="1036219" cy="142875"/>
          </a:xfrm>
          <a:prstGeom prst="rect">
            <a:avLst/>
          </a:prstGeom>
          <a:noFill/>
          <a:ln/>
        </p:spPr>
        <p:txBody>
          <a:bodyPr wrap="square" lIns="0" tIns="0" rIns="0" bIns="0" rtlCol="0" anchor="t"/>
          <a:lstStyle/>
          <a:p>
            <a:pPr algn="l" indent="0" marL="0">
              <a:buNone/>
            </a:pPr>
            <a:r>
              <a:rPr lang="en-US" sz="1000" dirty="0">
                <a:solidFill>
                  <a:srgbClr val="F4F4FB"/>
                </a:solidFill>
                <a:latin typeface="Courier New" pitchFamily="34" charset="0"/>
                <a:ea typeface="Courier New" pitchFamily="34" charset="-122"/>
                <a:cs typeface="Courier New" pitchFamily="34" charset="-120"/>
              </a:rPr>
              <a:t>CNN</a:t>
            </a:r>
            <a:endParaRPr lang="en-US" sz="1000" dirty="0"/>
          </a:p>
        </p:txBody>
      </p:sp>
      <p:sp>
        <p:nvSpPr>
          <p:cNvPr id="22" name="Text 20"/>
          <p:cNvSpPr/>
          <p:nvPr/>
        </p:nvSpPr>
        <p:spPr>
          <a:xfrm>
            <a:off x="6051352" y="2356098"/>
            <a:ext cx="167044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23" name="Text 21"/>
          <p:cNvSpPr/>
          <p:nvPr/>
        </p:nvSpPr>
        <p:spPr>
          <a:xfrm>
            <a:off x="6051352" y="2356098"/>
            <a:ext cx="1586805" cy="203150"/>
          </a:xfrm>
          <a:prstGeom prst="roundRect">
            <a:avLst>
              <a:gd name="adj" fmla="val 18755"/>
            </a:avLst>
          </a:prstGeom>
          <a:solidFill>
            <a:srgbClr val="06D6A0"/>
          </a:solidFill>
          <a:ln/>
        </p:spPr>
        <p:txBody>
          <a:bodyPr wrap="square" rtlCol="0" anchor="ctr"/>
          <a:lstStyle/>
          <a:p>
            <a:pPr indent="0" marL="0">
              <a:buNone/>
            </a:pPr>
            <a:endParaRPr lang="en-US" dirty="0"/>
          </a:p>
        </p:txBody>
      </p:sp>
      <p:sp>
        <p:nvSpPr>
          <p:cNvPr id="24" name="Text 22"/>
          <p:cNvSpPr/>
          <p:nvPr/>
        </p:nvSpPr>
        <p:spPr>
          <a:xfrm>
            <a:off x="7811616" y="2386161"/>
            <a:ext cx="595833" cy="142875"/>
          </a:xfrm>
          <a:prstGeom prst="rect">
            <a:avLst/>
          </a:prstGeom>
          <a:noFill/>
          <a:ln/>
        </p:spPr>
        <p:txBody>
          <a:bodyPr wrap="square" lIns="0" tIns="0" rIns="0" bIns="0" rtlCol="0" anchor="t"/>
          <a:lstStyle/>
          <a:p>
            <a:pPr algn="r" indent="0" marL="0">
              <a:buNone/>
            </a:pPr>
            <a:r>
              <a:rPr lang="en-US" sz="1000" dirty="0">
                <a:solidFill>
                  <a:srgbClr val="F4F4FB"/>
                </a:solidFill>
                <a:latin typeface="Courier New" pitchFamily="34" charset="0"/>
                <a:ea typeface="Courier New" pitchFamily="34" charset="-122"/>
                <a:cs typeface="Courier New" pitchFamily="34" charset="-120"/>
              </a:rPr>
              <a:t>0.475</a:t>
            </a:r>
            <a:endParaRPr lang="en-US" sz="1000" dirty="0"/>
          </a:p>
        </p:txBody>
      </p:sp>
      <p:sp>
        <p:nvSpPr>
          <p:cNvPr id="25" name="Text 23"/>
          <p:cNvSpPr/>
          <p:nvPr/>
        </p:nvSpPr>
        <p:spPr>
          <a:xfrm>
            <a:off x="5035451" y="2678162"/>
            <a:ext cx="1036219" cy="142875"/>
          </a:xfrm>
          <a:prstGeom prst="rect">
            <a:avLst/>
          </a:prstGeom>
          <a:noFill/>
          <a:ln/>
        </p:spPr>
        <p:txBody>
          <a:bodyPr wrap="square" lIns="0" tIns="0" rIns="0" bIns="0" rtlCol="0" anchor="t"/>
          <a:lstStyle/>
          <a:p>
            <a:pPr algn="l" indent="0" marL="0">
              <a:buNone/>
            </a:pPr>
            <a:r>
              <a:rPr lang="en-US" sz="1000" dirty="0">
                <a:solidFill>
                  <a:srgbClr val="F4F4FB"/>
                </a:solidFill>
                <a:latin typeface="Courier New" pitchFamily="34" charset="0"/>
                <a:ea typeface="Courier New" pitchFamily="34" charset="-122"/>
                <a:cs typeface="Courier New" pitchFamily="34" charset="-120"/>
              </a:rPr>
              <a:t>Hybrid</a:t>
            </a:r>
            <a:endParaRPr lang="en-US" sz="1000" dirty="0"/>
          </a:p>
        </p:txBody>
      </p:sp>
      <p:sp>
        <p:nvSpPr>
          <p:cNvPr id="26" name="Text 24"/>
          <p:cNvSpPr/>
          <p:nvPr/>
        </p:nvSpPr>
        <p:spPr>
          <a:xfrm>
            <a:off x="6051352" y="2648099"/>
            <a:ext cx="167044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27" name="Text 25"/>
          <p:cNvSpPr/>
          <p:nvPr/>
        </p:nvSpPr>
        <p:spPr>
          <a:xfrm>
            <a:off x="6051352" y="2648099"/>
            <a:ext cx="1152525" cy="203150"/>
          </a:xfrm>
          <a:prstGeom prst="roundRect">
            <a:avLst>
              <a:gd name="adj" fmla="val 18755"/>
            </a:avLst>
          </a:prstGeom>
          <a:solidFill>
            <a:srgbClr val="9D4EDD"/>
          </a:solidFill>
          <a:ln/>
        </p:spPr>
        <p:txBody>
          <a:bodyPr wrap="square" rtlCol="0" anchor="ctr"/>
          <a:lstStyle/>
          <a:p>
            <a:pPr indent="0" marL="0">
              <a:buNone/>
            </a:pPr>
            <a:endParaRPr lang="en-US" dirty="0"/>
          </a:p>
        </p:txBody>
      </p:sp>
      <p:sp>
        <p:nvSpPr>
          <p:cNvPr id="28" name="Text 26"/>
          <p:cNvSpPr/>
          <p:nvPr/>
        </p:nvSpPr>
        <p:spPr>
          <a:xfrm>
            <a:off x="7811616" y="2678162"/>
            <a:ext cx="595833" cy="142875"/>
          </a:xfrm>
          <a:prstGeom prst="rect">
            <a:avLst/>
          </a:prstGeom>
          <a:noFill/>
          <a:ln/>
        </p:spPr>
        <p:txBody>
          <a:bodyPr wrap="square" lIns="0" tIns="0" rIns="0" bIns="0" rtlCol="0" anchor="t"/>
          <a:lstStyle/>
          <a:p>
            <a:pPr algn="r" indent="0" marL="0">
              <a:buNone/>
            </a:pPr>
            <a:r>
              <a:rPr lang="en-US" sz="1000" dirty="0">
                <a:solidFill>
                  <a:srgbClr val="F4F4FB"/>
                </a:solidFill>
                <a:latin typeface="Courier New" pitchFamily="34" charset="0"/>
                <a:ea typeface="Courier New" pitchFamily="34" charset="-122"/>
                <a:cs typeface="Courier New" pitchFamily="34" charset="-120"/>
              </a:rPr>
              <a:t>0.347</a:t>
            </a:r>
            <a:endParaRPr lang="en-US" sz="1000" dirty="0"/>
          </a:p>
        </p:txBody>
      </p:sp>
      <p:sp>
        <p:nvSpPr>
          <p:cNvPr id="29" name="Text 27"/>
          <p:cNvSpPr/>
          <p:nvPr/>
        </p:nvSpPr>
        <p:spPr>
          <a:xfrm>
            <a:off x="5035451" y="2970163"/>
            <a:ext cx="1036219" cy="142875"/>
          </a:xfrm>
          <a:prstGeom prst="rect">
            <a:avLst/>
          </a:prstGeom>
          <a:noFill/>
          <a:ln/>
        </p:spPr>
        <p:txBody>
          <a:bodyPr wrap="square" lIns="0" tIns="0" rIns="0" bIns="0" rtlCol="0" anchor="t"/>
          <a:lstStyle/>
          <a:p>
            <a:pPr algn="l" indent="0" marL="0">
              <a:buNone/>
            </a:pPr>
            <a:r>
              <a:rPr lang="en-US" sz="1000" dirty="0">
                <a:solidFill>
                  <a:srgbClr val="F4F4FB"/>
                </a:solidFill>
                <a:latin typeface="Courier New" pitchFamily="34" charset="0"/>
                <a:ea typeface="Courier New" pitchFamily="34" charset="-122"/>
                <a:cs typeface="Courier New" pitchFamily="34" charset="-120"/>
              </a:rPr>
              <a:t>MERT</a:t>
            </a:r>
            <a:endParaRPr lang="en-US" sz="1000" dirty="0"/>
          </a:p>
        </p:txBody>
      </p:sp>
      <p:sp>
        <p:nvSpPr>
          <p:cNvPr id="30" name="Text 28"/>
          <p:cNvSpPr/>
          <p:nvPr/>
        </p:nvSpPr>
        <p:spPr>
          <a:xfrm>
            <a:off x="6051352" y="2940100"/>
            <a:ext cx="167044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31" name="Text 29"/>
          <p:cNvSpPr/>
          <p:nvPr/>
        </p:nvSpPr>
        <p:spPr>
          <a:xfrm>
            <a:off x="6051352" y="2940100"/>
            <a:ext cx="1002209" cy="203150"/>
          </a:xfrm>
          <a:prstGeom prst="roundRect">
            <a:avLst>
              <a:gd name="adj" fmla="val 18755"/>
            </a:avLst>
          </a:prstGeom>
          <a:solidFill>
            <a:srgbClr val="9D4EDD"/>
          </a:solidFill>
          <a:ln/>
        </p:spPr>
        <p:txBody>
          <a:bodyPr wrap="square" rtlCol="0" anchor="ctr"/>
          <a:lstStyle/>
          <a:p>
            <a:pPr indent="0" marL="0">
              <a:buNone/>
            </a:pPr>
            <a:endParaRPr lang="en-US" dirty="0"/>
          </a:p>
        </p:txBody>
      </p:sp>
      <p:sp>
        <p:nvSpPr>
          <p:cNvPr id="32" name="Text 30"/>
          <p:cNvSpPr/>
          <p:nvPr/>
        </p:nvSpPr>
        <p:spPr>
          <a:xfrm>
            <a:off x="7811616" y="2970163"/>
            <a:ext cx="595833" cy="142875"/>
          </a:xfrm>
          <a:prstGeom prst="rect">
            <a:avLst/>
          </a:prstGeom>
          <a:noFill/>
          <a:ln/>
        </p:spPr>
        <p:txBody>
          <a:bodyPr wrap="square" lIns="0" tIns="0" rIns="0" bIns="0" rtlCol="0" anchor="t"/>
          <a:lstStyle/>
          <a:p>
            <a:pPr algn="r" indent="0" marL="0">
              <a:buNone/>
            </a:pPr>
            <a:r>
              <a:rPr lang="en-US" sz="1000" dirty="0">
                <a:solidFill>
                  <a:srgbClr val="F4F4FB"/>
                </a:solidFill>
                <a:latin typeface="Courier New" pitchFamily="34" charset="0"/>
                <a:ea typeface="Courier New" pitchFamily="34" charset="-122"/>
                <a:cs typeface="Courier New" pitchFamily="34" charset="-120"/>
              </a:rPr>
              <a:t>0.301</a:t>
            </a:r>
            <a:endParaRPr lang="en-US" sz="1000" dirty="0"/>
          </a:p>
        </p:txBody>
      </p:sp>
      <p:sp>
        <p:nvSpPr>
          <p:cNvPr id="33" name="Text 31"/>
          <p:cNvSpPr/>
          <p:nvPr/>
        </p:nvSpPr>
        <p:spPr>
          <a:xfrm>
            <a:off x="5035451" y="3262164"/>
            <a:ext cx="1036219" cy="142875"/>
          </a:xfrm>
          <a:prstGeom prst="rect">
            <a:avLst/>
          </a:prstGeom>
          <a:noFill/>
          <a:ln/>
        </p:spPr>
        <p:txBody>
          <a:bodyPr wrap="square" lIns="0" tIns="0" rIns="0" bIns="0" rtlCol="0" anchor="t"/>
          <a:lstStyle/>
          <a:p>
            <a:pPr algn="l" indent="0" marL="0">
              <a:buNone/>
            </a:pPr>
            <a:r>
              <a:rPr lang="en-US" sz="1000" dirty="0">
                <a:solidFill>
                  <a:srgbClr val="F4F4FB"/>
                </a:solidFill>
                <a:latin typeface="Courier New" pitchFamily="34" charset="0"/>
                <a:ea typeface="Courier New" pitchFamily="34" charset="-122"/>
                <a:cs typeface="Courier New" pitchFamily="34" charset="-120"/>
              </a:rPr>
              <a:t>Hybrid+1ofK</a:t>
            </a:r>
            <a:endParaRPr lang="en-US" sz="1000" dirty="0"/>
          </a:p>
        </p:txBody>
      </p:sp>
      <p:sp>
        <p:nvSpPr>
          <p:cNvPr id="34" name="Text 32"/>
          <p:cNvSpPr/>
          <p:nvPr/>
        </p:nvSpPr>
        <p:spPr>
          <a:xfrm>
            <a:off x="6051352" y="3232100"/>
            <a:ext cx="167044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35" name="Text 33"/>
          <p:cNvSpPr/>
          <p:nvPr/>
        </p:nvSpPr>
        <p:spPr>
          <a:xfrm>
            <a:off x="6051352" y="3232100"/>
            <a:ext cx="1002209" cy="203150"/>
          </a:xfrm>
          <a:prstGeom prst="roundRect">
            <a:avLst>
              <a:gd name="adj" fmla="val 18755"/>
            </a:avLst>
          </a:prstGeom>
          <a:solidFill>
            <a:srgbClr val="9D4EDD"/>
          </a:solidFill>
          <a:ln/>
        </p:spPr>
        <p:txBody>
          <a:bodyPr wrap="square" rtlCol="0" anchor="ctr"/>
          <a:lstStyle/>
          <a:p>
            <a:pPr indent="0" marL="0">
              <a:buNone/>
            </a:pPr>
            <a:endParaRPr lang="en-US" dirty="0"/>
          </a:p>
        </p:txBody>
      </p:sp>
      <p:sp>
        <p:nvSpPr>
          <p:cNvPr id="36" name="Text 34"/>
          <p:cNvSpPr/>
          <p:nvPr/>
        </p:nvSpPr>
        <p:spPr>
          <a:xfrm>
            <a:off x="7811616" y="3262164"/>
            <a:ext cx="595833" cy="142875"/>
          </a:xfrm>
          <a:prstGeom prst="rect">
            <a:avLst/>
          </a:prstGeom>
          <a:noFill/>
          <a:ln/>
        </p:spPr>
        <p:txBody>
          <a:bodyPr wrap="square" lIns="0" tIns="0" rIns="0" bIns="0" rtlCol="0" anchor="t"/>
          <a:lstStyle/>
          <a:p>
            <a:pPr algn="r" indent="0" marL="0">
              <a:buNone/>
            </a:pPr>
            <a:r>
              <a:rPr lang="en-US" sz="1000" dirty="0">
                <a:solidFill>
                  <a:srgbClr val="F4F4FB"/>
                </a:solidFill>
                <a:latin typeface="Courier New" pitchFamily="34" charset="0"/>
                <a:ea typeface="Courier New" pitchFamily="34" charset="-122"/>
                <a:cs typeface="Courier New" pitchFamily="34" charset="-120"/>
              </a:rPr>
              <a:t>0.300</a:t>
            </a:r>
            <a:endParaRPr lang="en-US" sz="1000" dirty="0"/>
          </a:p>
        </p:txBody>
      </p:sp>
      <p:sp>
        <p:nvSpPr>
          <p:cNvPr id="37" name="Text 35"/>
          <p:cNvSpPr/>
          <p:nvPr/>
        </p:nvSpPr>
        <p:spPr>
          <a:xfrm>
            <a:off x="5035451" y="3554164"/>
            <a:ext cx="1036219" cy="142875"/>
          </a:xfrm>
          <a:prstGeom prst="rect">
            <a:avLst/>
          </a:prstGeom>
          <a:noFill/>
          <a:ln/>
        </p:spPr>
        <p:txBody>
          <a:bodyPr wrap="square" lIns="0" tIns="0" rIns="0" bIns="0" rtlCol="0" anchor="t"/>
          <a:lstStyle/>
          <a:p>
            <a:pPr algn="l" indent="0" marL="0">
              <a:buNone/>
            </a:pPr>
            <a:r>
              <a:rPr lang="en-US" sz="1000" dirty="0">
                <a:solidFill>
                  <a:srgbClr val="F4F4FB"/>
                </a:solidFill>
                <a:latin typeface="Courier New" pitchFamily="34" charset="0"/>
                <a:ea typeface="Courier New" pitchFamily="34" charset="-122"/>
                <a:cs typeface="Courier New" pitchFamily="34" charset="-120"/>
              </a:rPr>
              <a:t>Hybrid+ext</a:t>
            </a:r>
            <a:endParaRPr lang="en-US" sz="1000" dirty="0"/>
          </a:p>
        </p:txBody>
      </p:sp>
      <p:sp>
        <p:nvSpPr>
          <p:cNvPr id="38" name="Text 36"/>
          <p:cNvSpPr/>
          <p:nvPr/>
        </p:nvSpPr>
        <p:spPr>
          <a:xfrm>
            <a:off x="6051352" y="3524101"/>
            <a:ext cx="1670447" cy="203150"/>
          </a:xfrm>
          <a:prstGeom prst="roundRect">
            <a:avLst>
              <a:gd name="adj" fmla="val 18755"/>
            </a:avLst>
          </a:prstGeom>
          <a:solidFill>
            <a:srgbClr val="1A1A2E"/>
          </a:solidFill>
          <a:ln/>
        </p:spPr>
        <p:txBody>
          <a:bodyPr wrap="square" rtlCol="0" anchor="ctr"/>
          <a:lstStyle/>
          <a:p>
            <a:pPr indent="0" marL="0">
              <a:buNone/>
            </a:pPr>
            <a:endParaRPr lang="en-US" dirty="0"/>
          </a:p>
        </p:txBody>
      </p:sp>
      <p:sp>
        <p:nvSpPr>
          <p:cNvPr id="39" name="Text 37"/>
          <p:cNvSpPr/>
          <p:nvPr/>
        </p:nvSpPr>
        <p:spPr>
          <a:xfrm>
            <a:off x="6051352" y="3524101"/>
            <a:ext cx="501104" cy="203150"/>
          </a:xfrm>
          <a:prstGeom prst="roundRect">
            <a:avLst>
              <a:gd name="adj" fmla="val 18755"/>
            </a:avLst>
          </a:prstGeom>
          <a:solidFill>
            <a:srgbClr val="9D4EDD"/>
          </a:solidFill>
          <a:ln/>
        </p:spPr>
        <p:txBody>
          <a:bodyPr wrap="square" rtlCol="0" anchor="ctr"/>
          <a:lstStyle/>
          <a:p>
            <a:pPr indent="0" marL="0">
              <a:buNone/>
            </a:pPr>
            <a:endParaRPr lang="en-US" dirty="0"/>
          </a:p>
        </p:txBody>
      </p:sp>
      <p:sp>
        <p:nvSpPr>
          <p:cNvPr id="40" name="Text 38"/>
          <p:cNvSpPr/>
          <p:nvPr/>
        </p:nvSpPr>
        <p:spPr>
          <a:xfrm>
            <a:off x="7811616" y="3554164"/>
            <a:ext cx="595833" cy="142875"/>
          </a:xfrm>
          <a:prstGeom prst="rect">
            <a:avLst/>
          </a:prstGeom>
          <a:noFill/>
          <a:ln/>
        </p:spPr>
        <p:txBody>
          <a:bodyPr wrap="square" lIns="0" tIns="0" rIns="0" bIns="0" rtlCol="0" anchor="t"/>
          <a:lstStyle/>
          <a:p>
            <a:pPr algn="r" indent="0" marL="0">
              <a:buNone/>
            </a:pPr>
            <a:r>
              <a:rPr lang="en-US" sz="1000" dirty="0">
                <a:solidFill>
                  <a:srgbClr val="F4F4FB"/>
                </a:solidFill>
                <a:latin typeface="Courier New" pitchFamily="34" charset="0"/>
                <a:ea typeface="Courier New" pitchFamily="34" charset="-122"/>
                <a:cs typeface="Courier New" pitchFamily="34" charset="-120"/>
              </a:rPr>
              <a:t>0.151</a:t>
            </a:r>
            <a:endParaRPr lang="en-US" sz="1000" dirty="0"/>
          </a:p>
        </p:txBody>
      </p:sp>
      <p:sp>
        <p:nvSpPr>
          <p:cNvPr id="41" name="Text 39"/>
          <p:cNvSpPr/>
          <p:nvPr/>
        </p:nvSpPr>
        <p:spPr>
          <a:xfrm>
            <a:off x="5035451" y="3917603"/>
            <a:ext cx="3439439" cy="133350"/>
          </a:xfrm>
          <a:prstGeom prst="rect">
            <a:avLst/>
          </a:prstGeom>
          <a:noFill/>
          <a:ln/>
        </p:spPr>
        <p:txBody>
          <a:bodyPr wrap="square" lIns="0" tIns="0" rIns="0" bIns="0" rtlCol="0" anchor="t"/>
          <a:lstStyle/>
          <a:p>
            <a:pPr algn="l" indent="0" marL="0">
              <a:spcBef>
                <a:spcPts val="800"/>
              </a:spcBef>
              <a:buNone/>
            </a:pPr>
            <a:r>
              <a:rPr lang="en-US" sz="900" dirty="0">
                <a:solidFill>
                  <a:srgbClr val="9D4EDD"/>
                </a:solidFill>
                <a:latin typeface="Courier New" pitchFamily="34" charset="0"/>
                <a:ea typeface="Courier New" pitchFamily="34" charset="-122"/>
                <a:cs typeface="Courier New" pitchFamily="34" charset="-120"/>
              </a:rPr>
              <a:t>Source: notebook3_conclusions.md</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812750" y="592634"/>
            <a:ext cx="7798359" cy="180975"/>
          </a:xfrm>
          <a:prstGeom prst="rect">
            <a:avLst/>
          </a:prstGeom>
          <a:noFill/>
          <a:ln/>
        </p:spPr>
        <p:txBody>
          <a:bodyPr wrap="square" lIns="0" tIns="0" rIns="0" bIns="0" rtlCol="0" anchor="t"/>
          <a:lstStyle/>
          <a:p>
            <a:pPr algn="l" indent="0" marL="0">
              <a:spcAft>
                <a:spcPts val="1200"/>
              </a:spcAft>
              <a:buNone/>
            </a:pPr>
            <a:r>
              <a:rPr lang="en-US" sz="1300" dirty="0">
                <a:solidFill>
                  <a:srgbClr val="06D6A0"/>
                </a:solidFill>
                <a:latin typeface="Courier New" pitchFamily="34" charset="0"/>
                <a:ea typeface="Courier New" pitchFamily="34" charset="-122"/>
                <a:cs typeface="Courier New" pitchFamily="34" charset="-120"/>
              </a:rPr>
              <a:t>02 · THE INSIGHT</a:t>
            </a:r>
            <a:endParaRPr lang="en-US" sz="1300" dirty="0"/>
          </a:p>
        </p:txBody>
      </p:sp>
      <p:sp>
        <p:nvSpPr>
          <p:cNvPr id="4" name="Text 2"/>
          <p:cNvSpPr/>
          <p:nvPr/>
        </p:nvSpPr>
        <p:spPr>
          <a:xfrm>
            <a:off x="812750" y="926009"/>
            <a:ext cx="7798359" cy="1005780"/>
          </a:xfrm>
          <a:prstGeom prst="rect">
            <a:avLst/>
          </a:prstGeom>
          <a:noFill/>
          <a:ln/>
        </p:spPr>
        <p:txBody>
          <a:bodyPr wrap="square" lIns="0" tIns="0" rIns="0" bIns="0" rtlCol="0" anchor="t"/>
          <a:lstStyle/>
          <a:p>
            <a:pPr algn="l" indent="0" marL="0">
              <a:lnSpc>
                <a:spcPts val="3960"/>
              </a:lnSpc>
              <a:spcAft>
                <a:spcPts val="1400"/>
              </a:spcAft>
              <a:buNone/>
            </a:pPr>
            <a:r>
              <a:rPr lang="en-US" sz="3600" dirty="0">
                <a:solidFill>
                  <a:srgbClr val="F4F4FB"/>
                </a:solidFill>
                <a:latin typeface="Arial" pitchFamily="34" charset="0"/>
                <a:ea typeface="Arial" pitchFamily="34" charset="-122"/>
                <a:cs typeface="Arial" pitchFamily="34" charset="-120"/>
              </a:rPr>
              <a:t>Augmentation isn't a volume dial.</a:t>
            </a:r>
            <a:endParaRPr lang="en-US" sz="3600" dirty="0"/>
          </a:p>
          <a:p>
            <a:pPr algn="l" indent="0" marL="0">
              <a:lnSpc>
                <a:spcPts val="3960"/>
              </a:lnSpc>
              <a:spcAft>
                <a:spcPts val="1400"/>
              </a:spcAft>
              <a:buNone/>
            </a:pPr>
            <a:r>
              <a:rPr lang="en-US" sz="3600" dirty="0">
                <a:solidFill>
                  <a:srgbClr val="F4F4FB"/>
                </a:solidFill>
                <a:latin typeface="Arial" pitchFamily="34" charset="0"/>
                <a:ea typeface="Arial" pitchFamily="34" charset="-122"/>
                <a:cs typeface="Arial" pitchFamily="34" charset="-120"/>
              </a:rPr>
              <a:t>It's selection pressure.</a:t>
            </a:r>
            <a:endParaRPr lang="en-US" sz="3600" dirty="0"/>
          </a:p>
        </p:txBody>
      </p:sp>
      <p:sp>
        <p:nvSpPr>
          <p:cNvPr id="5" name="Text 3"/>
          <p:cNvSpPr/>
          <p:nvPr/>
        </p:nvSpPr>
        <p:spPr>
          <a:xfrm>
            <a:off x="812750" y="2109490"/>
            <a:ext cx="7798359" cy="1028700"/>
          </a:xfrm>
          <a:prstGeom prst="rect">
            <a:avLst/>
          </a:prstGeom>
          <a:noFill/>
          <a:ln/>
        </p:spPr>
        <p:txBody>
          <a:bodyPr wrap="square" lIns="0" tIns="0" rIns="0" bIns="0" rtlCol="0" anchor="t"/>
          <a:lstStyle/>
          <a:p>
            <a:pPr algn="l" indent="0" marL="0">
              <a:lnSpc>
                <a:spcPts val="2700"/>
              </a:lnSpc>
              <a:spcAft>
                <a:spcPts val="1400"/>
              </a:spcAft>
              <a:buNone/>
            </a:pPr>
            <a:r>
              <a:rPr lang="en-US" sz="2000" b="1" i="1" dirty="0">
                <a:solidFill>
                  <a:srgbClr val="9D4EDD"/>
                </a:solidFill>
                <a:latin typeface="Arial" pitchFamily="34" charset="0"/>
                <a:ea typeface="Arial" pitchFamily="34" charset="-122"/>
                <a:cs typeface="Arial" pitchFamily="34" charset="-120"/>
              </a:rPr>
              <a:t>"What the model sees during training decides which kinds of distortion it can survive — not how much it can survive in total."</a:t>
            </a:r>
            <a:endParaRPr lang="en-US" sz="2000" dirty="0"/>
          </a:p>
        </p:txBody>
      </p:sp>
      <p:sp>
        <p:nvSpPr>
          <p:cNvPr id="6" name="Text 4"/>
          <p:cNvSpPr/>
          <p:nvPr/>
        </p:nvSpPr>
        <p:spPr>
          <a:xfrm>
            <a:off x="812750" y="3315891"/>
            <a:ext cx="7798359" cy="552450"/>
          </a:xfrm>
          <a:prstGeom prst="rect">
            <a:avLst/>
          </a:prstGeom>
          <a:noFill/>
          <a:ln/>
        </p:spPr>
        <p:txBody>
          <a:bodyPr wrap="square" lIns="0" tIns="0" rIns="0" bIns="0" rtlCol="0" anchor="t"/>
          <a:lstStyle/>
          <a:p>
            <a:pPr algn="l" indent="0" marL="0">
              <a:lnSpc>
                <a:spcPts val="2175"/>
              </a:lnSpc>
              <a:spcAft>
                <a:spcPts val="800"/>
              </a:spcAft>
              <a:buNone/>
            </a:pPr>
            <a:r>
              <a:rPr lang="en-US" sz="1500" dirty="0">
                <a:solidFill>
                  <a:srgbClr val="F4F4FB"/>
                </a:solidFill>
                <a:latin typeface="Arial" pitchFamily="34" charset="0"/>
                <a:ea typeface="Arial" pitchFamily="34" charset="-122"/>
                <a:cs typeface="Arial" pitchFamily="34" charset="-120"/>
              </a:rPr>
              <a:t>Stacking more augmentations didn't make models stronger. It </a:t>
            </a:r>
            <a:pPr algn="l" indent="0" marL="0">
              <a:lnSpc>
                <a:spcPts val="2175"/>
              </a:lnSpc>
              <a:spcAft>
                <a:spcPts val="800"/>
              </a:spcAft>
              <a:buNone/>
            </a:pPr>
            <a:r>
              <a:rPr lang="en-US" sz="1500" b="1" dirty="0">
                <a:solidFill>
                  <a:srgbClr val="06D6A0"/>
                </a:solidFill>
                <a:latin typeface="Arial" pitchFamily="34" charset="0"/>
                <a:ea typeface="Arial" pitchFamily="34" charset="-122"/>
                <a:cs typeface="Arial" pitchFamily="34" charset="-120"/>
              </a:rPr>
              <a:t>redistributed</a:t>
            </a:r>
            <a:pPr algn="l" indent="0" marL="0">
              <a:lnSpc>
                <a:spcPts val="2175"/>
              </a:lnSpc>
              <a:spcAft>
                <a:spcPts val="800"/>
              </a:spcAft>
              <a:buNone/>
            </a:pPr>
            <a:r>
              <a:rPr lang="en-US" sz="1500" dirty="0">
                <a:solidFill>
                  <a:srgbClr val="F4F4FB"/>
                </a:solidFill>
                <a:latin typeface="Arial" pitchFamily="34" charset="0"/>
                <a:ea typeface="Arial" pitchFamily="34" charset="-122"/>
                <a:cs typeface="Arial" pitchFamily="34" charset="-120"/>
              </a:rPr>
              <a:t> their weaknesses.</a:t>
            </a:r>
            <a:endParaRPr lang="en-US" sz="1500" dirty="0"/>
          </a:p>
        </p:txBody>
      </p:sp>
      <p:sp>
        <p:nvSpPr>
          <p:cNvPr id="7" name="Text 5"/>
          <p:cNvSpPr/>
          <p:nvPr/>
        </p:nvSpPr>
        <p:spPr>
          <a:xfrm>
            <a:off x="812750" y="3969841"/>
            <a:ext cx="7798359" cy="276225"/>
          </a:xfrm>
          <a:prstGeom prst="rect">
            <a:avLst/>
          </a:prstGeom>
          <a:noFill/>
          <a:ln/>
        </p:spPr>
        <p:txBody>
          <a:bodyPr wrap="square" lIns="0" tIns="0" rIns="0" bIns="0" rtlCol="0" anchor="t"/>
          <a:lstStyle/>
          <a:p>
            <a:pPr algn="l" indent="0" marL="0">
              <a:lnSpc>
                <a:spcPts val="2175"/>
              </a:lnSpc>
              <a:spcAft>
                <a:spcPts val="800"/>
              </a:spcAft>
              <a:buNone/>
            </a:pPr>
            <a:r>
              <a:rPr lang="en-US" sz="1500" dirty="0">
                <a:solidFill>
                  <a:srgbClr val="F4F4FB"/>
                </a:solidFill>
                <a:latin typeface="Arial" pitchFamily="34" charset="0"/>
                <a:ea typeface="Arial" pitchFamily="34" charset="-122"/>
                <a:cs typeface="Arial" pitchFamily="34" charset="-120"/>
              </a:rPr>
              <a:t>Architecture mattered less than we thought. The </a:t>
            </a:r>
            <a:pPr algn="l" indent="0" marL="0">
              <a:lnSpc>
                <a:spcPts val="2175"/>
              </a:lnSpc>
              <a:spcAft>
                <a:spcPts val="800"/>
              </a:spcAft>
              <a:buNone/>
            </a:pPr>
            <a:r>
              <a:rPr lang="en-US" sz="1500" b="1" dirty="0">
                <a:solidFill>
                  <a:srgbClr val="06D6A0"/>
                </a:solidFill>
                <a:latin typeface="Arial" pitchFamily="34" charset="0"/>
                <a:ea typeface="Arial" pitchFamily="34" charset="-122"/>
                <a:cs typeface="Arial" pitchFamily="34" charset="-120"/>
              </a:rPr>
              <a:t>training diet</a:t>
            </a:r>
            <a:pPr algn="l" indent="0" marL="0">
              <a:lnSpc>
                <a:spcPts val="2175"/>
              </a:lnSpc>
              <a:spcAft>
                <a:spcPts val="800"/>
              </a:spcAft>
              <a:buNone/>
            </a:pPr>
            <a:r>
              <a:rPr lang="en-US" sz="1500" dirty="0">
                <a:solidFill>
                  <a:srgbClr val="F4F4FB"/>
                </a:solidFill>
                <a:latin typeface="Arial" pitchFamily="34" charset="0"/>
                <a:ea typeface="Arial" pitchFamily="34" charset="-122"/>
                <a:cs typeface="Arial" pitchFamily="34" charset="-120"/>
              </a:rPr>
              <a:t> mattered more.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60350" y="279350"/>
            <a:ext cx="8109255" cy="171450"/>
          </a:xfrm>
          <a:prstGeom prst="rect">
            <a:avLst/>
          </a:prstGeom>
          <a:noFill/>
          <a:ln/>
        </p:spPr>
        <p:txBody>
          <a:bodyPr wrap="square" lIns="0" tIns="0" rIns="0" bIns="0" rtlCol="0" anchor="t"/>
          <a:lstStyle/>
          <a:p>
            <a:pPr algn="l" indent="0" marL="0">
              <a:spcAft>
                <a:spcPts val="800"/>
              </a:spcAft>
              <a:buNone/>
            </a:pPr>
            <a:r>
              <a:rPr lang="en-US" sz="1200" dirty="0">
                <a:solidFill>
                  <a:srgbClr val="06D6A0"/>
                </a:solidFill>
                <a:latin typeface="Courier New" pitchFamily="34" charset="0"/>
                <a:ea typeface="Courier New" pitchFamily="34" charset="-122"/>
                <a:cs typeface="Courier New" pitchFamily="34" charset="-120"/>
              </a:rPr>
              <a:t>03 · SCALE &amp; FINAL SYSTEM</a:t>
            </a:r>
            <a:endParaRPr lang="en-US" sz="1200" dirty="0"/>
          </a:p>
        </p:txBody>
      </p:sp>
      <p:sp>
        <p:nvSpPr>
          <p:cNvPr id="4" name="Text 2"/>
          <p:cNvSpPr/>
          <p:nvPr/>
        </p:nvSpPr>
        <p:spPr>
          <a:xfrm>
            <a:off x="660350" y="552301"/>
            <a:ext cx="8109255" cy="466725"/>
          </a:xfrm>
          <a:prstGeom prst="rect">
            <a:avLst/>
          </a:prstGeom>
          <a:noFill/>
          <a:ln/>
        </p:spPr>
        <p:txBody>
          <a:bodyPr wrap="square" lIns="0" tIns="0" rIns="0" bIns="0" rtlCol="0" anchor="t"/>
          <a:lstStyle/>
          <a:p>
            <a:pPr algn="l" indent="0" marL="0">
              <a:spcAft>
                <a:spcPts val="400"/>
              </a:spcAft>
              <a:buNone/>
            </a:pPr>
            <a:r>
              <a:rPr lang="en-US" sz="3200" b="1" dirty="0">
                <a:solidFill>
                  <a:srgbClr val="F4F4FB"/>
                </a:solidFill>
                <a:latin typeface="Arial" pitchFamily="34" charset="0"/>
                <a:ea typeface="Arial" pitchFamily="34" charset="-122"/>
                <a:cs typeface="Arial" pitchFamily="34" charset="-120"/>
              </a:rPr>
              <a:t>Scaling up: FMA-small → FMA-medium</a:t>
            </a:r>
            <a:endParaRPr lang="en-US" sz="3200" dirty="0"/>
          </a:p>
        </p:txBody>
      </p:sp>
      <p:sp>
        <p:nvSpPr>
          <p:cNvPr id="5" name="Text 3"/>
          <p:cNvSpPr/>
          <p:nvPr/>
        </p:nvSpPr>
        <p:spPr>
          <a:xfrm>
            <a:off x="660350" y="1069777"/>
            <a:ext cx="8109255" cy="209550"/>
          </a:xfrm>
          <a:prstGeom prst="rect">
            <a:avLst/>
          </a:prstGeom>
          <a:noFill/>
          <a:ln/>
        </p:spPr>
        <p:txBody>
          <a:bodyPr wrap="square" lIns="0" tIns="0" rIns="0" bIns="0" rtlCol="0" anchor="t"/>
          <a:lstStyle/>
          <a:p>
            <a:pPr algn="l" indent="0" marL="0">
              <a:spcAft>
                <a:spcPts val="1400"/>
              </a:spcAft>
              <a:buNone/>
            </a:pPr>
            <a:r>
              <a:rPr lang="en-US" sz="1400" b="1" dirty="0">
                <a:solidFill>
                  <a:srgbClr val="9D4EDD"/>
                </a:solidFill>
                <a:latin typeface="Arial" pitchFamily="34" charset="0"/>
                <a:ea typeface="Arial" pitchFamily="34" charset="-122"/>
                <a:cs typeface="Arial" pitchFamily="34" charset="-120"/>
              </a:rPr>
              <a:t>8,000 tracks → 24,995 tracks. Same CNN winner — honest numbers got harder.</a:t>
            </a:r>
            <a:endParaRPr lang="en-US" sz="1400" dirty="0"/>
          </a:p>
        </p:txBody>
      </p:sp>
      <p:sp>
        <p:nvSpPr>
          <p:cNvPr id="6" name="Text 4"/>
          <p:cNvSpPr/>
          <p:nvPr/>
        </p:nvSpPr>
        <p:spPr>
          <a:xfrm>
            <a:off x="660350" y="1457027"/>
            <a:ext cx="2531566" cy="1471613"/>
          </a:xfrm>
          <a:prstGeom prst="roundRect">
            <a:avLst>
              <a:gd name="adj" fmla="val 5178"/>
            </a:avLst>
          </a:prstGeom>
          <a:solidFill>
            <a:srgbClr val="25253D"/>
          </a:solidFill>
          <a:ln/>
        </p:spPr>
        <p:txBody>
          <a:bodyPr wrap="square" rtlCol="0" anchor="ctr"/>
          <a:lstStyle/>
          <a:p>
            <a:pPr indent="0" marL="0">
              <a:buNone/>
            </a:pPr>
            <a:endParaRPr lang="en-US" dirty="0"/>
          </a:p>
        </p:txBody>
      </p:sp>
      <p:sp>
        <p:nvSpPr>
          <p:cNvPr id="7" name="Shape 5"/>
          <p:cNvSpPr/>
          <p:nvPr/>
        </p:nvSpPr>
        <p:spPr>
          <a:xfrm>
            <a:off x="688925" y="1457027"/>
            <a:ext cx="0" cy="1471613"/>
          </a:xfrm>
          <a:prstGeom prst="line">
            <a:avLst/>
          </a:prstGeom>
          <a:noFill/>
          <a:ln w="57150">
            <a:solidFill>
              <a:srgbClr val="9D4EDD"/>
            </a:solidFill>
            <a:prstDash val="solid"/>
          </a:ln>
        </p:spPr>
      </p:sp>
      <p:sp>
        <p:nvSpPr>
          <p:cNvPr id="8" name="Text 6"/>
          <p:cNvSpPr/>
          <p:nvPr/>
        </p:nvSpPr>
        <p:spPr>
          <a:xfrm>
            <a:off x="946100" y="1609427"/>
            <a:ext cx="2057561"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SCALE</a:t>
            </a:r>
            <a:endParaRPr lang="en-US" sz="1000" dirty="0"/>
          </a:p>
        </p:txBody>
      </p:sp>
      <p:sp>
        <p:nvSpPr>
          <p:cNvPr id="9" name="Text 7"/>
          <p:cNvSpPr/>
          <p:nvPr/>
        </p:nvSpPr>
        <p:spPr>
          <a:xfrm>
            <a:off x="946100" y="1777603"/>
            <a:ext cx="2057561" cy="209550"/>
          </a:xfrm>
          <a:prstGeom prst="rect">
            <a:avLst/>
          </a:prstGeom>
          <a:noFill/>
          <a:ln/>
        </p:spPr>
        <p:txBody>
          <a:bodyPr wrap="square" lIns="0" tIns="0" rIns="0" bIns="0" rtlCol="0" anchor="t"/>
          <a:lstStyle/>
          <a:p>
            <a:pPr algn="l" indent="0" marL="0">
              <a:spcAft>
                <a:spcPts val="300"/>
              </a:spcAft>
              <a:buNone/>
            </a:pPr>
            <a:r>
              <a:rPr lang="en-US" sz="1400" b="1" dirty="0">
                <a:solidFill>
                  <a:srgbClr val="F4F4FB"/>
                </a:solidFill>
                <a:latin typeface="Arial" pitchFamily="34" charset="0"/>
                <a:ea typeface="Arial" pitchFamily="34" charset="-122"/>
                <a:cs typeface="Arial" pitchFamily="34" charset="-120"/>
              </a:rPr>
              <a:t>Catalog size</a:t>
            </a:r>
            <a:endParaRPr lang="en-US" sz="1400" dirty="0"/>
          </a:p>
        </p:txBody>
      </p:sp>
      <p:sp>
        <p:nvSpPr>
          <p:cNvPr id="10" name="Text 8"/>
          <p:cNvSpPr/>
          <p:nvPr/>
        </p:nvSpPr>
        <p:spPr>
          <a:xfrm>
            <a:off x="946100" y="2025253"/>
            <a:ext cx="2057561" cy="314325"/>
          </a:xfrm>
          <a:prstGeom prst="rect">
            <a:avLst/>
          </a:prstGeom>
          <a:noFill/>
          <a:ln/>
        </p:spPr>
        <p:txBody>
          <a:bodyPr wrap="square" lIns="0" tIns="0" rIns="0" bIns="0" rtlCol="0" anchor="t"/>
          <a:lstStyle/>
          <a:p>
            <a:pPr algn="l" indent="0" marL="0">
              <a:spcBef>
                <a:spcPts val="200"/>
              </a:spcBef>
              <a:spcAft>
                <a:spcPts val="200"/>
              </a:spcAft>
              <a:buNone/>
            </a:pPr>
            <a:r>
              <a:rPr lang="en-US" sz="2200" b="1" dirty="0">
                <a:solidFill>
                  <a:srgbClr val="9D4EDD"/>
                </a:solidFill>
                <a:latin typeface="Courier New" pitchFamily="34" charset="0"/>
                <a:ea typeface="Courier New" pitchFamily="34" charset="-122"/>
                <a:cs typeface="Courier New" pitchFamily="34" charset="-120"/>
              </a:rPr>
              <a:t>8K → 25K</a:t>
            </a:r>
            <a:endParaRPr lang="en-US" sz="2200" dirty="0"/>
          </a:p>
        </p:txBody>
      </p:sp>
      <p:sp>
        <p:nvSpPr>
          <p:cNvPr id="11" name="Text 9"/>
          <p:cNvSpPr/>
          <p:nvPr/>
        </p:nvSpPr>
        <p:spPr>
          <a:xfrm>
            <a:off x="946100" y="2364879"/>
            <a:ext cx="2057561" cy="205680"/>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3× bigger haystack.</a:t>
            </a:r>
            <a:endParaRPr lang="en-US" sz="1200" dirty="0"/>
          </a:p>
        </p:txBody>
      </p:sp>
      <p:sp>
        <p:nvSpPr>
          <p:cNvPr id="12" name="Text 10"/>
          <p:cNvSpPr/>
          <p:nvPr/>
        </p:nvSpPr>
        <p:spPr>
          <a:xfrm>
            <a:off x="3369618" y="1457027"/>
            <a:ext cx="2531715" cy="1471613"/>
          </a:xfrm>
          <a:prstGeom prst="roundRect">
            <a:avLst>
              <a:gd name="adj" fmla="val 5178"/>
            </a:avLst>
          </a:prstGeom>
          <a:solidFill>
            <a:srgbClr val="25253D"/>
          </a:solidFill>
          <a:ln/>
        </p:spPr>
        <p:txBody>
          <a:bodyPr wrap="square" rtlCol="0" anchor="ctr"/>
          <a:lstStyle/>
          <a:p>
            <a:pPr indent="0" marL="0">
              <a:buNone/>
            </a:pPr>
            <a:endParaRPr lang="en-US" dirty="0"/>
          </a:p>
        </p:txBody>
      </p:sp>
      <p:sp>
        <p:nvSpPr>
          <p:cNvPr id="13" name="Shape 11"/>
          <p:cNvSpPr/>
          <p:nvPr/>
        </p:nvSpPr>
        <p:spPr>
          <a:xfrm>
            <a:off x="3398193" y="1457027"/>
            <a:ext cx="0" cy="1471613"/>
          </a:xfrm>
          <a:prstGeom prst="line">
            <a:avLst/>
          </a:prstGeom>
          <a:noFill/>
          <a:ln w="57150">
            <a:solidFill>
              <a:srgbClr val="9D4EDD"/>
            </a:solidFill>
            <a:prstDash val="solid"/>
          </a:ln>
        </p:spPr>
      </p:sp>
      <p:sp>
        <p:nvSpPr>
          <p:cNvPr id="14" name="Text 12"/>
          <p:cNvSpPr/>
          <p:nvPr/>
        </p:nvSpPr>
        <p:spPr>
          <a:xfrm>
            <a:off x="3655368" y="1609427"/>
            <a:ext cx="2057713"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COMPUTE</a:t>
            </a:r>
            <a:endParaRPr lang="en-US" sz="1000" dirty="0"/>
          </a:p>
        </p:txBody>
      </p:sp>
      <p:sp>
        <p:nvSpPr>
          <p:cNvPr id="15" name="Text 13"/>
          <p:cNvSpPr/>
          <p:nvPr/>
        </p:nvSpPr>
        <p:spPr>
          <a:xfrm>
            <a:off x="3655368" y="1777603"/>
            <a:ext cx="2057713" cy="209550"/>
          </a:xfrm>
          <a:prstGeom prst="rect">
            <a:avLst/>
          </a:prstGeom>
          <a:noFill/>
          <a:ln/>
        </p:spPr>
        <p:txBody>
          <a:bodyPr wrap="square" lIns="0" tIns="0" rIns="0" bIns="0" rtlCol="0" anchor="t"/>
          <a:lstStyle/>
          <a:p>
            <a:pPr algn="l" indent="0" marL="0">
              <a:spcAft>
                <a:spcPts val="300"/>
              </a:spcAft>
              <a:buNone/>
            </a:pPr>
            <a:r>
              <a:rPr lang="en-US" sz="1400" b="1" dirty="0">
                <a:solidFill>
                  <a:srgbClr val="F4F4FB"/>
                </a:solidFill>
                <a:latin typeface="Arial" pitchFamily="34" charset="0"/>
                <a:ea typeface="Arial" pitchFamily="34" charset="-122"/>
                <a:cs typeface="Arial" pitchFamily="34" charset="-120"/>
              </a:rPr>
              <a:t>H100 GPU · Notebook 4</a:t>
            </a:r>
            <a:endParaRPr lang="en-US" sz="1400" dirty="0"/>
          </a:p>
        </p:txBody>
      </p:sp>
      <p:sp>
        <p:nvSpPr>
          <p:cNvPr id="16" name="Text 14"/>
          <p:cNvSpPr/>
          <p:nvPr/>
        </p:nvSpPr>
        <p:spPr>
          <a:xfrm>
            <a:off x="3655368" y="2025253"/>
            <a:ext cx="2057713" cy="314325"/>
          </a:xfrm>
          <a:prstGeom prst="rect">
            <a:avLst/>
          </a:prstGeom>
          <a:noFill/>
          <a:ln/>
        </p:spPr>
        <p:txBody>
          <a:bodyPr wrap="square" lIns="0" tIns="0" rIns="0" bIns="0" rtlCol="0" anchor="t"/>
          <a:lstStyle/>
          <a:p>
            <a:pPr algn="l" indent="0" marL="0">
              <a:spcBef>
                <a:spcPts val="200"/>
              </a:spcBef>
              <a:spcAft>
                <a:spcPts val="200"/>
              </a:spcAft>
              <a:buNone/>
            </a:pPr>
            <a:r>
              <a:rPr lang="en-US" sz="2200" b="1" dirty="0">
                <a:solidFill>
                  <a:srgbClr val="9D4EDD"/>
                </a:solidFill>
                <a:latin typeface="Courier New" pitchFamily="34" charset="0"/>
                <a:ea typeface="Courier New" pitchFamily="34" charset="-122"/>
                <a:cs typeface="Courier New" pitchFamily="34" charset="-120"/>
              </a:rPr>
              <a:t>19,918 train</a:t>
            </a:r>
            <a:endParaRPr lang="en-US" sz="2200" dirty="0"/>
          </a:p>
        </p:txBody>
      </p:sp>
      <p:sp>
        <p:nvSpPr>
          <p:cNvPr id="17" name="Text 15"/>
          <p:cNvSpPr/>
          <p:nvPr/>
        </p:nvSpPr>
        <p:spPr>
          <a:xfrm>
            <a:off x="3655368" y="2364879"/>
            <a:ext cx="2057713"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8 historical checkpoints re-evaluated at scale.</a:t>
            </a:r>
            <a:endParaRPr lang="en-US" sz="1200" dirty="0"/>
          </a:p>
        </p:txBody>
      </p:sp>
      <p:sp>
        <p:nvSpPr>
          <p:cNvPr id="18" name="Text 16"/>
          <p:cNvSpPr/>
          <p:nvPr/>
        </p:nvSpPr>
        <p:spPr>
          <a:xfrm>
            <a:off x="6079034" y="1457027"/>
            <a:ext cx="2531566" cy="1471613"/>
          </a:xfrm>
          <a:prstGeom prst="roundRect">
            <a:avLst>
              <a:gd name="adj" fmla="val 5178"/>
            </a:avLst>
          </a:prstGeom>
          <a:solidFill>
            <a:srgbClr val="25253D"/>
          </a:solidFill>
          <a:ln/>
        </p:spPr>
        <p:txBody>
          <a:bodyPr wrap="square" rtlCol="0" anchor="ctr"/>
          <a:lstStyle/>
          <a:p>
            <a:pPr indent="0" marL="0">
              <a:buNone/>
            </a:pPr>
            <a:endParaRPr lang="en-US" dirty="0"/>
          </a:p>
        </p:txBody>
      </p:sp>
      <p:sp>
        <p:nvSpPr>
          <p:cNvPr id="19" name="Shape 17"/>
          <p:cNvSpPr/>
          <p:nvPr/>
        </p:nvSpPr>
        <p:spPr>
          <a:xfrm>
            <a:off x="6107609" y="1457027"/>
            <a:ext cx="0" cy="1471613"/>
          </a:xfrm>
          <a:prstGeom prst="line">
            <a:avLst/>
          </a:prstGeom>
          <a:noFill/>
          <a:ln w="57150">
            <a:solidFill>
              <a:srgbClr val="9D4EDD"/>
            </a:solidFill>
            <a:prstDash val="solid"/>
          </a:ln>
        </p:spPr>
      </p:sp>
      <p:sp>
        <p:nvSpPr>
          <p:cNvPr id="20" name="Text 18"/>
          <p:cNvSpPr/>
          <p:nvPr/>
        </p:nvSpPr>
        <p:spPr>
          <a:xfrm>
            <a:off x="6364784" y="1609427"/>
            <a:ext cx="2057561"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WINNER</a:t>
            </a:r>
            <a:endParaRPr lang="en-US" sz="1000" dirty="0"/>
          </a:p>
        </p:txBody>
      </p:sp>
      <p:sp>
        <p:nvSpPr>
          <p:cNvPr id="21" name="Text 19"/>
          <p:cNvSpPr/>
          <p:nvPr/>
        </p:nvSpPr>
        <p:spPr>
          <a:xfrm>
            <a:off x="6364784" y="1777603"/>
            <a:ext cx="2057561" cy="209550"/>
          </a:xfrm>
          <a:prstGeom prst="rect">
            <a:avLst/>
          </a:prstGeom>
          <a:noFill/>
          <a:ln/>
        </p:spPr>
        <p:txBody>
          <a:bodyPr wrap="square" lIns="0" tIns="0" rIns="0" bIns="0" rtlCol="0" anchor="t"/>
          <a:lstStyle/>
          <a:p>
            <a:pPr algn="l" indent="0" marL="0">
              <a:spcAft>
                <a:spcPts val="300"/>
              </a:spcAft>
              <a:buNone/>
            </a:pPr>
            <a:r>
              <a:rPr lang="en-US" sz="1400" b="1" dirty="0">
                <a:solidFill>
                  <a:srgbClr val="F4F4FB"/>
                </a:solidFill>
                <a:latin typeface="Arial" pitchFamily="34" charset="0"/>
                <a:ea typeface="Arial" pitchFamily="34" charset="-122"/>
                <a:cs typeface="Arial" pitchFamily="34" charset="-120"/>
              </a:rPr>
              <a:t>Architecture held</a:t>
            </a:r>
            <a:endParaRPr lang="en-US" sz="1400" dirty="0"/>
          </a:p>
        </p:txBody>
      </p:sp>
      <p:sp>
        <p:nvSpPr>
          <p:cNvPr id="22" name="Text 20"/>
          <p:cNvSpPr/>
          <p:nvPr/>
        </p:nvSpPr>
        <p:spPr>
          <a:xfrm>
            <a:off x="6364784" y="2025253"/>
            <a:ext cx="2057561" cy="314325"/>
          </a:xfrm>
          <a:prstGeom prst="rect">
            <a:avLst/>
          </a:prstGeom>
          <a:noFill/>
          <a:ln/>
        </p:spPr>
        <p:txBody>
          <a:bodyPr wrap="square" lIns="0" tIns="0" rIns="0" bIns="0" rtlCol="0" anchor="t"/>
          <a:lstStyle/>
          <a:p>
            <a:pPr algn="l" indent="0" marL="0">
              <a:spcBef>
                <a:spcPts val="200"/>
              </a:spcBef>
              <a:spcAft>
                <a:spcPts val="200"/>
              </a:spcAft>
              <a:buNone/>
            </a:pPr>
            <a:r>
              <a:rPr lang="en-US" sz="2200" b="1" dirty="0">
                <a:solidFill>
                  <a:srgbClr val="9D4EDD"/>
                </a:solidFill>
                <a:latin typeface="Courier New" pitchFamily="34" charset="0"/>
                <a:ea typeface="Courier New" pitchFamily="34" charset="-122"/>
                <a:cs typeface="Courier New" pitchFamily="34" charset="-120"/>
              </a:rPr>
              <a:t>CNN</a:t>
            </a:r>
            <a:endParaRPr lang="en-US" sz="2200" dirty="0"/>
          </a:p>
        </p:txBody>
      </p:sp>
      <p:sp>
        <p:nvSpPr>
          <p:cNvPr id="23" name="Text 21"/>
          <p:cNvSpPr/>
          <p:nvPr/>
        </p:nvSpPr>
        <p:spPr>
          <a:xfrm>
            <a:off x="6364784" y="2364879"/>
            <a:ext cx="2057561"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But the </a:t>
            </a:r>
            <a:pPr algn="l" indent="0" marL="0">
              <a:lnSpc>
                <a:spcPts val="1620"/>
              </a:lnSpc>
              <a:buNone/>
            </a:pPr>
            <a:r>
              <a:rPr lang="en-US" sz="1200" b="1" dirty="0">
                <a:solidFill>
                  <a:srgbClr val="F4F4FB"/>
                </a:solidFill>
                <a:latin typeface="Arial" pitchFamily="34" charset="0"/>
                <a:ea typeface="Arial" pitchFamily="34" charset="-122"/>
                <a:cs typeface="Arial" pitchFamily="34" charset="-120"/>
              </a:rPr>
              <a:t>configuration</a:t>
            </a:r>
            <a:pPr algn="l" indent="0" marL="0">
              <a:lnSpc>
                <a:spcPts val="1620"/>
              </a:lnSpc>
              <a:buNone/>
            </a:pPr>
            <a:r>
              <a:rPr lang="en-US" sz="1200" dirty="0">
                <a:solidFill>
                  <a:srgbClr val="F4F4FB"/>
                </a:solidFill>
                <a:latin typeface="Arial" pitchFamily="34" charset="0"/>
                <a:ea typeface="Arial" pitchFamily="34" charset="-122"/>
                <a:cs typeface="Arial" pitchFamily="34" charset="-120"/>
              </a:rPr>
              <a:t> had to change.</a:t>
            </a:r>
            <a:endParaRPr lang="en-US" sz="1200" dirty="0"/>
          </a:p>
        </p:txBody>
      </p:sp>
      <p:sp>
        <p:nvSpPr>
          <p:cNvPr id="24" name="Text 22"/>
          <p:cNvSpPr/>
          <p:nvPr/>
        </p:nvSpPr>
        <p:spPr>
          <a:xfrm>
            <a:off x="660350" y="3081040"/>
            <a:ext cx="3886200" cy="1262063"/>
          </a:xfrm>
          <a:prstGeom prst="roundRect">
            <a:avLst>
              <a:gd name="adj" fmla="val 6038"/>
            </a:avLst>
          </a:prstGeom>
          <a:solidFill>
            <a:srgbClr val="25253D"/>
          </a:solidFill>
          <a:ln/>
        </p:spPr>
        <p:txBody>
          <a:bodyPr wrap="square" rtlCol="0" anchor="ctr"/>
          <a:lstStyle/>
          <a:p>
            <a:pPr indent="0" marL="0">
              <a:buNone/>
            </a:pPr>
            <a:endParaRPr lang="en-US" dirty="0"/>
          </a:p>
        </p:txBody>
      </p:sp>
      <p:sp>
        <p:nvSpPr>
          <p:cNvPr id="25" name="Shape 23"/>
          <p:cNvSpPr/>
          <p:nvPr/>
        </p:nvSpPr>
        <p:spPr>
          <a:xfrm>
            <a:off x="688925" y="3081040"/>
            <a:ext cx="0" cy="1262063"/>
          </a:xfrm>
          <a:prstGeom prst="line">
            <a:avLst/>
          </a:prstGeom>
          <a:noFill/>
          <a:ln w="57150">
            <a:solidFill>
              <a:srgbClr val="EF476F"/>
            </a:solidFill>
            <a:prstDash val="solid"/>
          </a:ln>
        </p:spPr>
      </p:sp>
      <p:sp>
        <p:nvSpPr>
          <p:cNvPr id="26" name="Text 24"/>
          <p:cNvSpPr/>
          <p:nvPr/>
        </p:nvSpPr>
        <p:spPr>
          <a:xfrm>
            <a:off x="946100" y="3233440"/>
            <a:ext cx="3439287"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MEAN DEGRADED DROP</a:t>
            </a:r>
            <a:endParaRPr lang="en-US" sz="1000" dirty="0"/>
          </a:p>
        </p:txBody>
      </p:sp>
      <p:sp>
        <p:nvSpPr>
          <p:cNvPr id="27" name="Text 25"/>
          <p:cNvSpPr/>
          <p:nvPr/>
        </p:nvSpPr>
        <p:spPr>
          <a:xfrm>
            <a:off x="946100" y="3401616"/>
            <a:ext cx="3439287" cy="352425"/>
          </a:xfrm>
          <a:prstGeom prst="rect">
            <a:avLst/>
          </a:prstGeom>
          <a:noFill/>
          <a:ln/>
        </p:spPr>
        <p:txBody>
          <a:bodyPr wrap="square" lIns="0" tIns="0" rIns="0" bIns="0" rtlCol="0" anchor="t"/>
          <a:lstStyle/>
          <a:p>
            <a:pPr algn="l" indent="0" marL="0">
              <a:spcBef>
                <a:spcPts val="200"/>
              </a:spcBef>
              <a:spcAft>
                <a:spcPts val="200"/>
              </a:spcAft>
              <a:buNone/>
            </a:pPr>
            <a:r>
              <a:rPr lang="en-US" sz="2400" b="1" dirty="0">
                <a:solidFill>
                  <a:srgbClr val="EF476F"/>
                </a:solidFill>
                <a:latin typeface="Courier New" pitchFamily="34" charset="0"/>
                <a:ea typeface="Courier New" pitchFamily="34" charset="-122"/>
                <a:cs typeface="Courier New" pitchFamily="34" charset="-120"/>
              </a:rPr>
              <a:t>-24.4%</a:t>
            </a:r>
            <a:endParaRPr lang="en-US" sz="2400" dirty="0"/>
          </a:p>
        </p:txBody>
      </p:sp>
      <p:sp>
        <p:nvSpPr>
          <p:cNvPr id="28" name="Text 26"/>
          <p:cNvSpPr/>
          <p:nvPr/>
        </p:nvSpPr>
        <p:spPr>
          <a:xfrm>
            <a:off x="946100" y="3779341"/>
            <a:ext cx="3439287"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Average retrieval under stress fell as the catalog grew.</a:t>
            </a:r>
            <a:endParaRPr lang="en-US" sz="1200" dirty="0"/>
          </a:p>
        </p:txBody>
      </p:sp>
      <p:sp>
        <p:nvSpPr>
          <p:cNvPr id="29" name="Text 27"/>
          <p:cNvSpPr/>
          <p:nvPr/>
        </p:nvSpPr>
        <p:spPr>
          <a:xfrm>
            <a:off x="4724251" y="3081040"/>
            <a:ext cx="3886349" cy="1262063"/>
          </a:xfrm>
          <a:prstGeom prst="roundRect">
            <a:avLst>
              <a:gd name="adj" fmla="val 6038"/>
            </a:avLst>
          </a:prstGeom>
          <a:solidFill>
            <a:srgbClr val="25253D"/>
          </a:solidFill>
          <a:ln/>
        </p:spPr>
        <p:txBody>
          <a:bodyPr wrap="square" rtlCol="0" anchor="ctr"/>
          <a:lstStyle/>
          <a:p>
            <a:pPr indent="0" marL="0">
              <a:buNone/>
            </a:pPr>
            <a:endParaRPr lang="en-US" dirty="0"/>
          </a:p>
        </p:txBody>
      </p:sp>
      <p:sp>
        <p:nvSpPr>
          <p:cNvPr id="30" name="Shape 28"/>
          <p:cNvSpPr/>
          <p:nvPr/>
        </p:nvSpPr>
        <p:spPr>
          <a:xfrm>
            <a:off x="4752826" y="3081040"/>
            <a:ext cx="0" cy="1262063"/>
          </a:xfrm>
          <a:prstGeom prst="line">
            <a:avLst/>
          </a:prstGeom>
          <a:noFill/>
          <a:ln w="57150">
            <a:solidFill>
              <a:srgbClr val="EF476F"/>
            </a:solidFill>
            <a:prstDash val="solid"/>
          </a:ln>
        </p:spPr>
      </p:sp>
      <p:sp>
        <p:nvSpPr>
          <p:cNvPr id="31" name="Text 29"/>
          <p:cNvSpPr/>
          <p:nvPr/>
        </p:nvSpPr>
        <p:spPr>
          <a:xfrm>
            <a:off x="5010001" y="3233440"/>
            <a:ext cx="3439439"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WORST-CASE DROP</a:t>
            </a:r>
            <a:endParaRPr lang="en-US" sz="1000" dirty="0"/>
          </a:p>
        </p:txBody>
      </p:sp>
      <p:sp>
        <p:nvSpPr>
          <p:cNvPr id="32" name="Text 30"/>
          <p:cNvSpPr/>
          <p:nvPr/>
        </p:nvSpPr>
        <p:spPr>
          <a:xfrm>
            <a:off x="5010001" y="3401616"/>
            <a:ext cx="3439439" cy="352425"/>
          </a:xfrm>
          <a:prstGeom prst="rect">
            <a:avLst/>
          </a:prstGeom>
          <a:noFill/>
          <a:ln/>
        </p:spPr>
        <p:txBody>
          <a:bodyPr wrap="square" lIns="0" tIns="0" rIns="0" bIns="0" rtlCol="0" anchor="t"/>
          <a:lstStyle/>
          <a:p>
            <a:pPr algn="l" indent="0" marL="0">
              <a:spcBef>
                <a:spcPts val="200"/>
              </a:spcBef>
              <a:spcAft>
                <a:spcPts val="200"/>
              </a:spcAft>
              <a:buNone/>
            </a:pPr>
            <a:r>
              <a:rPr lang="en-US" sz="2400" b="1" dirty="0">
                <a:solidFill>
                  <a:srgbClr val="EF476F"/>
                </a:solidFill>
                <a:latin typeface="Courier New" pitchFamily="34" charset="0"/>
                <a:ea typeface="Courier New" pitchFamily="34" charset="-122"/>
                <a:cs typeface="Courier New" pitchFamily="34" charset="-120"/>
              </a:rPr>
              <a:t>-39.3%</a:t>
            </a:r>
            <a:endParaRPr lang="en-US" sz="2400" dirty="0"/>
          </a:p>
        </p:txBody>
      </p:sp>
      <p:sp>
        <p:nvSpPr>
          <p:cNvPr id="33" name="Text 31"/>
          <p:cNvSpPr/>
          <p:nvPr/>
        </p:nvSpPr>
        <p:spPr>
          <a:xfrm>
            <a:off x="5010001" y="3779341"/>
            <a:ext cx="3439439"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The floor dropped almost twice as hard as the average.</a:t>
            </a:r>
            <a:endParaRPr lang="en-US" sz="1200" dirty="0"/>
          </a:p>
        </p:txBody>
      </p:sp>
      <p:sp>
        <p:nvSpPr>
          <p:cNvPr id="34" name="Text 32"/>
          <p:cNvSpPr/>
          <p:nvPr/>
        </p:nvSpPr>
        <p:spPr>
          <a:xfrm>
            <a:off x="660350" y="4444603"/>
            <a:ext cx="8109255" cy="230981"/>
          </a:xfrm>
          <a:prstGeom prst="rect">
            <a:avLst/>
          </a:prstGeom>
          <a:noFill/>
          <a:ln/>
        </p:spPr>
        <p:txBody>
          <a:bodyPr wrap="square" lIns="0" tIns="0" rIns="0" bIns="0" rtlCol="0" anchor="t"/>
          <a:lstStyle/>
          <a:p>
            <a:pPr algn="l" indent="0" marL="0">
              <a:lnSpc>
                <a:spcPts val="1820"/>
              </a:lnSpc>
              <a:spcBef>
                <a:spcPts val="800"/>
              </a:spcBef>
              <a:buNone/>
            </a:pPr>
            <a:r>
              <a:rPr lang="en-US" sz="1300" b="1" dirty="0">
                <a:solidFill>
                  <a:srgbClr val="06D6A0"/>
                </a:solidFill>
                <a:latin typeface="Arial" pitchFamily="34" charset="0"/>
                <a:ea typeface="Arial" pitchFamily="34" charset="-122"/>
                <a:cs typeface="Arial" pitchFamily="34" charset="-120"/>
              </a:rPr>
              <a:t>Lesson:</a:t>
            </a:r>
            <a:pPr algn="l" indent="0" marL="0">
              <a:lnSpc>
                <a:spcPts val="1820"/>
              </a:lnSpc>
              <a:spcBef>
                <a:spcPts val="800"/>
              </a:spcBef>
              <a:buNone/>
            </a:pPr>
            <a:r>
              <a:rPr lang="en-US" sz="1300" dirty="0">
                <a:solidFill>
                  <a:srgbClr val="F4F4FB"/>
                </a:solidFill>
                <a:latin typeface="Arial" pitchFamily="34" charset="0"/>
                <a:ea typeface="Arial" pitchFamily="34" charset="-122"/>
                <a:cs typeface="Arial" pitchFamily="34" charset="-120"/>
              </a:rPr>
              <a:t> scale exposes the weak spots you couldn't see at small-catalog sizes.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06D6A0"/>
          </a:solidFill>
          <a:ln/>
        </p:spPr>
        <p:txBody>
          <a:bodyPr wrap="square" rtlCol="0" anchor="ctr"/>
          <a:lstStyle/>
          <a:p>
            <a:pPr indent="0" marL="0">
              <a:buNone/>
            </a:pPr>
            <a:endParaRPr lang="en-US" dirty="0"/>
          </a:p>
        </p:txBody>
      </p:sp>
      <p:sp>
        <p:nvSpPr>
          <p:cNvPr id="3" name="Text 1"/>
          <p:cNvSpPr/>
          <p:nvPr/>
        </p:nvSpPr>
        <p:spPr>
          <a:xfrm>
            <a:off x="634901" y="304800"/>
            <a:ext cx="8161172" cy="171450"/>
          </a:xfrm>
          <a:prstGeom prst="rect">
            <a:avLst/>
          </a:prstGeom>
          <a:noFill/>
          <a:ln/>
        </p:spPr>
        <p:txBody>
          <a:bodyPr wrap="square" lIns="0" tIns="0" rIns="0" bIns="0" rtlCol="0" anchor="t"/>
          <a:lstStyle/>
          <a:p>
            <a:pPr algn="l" indent="0" marL="0">
              <a:spcAft>
                <a:spcPts val="600"/>
              </a:spcAft>
              <a:buNone/>
            </a:pPr>
            <a:r>
              <a:rPr lang="en-US" sz="1200" dirty="0">
                <a:solidFill>
                  <a:srgbClr val="06D6A0"/>
                </a:solidFill>
                <a:latin typeface="Courier New" pitchFamily="34" charset="0"/>
                <a:ea typeface="Courier New" pitchFamily="34" charset="-122"/>
                <a:cs typeface="Courier New" pitchFamily="34" charset="-120"/>
              </a:rPr>
              <a:t>03 · FINAL SYSTEM</a:t>
            </a:r>
            <a:endParaRPr lang="en-US" sz="1200" dirty="0"/>
          </a:p>
        </p:txBody>
      </p:sp>
      <p:sp>
        <p:nvSpPr>
          <p:cNvPr id="4" name="Text 2"/>
          <p:cNvSpPr/>
          <p:nvPr/>
        </p:nvSpPr>
        <p:spPr>
          <a:xfrm>
            <a:off x="634901" y="552450"/>
            <a:ext cx="8161172" cy="495300"/>
          </a:xfrm>
          <a:prstGeom prst="rect">
            <a:avLst/>
          </a:prstGeom>
          <a:noFill/>
          <a:ln/>
        </p:spPr>
        <p:txBody>
          <a:bodyPr wrap="square" lIns="0" tIns="0" rIns="0" bIns="0" rtlCol="0" anchor="t"/>
          <a:lstStyle/>
          <a:p>
            <a:pPr algn="l" indent="0" marL="0">
              <a:spcAft>
                <a:spcPts val="200"/>
              </a:spcAft>
              <a:buNone/>
            </a:pPr>
            <a:r>
              <a:rPr lang="en-US" sz="3400" b="1" dirty="0">
                <a:solidFill>
                  <a:srgbClr val="F4F4FB"/>
                </a:solidFill>
                <a:latin typeface="Arial" pitchFamily="34" charset="0"/>
                <a:ea typeface="Arial" pitchFamily="34" charset="-122"/>
                <a:cs typeface="Arial" pitchFamily="34" charset="-120"/>
              </a:rPr>
              <a:t>The shipping recipe</a:t>
            </a:r>
            <a:endParaRPr lang="en-US" sz="3400" dirty="0"/>
          </a:p>
        </p:txBody>
      </p:sp>
      <p:sp>
        <p:nvSpPr>
          <p:cNvPr id="5" name="Text 3"/>
          <p:cNvSpPr/>
          <p:nvPr/>
        </p:nvSpPr>
        <p:spPr>
          <a:xfrm>
            <a:off x="634901" y="1073051"/>
            <a:ext cx="8161172" cy="209550"/>
          </a:xfrm>
          <a:prstGeom prst="rect">
            <a:avLst/>
          </a:prstGeom>
          <a:noFill/>
          <a:ln/>
        </p:spPr>
        <p:txBody>
          <a:bodyPr wrap="square" lIns="0" tIns="0" rIns="0" bIns="0" rtlCol="0" anchor="t"/>
          <a:lstStyle/>
          <a:p>
            <a:pPr algn="l" indent="0" marL="0">
              <a:spcAft>
                <a:spcPts val="1400"/>
              </a:spcAft>
              <a:buNone/>
            </a:pPr>
            <a:r>
              <a:rPr lang="en-US" sz="1400" b="1" dirty="0">
                <a:solidFill>
                  <a:srgbClr val="9D4EDD"/>
                </a:solidFill>
                <a:latin typeface="Arial" pitchFamily="34" charset="0"/>
                <a:ea typeface="Arial" pitchFamily="34" charset="-122"/>
                <a:cs typeface="Arial" pitchFamily="34" charset="-120"/>
              </a:rPr>
              <a:t>Simple model · smart indexing · approximate search</a:t>
            </a:r>
            <a:endParaRPr lang="en-US" sz="1400" dirty="0"/>
          </a:p>
        </p:txBody>
      </p:sp>
      <p:sp>
        <p:nvSpPr>
          <p:cNvPr id="6" name="Text 4"/>
          <p:cNvSpPr/>
          <p:nvPr/>
        </p:nvSpPr>
        <p:spPr>
          <a:xfrm>
            <a:off x="634901" y="1460302"/>
            <a:ext cx="2565350" cy="1481138"/>
          </a:xfrm>
          <a:prstGeom prst="roundRect">
            <a:avLst>
              <a:gd name="adj" fmla="val 5145"/>
            </a:avLst>
          </a:prstGeom>
          <a:solidFill>
            <a:srgbClr val="25253D"/>
          </a:solidFill>
          <a:ln/>
        </p:spPr>
        <p:txBody>
          <a:bodyPr wrap="square" rtlCol="0" anchor="ctr"/>
          <a:lstStyle/>
          <a:p>
            <a:pPr indent="0" marL="0">
              <a:buNone/>
            </a:pPr>
            <a:endParaRPr lang="en-US" dirty="0"/>
          </a:p>
        </p:txBody>
      </p:sp>
      <p:sp>
        <p:nvSpPr>
          <p:cNvPr id="7" name="Shape 5"/>
          <p:cNvSpPr/>
          <p:nvPr/>
        </p:nvSpPr>
        <p:spPr>
          <a:xfrm>
            <a:off x="634901" y="1488877"/>
            <a:ext cx="2565350" cy="0"/>
          </a:xfrm>
          <a:prstGeom prst="line">
            <a:avLst/>
          </a:prstGeom>
          <a:noFill/>
          <a:ln w="57150">
            <a:solidFill>
              <a:srgbClr val="06D6A0"/>
            </a:solidFill>
            <a:prstDash val="solid"/>
          </a:ln>
        </p:spPr>
      </p:sp>
      <p:sp>
        <p:nvSpPr>
          <p:cNvPr id="8" name="Text 6"/>
          <p:cNvSpPr/>
          <p:nvPr/>
        </p:nvSpPr>
        <p:spPr>
          <a:xfrm>
            <a:off x="838051" y="1669852"/>
            <a:ext cx="2202231" cy="142875"/>
          </a:xfrm>
          <a:prstGeom prst="rect">
            <a:avLst/>
          </a:prstGeom>
          <a:noFill/>
          <a:ln/>
        </p:spPr>
        <p:txBody>
          <a:bodyPr wrap="square" lIns="0" tIns="0" rIns="0" bIns="0" rtlCol="0" anchor="t"/>
          <a:lstStyle/>
          <a:p>
            <a:pPr algn="l" indent="0" marL="0">
              <a:spcAft>
                <a:spcPts val="400"/>
              </a:spcAft>
              <a:buNone/>
            </a:pPr>
            <a:r>
              <a:rPr lang="en-US" sz="1000" dirty="0">
                <a:solidFill>
                  <a:srgbClr val="06D6A0"/>
                </a:solidFill>
                <a:latin typeface="Courier New" pitchFamily="34" charset="0"/>
                <a:ea typeface="Courier New" pitchFamily="34" charset="-122"/>
                <a:cs typeface="Courier New" pitchFamily="34" charset="-120"/>
              </a:rPr>
              <a:t>01 · MODEL</a:t>
            </a:r>
            <a:endParaRPr lang="en-US" sz="1000" dirty="0"/>
          </a:p>
        </p:txBody>
      </p:sp>
      <p:sp>
        <p:nvSpPr>
          <p:cNvPr id="9" name="Text 7"/>
          <p:cNvSpPr/>
          <p:nvPr/>
        </p:nvSpPr>
        <p:spPr>
          <a:xfrm>
            <a:off x="838051" y="1863477"/>
            <a:ext cx="2202231" cy="209550"/>
          </a:xfrm>
          <a:prstGeom prst="rect">
            <a:avLst/>
          </a:prstGeom>
          <a:noFill/>
          <a:ln/>
        </p:spPr>
        <p:txBody>
          <a:bodyPr wrap="square" lIns="0" tIns="0" rIns="0" bIns="0" rtlCol="0" anchor="t"/>
          <a:lstStyle/>
          <a:p>
            <a:pPr algn="l" indent="0" marL="0">
              <a:spcAft>
                <a:spcPts val="600"/>
              </a:spcAft>
              <a:buNone/>
            </a:pPr>
            <a:r>
              <a:rPr lang="en-US" sz="1400" b="1" dirty="0">
                <a:solidFill>
                  <a:srgbClr val="F4F4FB"/>
                </a:solidFill>
                <a:latin typeface="Courier New" pitchFamily="34" charset="0"/>
                <a:ea typeface="Courier New" pitchFamily="34" charset="-122"/>
                <a:cs typeface="Courier New" pitchFamily="34" charset="-120"/>
              </a:rPr>
              <a:t>cnn_baseline</a:t>
            </a:r>
            <a:endParaRPr lang="en-US" sz="1400" dirty="0"/>
          </a:p>
        </p:txBody>
      </p:sp>
      <p:sp>
        <p:nvSpPr>
          <p:cNvPr id="10" name="Text 8"/>
          <p:cNvSpPr/>
          <p:nvPr/>
        </p:nvSpPr>
        <p:spPr>
          <a:xfrm>
            <a:off x="838051" y="2149227"/>
            <a:ext cx="2202231" cy="639812"/>
          </a:xfrm>
          <a:prstGeom prst="rect">
            <a:avLst/>
          </a:prstGeom>
          <a:noFill/>
          <a:ln/>
        </p:spPr>
        <p:txBody>
          <a:bodyPr wrap="square" lIns="0" tIns="0" rIns="0" bIns="0" rtlCol="0" anchor="t"/>
          <a:lstStyle/>
          <a:p>
            <a:pPr algn="l" indent="0" marL="0">
              <a:lnSpc>
                <a:spcPts val="1680"/>
              </a:lnSpc>
              <a:buNone/>
            </a:pPr>
            <a:r>
              <a:rPr lang="en-US" sz="1200" dirty="0">
                <a:solidFill>
                  <a:srgbClr val="F4F4FB"/>
                </a:solidFill>
                <a:latin typeface="Arial" pitchFamily="34" charset="0"/>
                <a:ea typeface="Arial" pitchFamily="34" charset="-122"/>
                <a:cs typeface="Arial" pitchFamily="34" charset="-120"/>
              </a:rPr>
              <a:t>A 1M-parameter CNN outputting a 128-dim fingerprint. Contrastive NT-Xent training.</a:t>
            </a:r>
            <a:endParaRPr lang="en-US" sz="1200" dirty="0"/>
          </a:p>
        </p:txBody>
      </p:sp>
      <p:sp>
        <p:nvSpPr>
          <p:cNvPr id="11" name="Text 9"/>
          <p:cNvSpPr/>
          <p:nvPr/>
        </p:nvSpPr>
        <p:spPr>
          <a:xfrm>
            <a:off x="3352651" y="1460302"/>
            <a:ext cx="2565499" cy="1481138"/>
          </a:xfrm>
          <a:prstGeom prst="roundRect">
            <a:avLst>
              <a:gd name="adj" fmla="val 5145"/>
            </a:avLst>
          </a:prstGeom>
          <a:solidFill>
            <a:srgbClr val="25253D"/>
          </a:solidFill>
          <a:ln/>
        </p:spPr>
        <p:txBody>
          <a:bodyPr wrap="square" rtlCol="0" anchor="ctr"/>
          <a:lstStyle/>
          <a:p>
            <a:pPr indent="0" marL="0">
              <a:buNone/>
            </a:pPr>
            <a:endParaRPr lang="en-US" dirty="0"/>
          </a:p>
        </p:txBody>
      </p:sp>
      <p:sp>
        <p:nvSpPr>
          <p:cNvPr id="12" name="Shape 10"/>
          <p:cNvSpPr/>
          <p:nvPr/>
        </p:nvSpPr>
        <p:spPr>
          <a:xfrm>
            <a:off x="3352651" y="1488877"/>
            <a:ext cx="2565499" cy="0"/>
          </a:xfrm>
          <a:prstGeom prst="line">
            <a:avLst/>
          </a:prstGeom>
          <a:noFill/>
          <a:ln w="57150">
            <a:solidFill>
              <a:srgbClr val="06D6A0"/>
            </a:solidFill>
            <a:prstDash val="solid"/>
          </a:ln>
        </p:spPr>
      </p:sp>
      <p:sp>
        <p:nvSpPr>
          <p:cNvPr id="13" name="Text 11"/>
          <p:cNvSpPr/>
          <p:nvPr/>
        </p:nvSpPr>
        <p:spPr>
          <a:xfrm>
            <a:off x="3555802" y="1669852"/>
            <a:ext cx="2202382" cy="142875"/>
          </a:xfrm>
          <a:prstGeom prst="rect">
            <a:avLst/>
          </a:prstGeom>
          <a:noFill/>
          <a:ln/>
        </p:spPr>
        <p:txBody>
          <a:bodyPr wrap="square" lIns="0" tIns="0" rIns="0" bIns="0" rtlCol="0" anchor="t"/>
          <a:lstStyle/>
          <a:p>
            <a:pPr algn="l" indent="0" marL="0">
              <a:spcAft>
                <a:spcPts val="400"/>
              </a:spcAft>
              <a:buNone/>
            </a:pPr>
            <a:r>
              <a:rPr lang="en-US" sz="1000" dirty="0">
                <a:solidFill>
                  <a:srgbClr val="06D6A0"/>
                </a:solidFill>
                <a:latin typeface="Courier New" pitchFamily="34" charset="0"/>
                <a:ea typeface="Courier New" pitchFamily="34" charset="-122"/>
                <a:cs typeface="Courier New" pitchFamily="34" charset="-120"/>
              </a:rPr>
              <a:t>02 · WINDOWING</a:t>
            </a:r>
            <a:endParaRPr lang="en-US" sz="1000" dirty="0"/>
          </a:p>
        </p:txBody>
      </p:sp>
      <p:sp>
        <p:nvSpPr>
          <p:cNvPr id="14" name="Text 12"/>
          <p:cNvSpPr/>
          <p:nvPr/>
        </p:nvSpPr>
        <p:spPr>
          <a:xfrm>
            <a:off x="3555802" y="1863477"/>
            <a:ext cx="2202382" cy="209550"/>
          </a:xfrm>
          <a:prstGeom prst="rect">
            <a:avLst/>
          </a:prstGeom>
          <a:noFill/>
          <a:ln/>
        </p:spPr>
        <p:txBody>
          <a:bodyPr wrap="square" lIns="0" tIns="0" rIns="0" bIns="0" rtlCol="0" anchor="t"/>
          <a:lstStyle/>
          <a:p>
            <a:pPr algn="l" indent="0" marL="0">
              <a:spcAft>
                <a:spcPts val="600"/>
              </a:spcAft>
              <a:buNone/>
            </a:pPr>
            <a:r>
              <a:rPr lang="en-US" sz="1400" b="1" dirty="0">
                <a:solidFill>
                  <a:srgbClr val="F4F4FB"/>
                </a:solidFill>
                <a:latin typeface="Courier New" pitchFamily="34" charset="0"/>
                <a:ea typeface="Courier New" pitchFamily="34" charset="-122"/>
                <a:cs typeface="Courier New" pitchFamily="34" charset="-120"/>
              </a:rPr>
              <a:t>multi5_even</a:t>
            </a:r>
            <a:endParaRPr lang="en-US" sz="1400" dirty="0"/>
          </a:p>
        </p:txBody>
      </p:sp>
      <p:sp>
        <p:nvSpPr>
          <p:cNvPr id="15" name="Text 13"/>
          <p:cNvSpPr/>
          <p:nvPr/>
        </p:nvSpPr>
        <p:spPr>
          <a:xfrm>
            <a:off x="3555802" y="2149227"/>
            <a:ext cx="2202382" cy="639812"/>
          </a:xfrm>
          <a:prstGeom prst="rect">
            <a:avLst/>
          </a:prstGeom>
          <a:noFill/>
          <a:ln/>
        </p:spPr>
        <p:txBody>
          <a:bodyPr wrap="square" lIns="0" tIns="0" rIns="0" bIns="0" rtlCol="0" anchor="t"/>
          <a:lstStyle/>
          <a:p>
            <a:pPr algn="l" indent="0" marL="0">
              <a:lnSpc>
                <a:spcPts val="1680"/>
              </a:lnSpc>
              <a:buNone/>
            </a:pPr>
            <a:r>
              <a:rPr lang="en-US" sz="1200" dirty="0">
                <a:solidFill>
                  <a:srgbClr val="F4F4FB"/>
                </a:solidFill>
                <a:latin typeface="Arial" pitchFamily="34" charset="0"/>
                <a:ea typeface="Arial" pitchFamily="34" charset="-122"/>
                <a:cs typeface="Arial" pitchFamily="34" charset="-120"/>
              </a:rPr>
              <a:t>Store </a:t>
            </a:r>
            <a:pPr algn="l" indent="0" marL="0">
              <a:lnSpc>
                <a:spcPts val="1680"/>
              </a:lnSpc>
              <a:buNone/>
            </a:pPr>
            <a:r>
              <a:rPr lang="en-US" sz="1200" b="1" dirty="0">
                <a:solidFill>
                  <a:srgbClr val="F4F4FB"/>
                </a:solidFill>
                <a:latin typeface="Arial" pitchFamily="34" charset="0"/>
                <a:ea typeface="Arial" pitchFamily="34" charset="-122"/>
                <a:cs typeface="Arial" pitchFamily="34" charset="-120"/>
              </a:rPr>
              <a:t>5 fingerprints per song</a:t>
            </a:r>
            <a:pPr algn="l" indent="0" marL="0">
              <a:lnSpc>
                <a:spcPts val="1680"/>
              </a:lnSpc>
              <a:buNone/>
            </a:pPr>
            <a:r>
              <a:rPr lang="en-US" sz="1200" dirty="0">
                <a:solidFill>
                  <a:srgbClr val="F4F4FB"/>
                </a:solidFill>
                <a:latin typeface="Arial" pitchFamily="34" charset="0"/>
                <a:ea typeface="Arial" pitchFamily="34" charset="-122"/>
                <a:cs typeface="Arial" pitchFamily="34" charset="-120"/>
              </a:rPr>
              <a:t>, evenly spaced. Lifts clean Top-1 from 65% to 83%.</a:t>
            </a:r>
            <a:endParaRPr lang="en-US" sz="1200" dirty="0"/>
          </a:p>
        </p:txBody>
      </p:sp>
      <p:sp>
        <p:nvSpPr>
          <p:cNvPr id="16" name="Text 14"/>
          <p:cNvSpPr/>
          <p:nvPr/>
        </p:nvSpPr>
        <p:spPr>
          <a:xfrm>
            <a:off x="6070550" y="1460302"/>
            <a:ext cx="2565499" cy="1481138"/>
          </a:xfrm>
          <a:prstGeom prst="roundRect">
            <a:avLst>
              <a:gd name="adj" fmla="val 5145"/>
            </a:avLst>
          </a:prstGeom>
          <a:solidFill>
            <a:srgbClr val="25253D"/>
          </a:solidFill>
          <a:ln/>
        </p:spPr>
        <p:txBody>
          <a:bodyPr wrap="square" rtlCol="0" anchor="ctr"/>
          <a:lstStyle/>
          <a:p>
            <a:pPr indent="0" marL="0">
              <a:buNone/>
            </a:pPr>
            <a:endParaRPr lang="en-US" dirty="0"/>
          </a:p>
        </p:txBody>
      </p:sp>
      <p:sp>
        <p:nvSpPr>
          <p:cNvPr id="17" name="Shape 15"/>
          <p:cNvSpPr/>
          <p:nvPr/>
        </p:nvSpPr>
        <p:spPr>
          <a:xfrm>
            <a:off x="6070550" y="1488877"/>
            <a:ext cx="2565499" cy="0"/>
          </a:xfrm>
          <a:prstGeom prst="line">
            <a:avLst/>
          </a:prstGeom>
          <a:noFill/>
          <a:ln w="57150">
            <a:solidFill>
              <a:srgbClr val="06D6A0"/>
            </a:solidFill>
            <a:prstDash val="solid"/>
          </a:ln>
        </p:spPr>
      </p:sp>
      <p:sp>
        <p:nvSpPr>
          <p:cNvPr id="18" name="Text 16"/>
          <p:cNvSpPr/>
          <p:nvPr/>
        </p:nvSpPr>
        <p:spPr>
          <a:xfrm>
            <a:off x="6273701" y="1669852"/>
            <a:ext cx="2202382" cy="142875"/>
          </a:xfrm>
          <a:prstGeom prst="rect">
            <a:avLst/>
          </a:prstGeom>
          <a:noFill/>
          <a:ln/>
        </p:spPr>
        <p:txBody>
          <a:bodyPr wrap="square" lIns="0" tIns="0" rIns="0" bIns="0" rtlCol="0" anchor="t"/>
          <a:lstStyle/>
          <a:p>
            <a:pPr algn="l" indent="0" marL="0">
              <a:spcAft>
                <a:spcPts val="400"/>
              </a:spcAft>
              <a:buNone/>
            </a:pPr>
            <a:r>
              <a:rPr lang="en-US" sz="1000" dirty="0">
                <a:solidFill>
                  <a:srgbClr val="06D6A0"/>
                </a:solidFill>
                <a:latin typeface="Courier New" pitchFamily="34" charset="0"/>
                <a:ea typeface="Courier New" pitchFamily="34" charset="-122"/>
                <a:cs typeface="Courier New" pitchFamily="34" charset="-120"/>
              </a:rPr>
              <a:t>03 · INDEX</a:t>
            </a:r>
            <a:endParaRPr lang="en-US" sz="1000" dirty="0"/>
          </a:p>
        </p:txBody>
      </p:sp>
      <p:sp>
        <p:nvSpPr>
          <p:cNvPr id="19" name="Text 17"/>
          <p:cNvSpPr/>
          <p:nvPr/>
        </p:nvSpPr>
        <p:spPr>
          <a:xfrm>
            <a:off x="6273701" y="1863477"/>
            <a:ext cx="2202382" cy="209550"/>
          </a:xfrm>
          <a:prstGeom prst="rect">
            <a:avLst/>
          </a:prstGeom>
          <a:noFill/>
          <a:ln/>
        </p:spPr>
        <p:txBody>
          <a:bodyPr wrap="square" lIns="0" tIns="0" rIns="0" bIns="0" rtlCol="0" anchor="t"/>
          <a:lstStyle/>
          <a:p>
            <a:pPr algn="l" indent="0" marL="0">
              <a:spcAft>
                <a:spcPts val="600"/>
              </a:spcAft>
              <a:buNone/>
            </a:pPr>
            <a:r>
              <a:rPr lang="en-US" sz="1400" b="1" dirty="0">
                <a:solidFill>
                  <a:srgbClr val="F4F4FB"/>
                </a:solidFill>
                <a:latin typeface="Courier New" pitchFamily="34" charset="0"/>
                <a:ea typeface="Courier New" pitchFamily="34" charset="-122"/>
                <a:cs typeface="Courier New" pitchFamily="34" charset="-120"/>
              </a:rPr>
              <a:t>ivfflat_nprobe8</a:t>
            </a:r>
            <a:endParaRPr lang="en-US" sz="1400" dirty="0"/>
          </a:p>
        </p:txBody>
      </p:sp>
      <p:sp>
        <p:nvSpPr>
          <p:cNvPr id="20" name="Text 18"/>
          <p:cNvSpPr/>
          <p:nvPr/>
        </p:nvSpPr>
        <p:spPr>
          <a:xfrm>
            <a:off x="6273701" y="2149227"/>
            <a:ext cx="2202382" cy="639812"/>
          </a:xfrm>
          <a:prstGeom prst="rect">
            <a:avLst/>
          </a:prstGeom>
          <a:noFill/>
          <a:ln/>
        </p:spPr>
        <p:txBody>
          <a:bodyPr wrap="square" lIns="0" tIns="0" rIns="0" bIns="0" rtlCol="0" anchor="t"/>
          <a:lstStyle/>
          <a:p>
            <a:pPr algn="l" indent="0" marL="0">
              <a:lnSpc>
                <a:spcPts val="1680"/>
              </a:lnSpc>
              <a:buNone/>
            </a:pPr>
            <a:r>
              <a:rPr lang="en-US" sz="1200" dirty="0">
                <a:solidFill>
                  <a:srgbClr val="F4F4FB"/>
                </a:solidFill>
                <a:latin typeface="Arial" pitchFamily="34" charset="0"/>
                <a:ea typeface="Arial" pitchFamily="34" charset="-122"/>
                <a:cs typeface="Arial" pitchFamily="34" charset="-120"/>
              </a:rPr>
              <a:t>Approximate FAISS search — 12× faster than exact, near-zero accuracy loss.</a:t>
            </a:r>
            <a:endParaRPr lang="en-US" sz="1200" dirty="0"/>
          </a:p>
        </p:txBody>
      </p:sp>
      <p:sp>
        <p:nvSpPr>
          <p:cNvPr id="21" name="Text 19"/>
          <p:cNvSpPr/>
          <p:nvPr/>
        </p:nvSpPr>
        <p:spPr>
          <a:xfrm>
            <a:off x="634901" y="3119140"/>
            <a:ext cx="8001149" cy="1295549"/>
          </a:xfrm>
          <a:prstGeom prst="roundRect">
            <a:avLst>
              <a:gd name="adj" fmla="val 5882"/>
            </a:avLst>
          </a:prstGeom>
          <a:solidFill>
            <a:srgbClr val="25253D"/>
          </a:solidFill>
          <a:ln/>
        </p:spPr>
        <p:txBody>
          <a:bodyPr wrap="square" rtlCol="0" anchor="ctr"/>
          <a:lstStyle/>
          <a:p>
            <a:pPr indent="0" marL="0">
              <a:buNone/>
            </a:pPr>
            <a:endParaRPr lang="en-US" dirty="0"/>
          </a:p>
        </p:txBody>
      </p:sp>
      <p:sp>
        <p:nvSpPr>
          <p:cNvPr id="22" name="Shape 20"/>
          <p:cNvSpPr/>
          <p:nvPr/>
        </p:nvSpPr>
        <p:spPr>
          <a:xfrm>
            <a:off x="663476" y="3119140"/>
            <a:ext cx="0" cy="1295549"/>
          </a:xfrm>
          <a:prstGeom prst="line">
            <a:avLst/>
          </a:prstGeom>
          <a:noFill/>
          <a:ln w="57150">
            <a:solidFill>
              <a:srgbClr val="9D4EDD"/>
            </a:solidFill>
            <a:prstDash val="solid"/>
          </a:ln>
        </p:spPr>
      </p:sp>
      <p:sp>
        <p:nvSpPr>
          <p:cNvPr id="23" name="Text 21"/>
          <p:cNvSpPr/>
          <p:nvPr/>
        </p:nvSpPr>
        <p:spPr>
          <a:xfrm>
            <a:off x="945952" y="3296841"/>
            <a:ext cx="7584921" cy="171450"/>
          </a:xfrm>
          <a:prstGeom prst="rect">
            <a:avLst/>
          </a:prstGeom>
          <a:noFill/>
          <a:ln/>
        </p:spPr>
        <p:txBody>
          <a:bodyPr wrap="square" lIns="0" tIns="0" rIns="0" bIns="0" rtlCol="0" anchor="t"/>
          <a:lstStyle/>
          <a:p>
            <a:pPr algn="l" indent="0" marL="0">
              <a:spcAft>
                <a:spcPts val="400"/>
              </a:spcAft>
              <a:buNone/>
            </a:pPr>
            <a:r>
              <a:rPr lang="en-US" sz="1200" b="1" dirty="0">
                <a:solidFill>
                  <a:srgbClr val="9D4EDD"/>
                </a:solidFill>
                <a:latin typeface="Courier New" pitchFamily="34" charset="0"/>
                <a:ea typeface="Courier New" pitchFamily="34" charset="-122"/>
                <a:cs typeface="Courier New" pitchFamily="34" charset="-120"/>
              </a:rPr>
              <a:t>ANALOGY</a:t>
            </a:r>
            <a:endParaRPr lang="en-US" sz="1200" dirty="0"/>
          </a:p>
        </p:txBody>
      </p:sp>
      <p:sp>
        <p:nvSpPr>
          <p:cNvPr id="24" name="Text 22"/>
          <p:cNvSpPr/>
          <p:nvPr/>
        </p:nvSpPr>
        <p:spPr>
          <a:xfrm>
            <a:off x="945952" y="3519041"/>
            <a:ext cx="7584921" cy="717947"/>
          </a:xfrm>
          <a:prstGeom prst="rect">
            <a:avLst/>
          </a:prstGeom>
          <a:noFill/>
          <a:ln/>
        </p:spPr>
        <p:txBody>
          <a:bodyPr wrap="square" lIns="0" tIns="0" rIns="0" bIns="0" rtlCol="0" anchor="t"/>
          <a:lstStyle/>
          <a:p>
            <a:pPr algn="l" indent="0" marL="0">
              <a:lnSpc>
                <a:spcPts val="1885"/>
              </a:lnSpc>
              <a:buNone/>
            </a:pPr>
            <a:r>
              <a:rPr lang="en-US" sz="1300" dirty="0">
                <a:solidFill>
                  <a:srgbClr val="F4F4FB"/>
                </a:solidFill>
                <a:latin typeface="Arial" pitchFamily="34" charset="0"/>
                <a:ea typeface="Arial" pitchFamily="34" charset="-122"/>
                <a:cs typeface="Arial" pitchFamily="34" charset="-120"/>
              </a:rPr>
              <a:t>Think of a library. </a:t>
            </a:r>
            <a:pPr algn="l" indent="0" marL="0">
              <a:lnSpc>
                <a:spcPts val="1885"/>
              </a:lnSpc>
              <a:buNone/>
            </a:pPr>
            <a:r>
              <a:rPr lang="en-US" sz="1300" b="1" dirty="0">
                <a:solidFill>
                  <a:srgbClr val="06D6A0"/>
                </a:solidFill>
                <a:latin typeface="Arial" pitchFamily="34" charset="0"/>
                <a:ea typeface="Arial" pitchFamily="34" charset="-122"/>
                <a:cs typeface="Arial" pitchFamily="34" charset="-120"/>
              </a:rPr>
              <a:t>multi5_even</a:t>
            </a:r>
            <a:pPr algn="l" indent="0" marL="0">
              <a:lnSpc>
                <a:spcPts val="1885"/>
              </a:lnSpc>
              <a:buNone/>
            </a:pPr>
            <a:r>
              <a:rPr lang="en-US" sz="1300" dirty="0">
                <a:solidFill>
                  <a:srgbClr val="F4F4FB"/>
                </a:solidFill>
                <a:latin typeface="Arial" pitchFamily="34" charset="0"/>
                <a:ea typeface="Arial" pitchFamily="34" charset="-122"/>
                <a:cs typeface="Arial" pitchFamily="34" charset="-120"/>
              </a:rPr>
              <a:t> is taking five snapshots of each book's pages instead of one. </a:t>
            </a:r>
            <a:pPr algn="l" indent="0" marL="0">
              <a:lnSpc>
                <a:spcPts val="1885"/>
              </a:lnSpc>
              <a:buNone/>
            </a:pPr>
            <a:r>
              <a:rPr lang="en-US" sz="1300" b="1" dirty="0">
                <a:solidFill>
                  <a:srgbClr val="06D6A0"/>
                </a:solidFill>
                <a:latin typeface="Arial" pitchFamily="34" charset="0"/>
                <a:ea typeface="Arial" pitchFamily="34" charset="-122"/>
                <a:cs typeface="Arial" pitchFamily="34" charset="-120"/>
              </a:rPr>
              <a:t>ivfflat_nprobe8</a:t>
            </a:r>
            <a:pPr algn="l" indent="0" marL="0">
              <a:lnSpc>
                <a:spcPts val="1885"/>
              </a:lnSpc>
              <a:buNone/>
            </a:pPr>
            <a:r>
              <a:rPr lang="en-US" sz="1300" dirty="0">
                <a:solidFill>
                  <a:srgbClr val="F4F4FB"/>
                </a:solidFill>
                <a:latin typeface="Arial" pitchFamily="34" charset="0"/>
                <a:ea typeface="Arial" pitchFamily="34" charset="-122"/>
                <a:cs typeface="Arial" pitchFamily="34" charset="-120"/>
              </a:rPr>
              <a:t> is using the index at the back of the library instead of reading every book to find your quote.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06D6A0"/>
          </a:solidFill>
          <a:ln/>
        </p:spPr>
        <p:txBody>
          <a:bodyPr wrap="square" rtlCol="0" anchor="ctr"/>
          <a:lstStyle/>
          <a:p>
            <a:pPr indent="0" marL="0">
              <a:buNone/>
            </a:pPr>
            <a:endParaRPr lang="en-US" dirty="0"/>
          </a:p>
        </p:txBody>
      </p:sp>
      <p:sp>
        <p:nvSpPr>
          <p:cNvPr id="3" name="Text 1"/>
          <p:cNvSpPr/>
          <p:nvPr/>
        </p:nvSpPr>
        <p:spPr>
          <a:xfrm>
            <a:off x="634901" y="304800"/>
            <a:ext cx="8161172" cy="171450"/>
          </a:xfrm>
          <a:prstGeom prst="rect">
            <a:avLst/>
          </a:prstGeom>
          <a:noFill/>
          <a:ln/>
        </p:spPr>
        <p:txBody>
          <a:bodyPr wrap="square" lIns="0" tIns="0" rIns="0" bIns="0" rtlCol="0" anchor="t"/>
          <a:lstStyle/>
          <a:p>
            <a:pPr algn="l" indent="0" marL="0">
              <a:spcAft>
                <a:spcPts val="600"/>
              </a:spcAft>
              <a:buNone/>
            </a:pPr>
            <a:r>
              <a:rPr lang="en-US" sz="1200" dirty="0">
                <a:solidFill>
                  <a:srgbClr val="06D6A0"/>
                </a:solidFill>
                <a:latin typeface="Courier New" pitchFamily="34" charset="0"/>
                <a:ea typeface="Courier New" pitchFamily="34" charset="-122"/>
                <a:cs typeface="Courier New" pitchFamily="34" charset="-120"/>
              </a:rPr>
              <a:t>03 · FMA-MEDIUM RESULTS</a:t>
            </a:r>
            <a:endParaRPr lang="en-US" sz="1200" dirty="0"/>
          </a:p>
        </p:txBody>
      </p:sp>
      <p:sp>
        <p:nvSpPr>
          <p:cNvPr id="4" name="Text 2"/>
          <p:cNvSpPr/>
          <p:nvPr/>
        </p:nvSpPr>
        <p:spPr>
          <a:xfrm>
            <a:off x="634901" y="552450"/>
            <a:ext cx="8161172" cy="466725"/>
          </a:xfrm>
          <a:prstGeom prst="rect">
            <a:avLst/>
          </a:prstGeom>
          <a:noFill/>
          <a:ln/>
        </p:spPr>
        <p:txBody>
          <a:bodyPr wrap="square" lIns="0" tIns="0" rIns="0" bIns="0" rtlCol="0" anchor="t"/>
          <a:lstStyle/>
          <a:p>
            <a:pPr algn="l" indent="0" marL="0">
              <a:spcAft>
                <a:spcPts val="200"/>
              </a:spcAft>
              <a:buNone/>
            </a:pPr>
            <a:r>
              <a:rPr lang="en-US" sz="3200" b="1" dirty="0">
                <a:solidFill>
                  <a:srgbClr val="F4F4FB"/>
                </a:solidFill>
                <a:latin typeface="Arial" pitchFamily="34" charset="0"/>
                <a:ea typeface="Arial" pitchFamily="34" charset="-122"/>
                <a:cs typeface="Arial" pitchFamily="34" charset="-120"/>
              </a:rPr>
              <a:t>The final numbers</a:t>
            </a:r>
            <a:endParaRPr lang="en-US" sz="3200" dirty="0"/>
          </a:p>
        </p:txBody>
      </p:sp>
      <p:sp>
        <p:nvSpPr>
          <p:cNvPr id="5" name="Text 3"/>
          <p:cNvSpPr/>
          <p:nvPr/>
        </p:nvSpPr>
        <p:spPr>
          <a:xfrm>
            <a:off x="634901" y="1044476"/>
            <a:ext cx="8161172" cy="200025"/>
          </a:xfrm>
          <a:prstGeom prst="rect">
            <a:avLst/>
          </a:prstGeom>
          <a:noFill/>
          <a:ln/>
        </p:spPr>
        <p:txBody>
          <a:bodyPr wrap="square" lIns="0" tIns="0" rIns="0" bIns="0" rtlCol="0" anchor="t"/>
          <a:lstStyle/>
          <a:p>
            <a:pPr algn="l" indent="0" marL="0">
              <a:spcAft>
                <a:spcPts val="1600"/>
              </a:spcAft>
              <a:buNone/>
            </a:pPr>
            <a:r>
              <a:rPr lang="en-US" sz="1300" b="1" dirty="0">
                <a:solidFill>
                  <a:srgbClr val="9D4EDD"/>
                </a:solidFill>
                <a:latin typeface="Arial" pitchFamily="34" charset="0"/>
                <a:ea typeface="Arial" pitchFamily="34" charset="-122"/>
                <a:cs typeface="Arial" pitchFamily="34" charset="-120"/>
              </a:rPr>
              <a:t>CNN + multi5_even + ivfflat_nprobe8 · 24,995-track catalog</a:t>
            </a:r>
            <a:endParaRPr lang="en-US" sz="1300" dirty="0"/>
          </a:p>
        </p:txBody>
      </p:sp>
      <p:sp>
        <p:nvSpPr>
          <p:cNvPr id="6" name="Text 4"/>
          <p:cNvSpPr/>
          <p:nvPr/>
        </p:nvSpPr>
        <p:spPr>
          <a:xfrm>
            <a:off x="634901" y="1447651"/>
            <a:ext cx="1885950" cy="2779216"/>
          </a:xfrm>
          <a:prstGeom prst="roundRect">
            <a:avLst>
              <a:gd name="adj" fmla="val 5387"/>
            </a:avLst>
          </a:prstGeom>
          <a:solidFill>
            <a:srgbClr val="25253D"/>
          </a:solidFill>
          <a:ln/>
        </p:spPr>
        <p:txBody>
          <a:bodyPr wrap="square" rtlCol="0" anchor="ctr"/>
          <a:lstStyle/>
          <a:p>
            <a:pPr indent="0" marL="0">
              <a:buNone/>
            </a:pPr>
            <a:endParaRPr lang="en-US" dirty="0"/>
          </a:p>
        </p:txBody>
      </p:sp>
      <p:sp>
        <p:nvSpPr>
          <p:cNvPr id="7" name="Shape 5"/>
          <p:cNvSpPr/>
          <p:nvPr/>
        </p:nvSpPr>
        <p:spPr>
          <a:xfrm>
            <a:off x="634901" y="1476226"/>
            <a:ext cx="1885950" cy="0"/>
          </a:xfrm>
          <a:prstGeom prst="line">
            <a:avLst/>
          </a:prstGeom>
          <a:noFill/>
          <a:ln w="57150">
            <a:solidFill>
              <a:srgbClr val="06D6A0"/>
            </a:solidFill>
            <a:prstDash val="solid"/>
          </a:ln>
        </p:spPr>
      </p:sp>
      <p:sp>
        <p:nvSpPr>
          <p:cNvPr id="8" name="Text 6"/>
          <p:cNvSpPr/>
          <p:nvPr/>
        </p:nvSpPr>
        <p:spPr>
          <a:xfrm>
            <a:off x="838051" y="1682502"/>
            <a:ext cx="1509242" cy="133350"/>
          </a:xfrm>
          <a:prstGeom prst="rect">
            <a:avLst/>
          </a:prstGeom>
          <a:noFill/>
          <a:ln/>
        </p:spPr>
        <p:txBody>
          <a:bodyPr wrap="square" lIns="0" tIns="0" rIns="0" bIns="0" rtlCol="0" anchor="t"/>
          <a:lstStyle/>
          <a:p>
            <a:pPr algn="l" indent="0" marL="0">
              <a:spcAft>
                <a:spcPts val="400"/>
              </a:spcAft>
              <a:buNone/>
            </a:pPr>
            <a:r>
              <a:rPr lang="en-US" sz="900" dirty="0">
                <a:solidFill>
                  <a:srgbClr val="06D6A0"/>
                </a:solidFill>
                <a:latin typeface="Courier New" pitchFamily="34" charset="0"/>
                <a:ea typeface="Courier New" pitchFamily="34" charset="-122"/>
                <a:cs typeface="Courier New" pitchFamily="34" charset="-120"/>
              </a:rPr>
              <a:t>CLEAN TOP-1</a:t>
            </a:r>
            <a:endParaRPr lang="en-US" sz="900" dirty="0"/>
          </a:p>
        </p:txBody>
      </p:sp>
      <p:sp>
        <p:nvSpPr>
          <p:cNvPr id="9" name="Text 7"/>
          <p:cNvSpPr/>
          <p:nvPr/>
        </p:nvSpPr>
        <p:spPr>
          <a:xfrm>
            <a:off x="838051" y="1866602"/>
            <a:ext cx="1509242" cy="431750"/>
          </a:xfrm>
          <a:prstGeom prst="rect">
            <a:avLst/>
          </a:prstGeom>
          <a:noFill/>
          <a:ln/>
        </p:spPr>
        <p:txBody>
          <a:bodyPr wrap="square" lIns="0" tIns="0" rIns="0" bIns="0" rtlCol="0" anchor="t"/>
          <a:lstStyle/>
          <a:p>
            <a:pPr algn="l" indent="0" marL="0">
              <a:lnSpc>
                <a:spcPts val="3400"/>
              </a:lnSpc>
              <a:buNone/>
            </a:pPr>
            <a:r>
              <a:rPr lang="en-US" sz="3400" b="1" dirty="0">
                <a:solidFill>
                  <a:srgbClr val="F4F4FB"/>
                </a:solidFill>
                <a:latin typeface="Courier New" pitchFamily="34" charset="0"/>
                <a:ea typeface="Courier New" pitchFamily="34" charset="-122"/>
                <a:cs typeface="Courier New" pitchFamily="34" charset="-120"/>
              </a:rPr>
              <a:t>83.5%</a:t>
            </a:r>
            <a:endParaRPr lang="en-US" sz="3400" dirty="0"/>
          </a:p>
        </p:txBody>
      </p:sp>
      <p:sp>
        <p:nvSpPr>
          <p:cNvPr id="10" name="Text 8"/>
          <p:cNvSpPr/>
          <p:nvPr/>
        </p:nvSpPr>
        <p:spPr>
          <a:xfrm>
            <a:off x="838051" y="2323654"/>
            <a:ext cx="1509242" cy="171450"/>
          </a:xfrm>
          <a:prstGeom prst="rect">
            <a:avLst/>
          </a:prstGeom>
          <a:noFill/>
          <a:ln/>
        </p:spPr>
        <p:txBody>
          <a:bodyPr wrap="square" lIns="0" tIns="0" rIns="0" bIns="0" rtlCol="0" anchor="t"/>
          <a:lstStyle/>
          <a:p>
            <a:pPr algn="l" indent="0" marL="0">
              <a:spcBef>
                <a:spcPts val="200"/>
              </a:spcBef>
              <a:spcAft>
                <a:spcPts val="600"/>
              </a:spcAft>
              <a:buNone/>
            </a:pPr>
            <a:r>
              <a:rPr lang="en-US" sz="1200" dirty="0">
                <a:solidFill>
                  <a:srgbClr val="9D4EDD"/>
                </a:solidFill>
                <a:latin typeface="Courier New" pitchFamily="34" charset="0"/>
                <a:ea typeface="Courier New" pitchFamily="34" charset="-122"/>
                <a:cs typeface="Courier New" pitchFamily="34" charset="-120"/>
              </a:rPr>
              <a:t>accuracy</a:t>
            </a:r>
            <a:endParaRPr lang="en-US" sz="1200" dirty="0"/>
          </a:p>
        </p:txBody>
      </p:sp>
      <p:sp>
        <p:nvSpPr>
          <p:cNvPr id="11" name="Text 9"/>
          <p:cNvSpPr/>
          <p:nvPr/>
        </p:nvSpPr>
        <p:spPr>
          <a:xfrm>
            <a:off x="838051" y="3686026"/>
            <a:ext cx="1509242" cy="363141"/>
          </a:xfrm>
          <a:prstGeom prst="rect">
            <a:avLst/>
          </a:prstGeom>
          <a:noFill/>
          <a:ln/>
        </p:spPr>
        <p:txBody>
          <a:bodyPr wrap="square" lIns="0" tIns="0" rIns="0" bIns="0" rtlCol="0" anchor="t"/>
          <a:lstStyle/>
          <a:p>
            <a:pPr algn="l" indent="0" marL="0">
              <a:lnSpc>
                <a:spcPts val="1430"/>
              </a:lnSpc>
              <a:buNone/>
            </a:pPr>
            <a:r>
              <a:rPr lang="en-US" sz="1100" dirty="0">
                <a:solidFill>
                  <a:srgbClr val="F4F4FB"/>
                </a:solidFill>
                <a:latin typeface="Arial" pitchFamily="34" charset="0"/>
                <a:ea typeface="Arial" pitchFamily="34" charset="-122"/>
                <a:cs typeface="Arial" pitchFamily="34" charset="-120"/>
              </a:rPr>
              <a:t>Right song first on clean queries.</a:t>
            </a:r>
            <a:endParaRPr lang="en-US" sz="1100" dirty="0"/>
          </a:p>
        </p:txBody>
      </p:sp>
      <p:sp>
        <p:nvSpPr>
          <p:cNvPr id="12" name="Text 10"/>
          <p:cNvSpPr/>
          <p:nvPr/>
        </p:nvSpPr>
        <p:spPr>
          <a:xfrm>
            <a:off x="2673251" y="1447651"/>
            <a:ext cx="1886099" cy="2779216"/>
          </a:xfrm>
          <a:prstGeom prst="roundRect">
            <a:avLst>
              <a:gd name="adj" fmla="val 5387"/>
            </a:avLst>
          </a:prstGeom>
          <a:solidFill>
            <a:srgbClr val="25253D"/>
          </a:solidFill>
          <a:ln/>
        </p:spPr>
        <p:txBody>
          <a:bodyPr wrap="square" rtlCol="0" anchor="ctr"/>
          <a:lstStyle/>
          <a:p>
            <a:pPr indent="0" marL="0">
              <a:buNone/>
            </a:pPr>
            <a:endParaRPr lang="en-US" dirty="0"/>
          </a:p>
        </p:txBody>
      </p:sp>
      <p:sp>
        <p:nvSpPr>
          <p:cNvPr id="13" name="Shape 11"/>
          <p:cNvSpPr/>
          <p:nvPr/>
        </p:nvSpPr>
        <p:spPr>
          <a:xfrm>
            <a:off x="2673251" y="1476226"/>
            <a:ext cx="1886099" cy="0"/>
          </a:xfrm>
          <a:prstGeom prst="line">
            <a:avLst/>
          </a:prstGeom>
          <a:noFill/>
          <a:ln w="57150">
            <a:solidFill>
              <a:srgbClr val="06D6A0"/>
            </a:solidFill>
            <a:prstDash val="solid"/>
          </a:ln>
        </p:spPr>
      </p:sp>
      <p:sp>
        <p:nvSpPr>
          <p:cNvPr id="14" name="Text 12"/>
          <p:cNvSpPr/>
          <p:nvPr/>
        </p:nvSpPr>
        <p:spPr>
          <a:xfrm>
            <a:off x="2876401" y="1682502"/>
            <a:ext cx="1509394" cy="133350"/>
          </a:xfrm>
          <a:prstGeom prst="rect">
            <a:avLst/>
          </a:prstGeom>
          <a:noFill/>
          <a:ln/>
        </p:spPr>
        <p:txBody>
          <a:bodyPr wrap="square" lIns="0" tIns="0" rIns="0" bIns="0" rtlCol="0" anchor="t"/>
          <a:lstStyle/>
          <a:p>
            <a:pPr algn="l" indent="0" marL="0">
              <a:spcAft>
                <a:spcPts val="400"/>
              </a:spcAft>
              <a:buNone/>
            </a:pPr>
            <a:r>
              <a:rPr lang="en-US" sz="900" dirty="0">
                <a:solidFill>
                  <a:srgbClr val="06D6A0"/>
                </a:solidFill>
                <a:latin typeface="Courier New" pitchFamily="34" charset="0"/>
                <a:ea typeface="Courier New" pitchFamily="34" charset="-122"/>
                <a:cs typeface="Courier New" pitchFamily="34" charset="-120"/>
              </a:rPr>
              <a:t>MEAN DEGRADED</a:t>
            </a:r>
            <a:endParaRPr lang="en-US" sz="900" dirty="0"/>
          </a:p>
        </p:txBody>
      </p:sp>
      <p:sp>
        <p:nvSpPr>
          <p:cNvPr id="15" name="Text 13"/>
          <p:cNvSpPr/>
          <p:nvPr/>
        </p:nvSpPr>
        <p:spPr>
          <a:xfrm>
            <a:off x="2876401" y="1866602"/>
            <a:ext cx="1509394" cy="431750"/>
          </a:xfrm>
          <a:prstGeom prst="rect">
            <a:avLst/>
          </a:prstGeom>
          <a:noFill/>
          <a:ln/>
        </p:spPr>
        <p:txBody>
          <a:bodyPr wrap="square" lIns="0" tIns="0" rIns="0" bIns="0" rtlCol="0" anchor="t"/>
          <a:lstStyle/>
          <a:p>
            <a:pPr algn="l" indent="0" marL="0">
              <a:lnSpc>
                <a:spcPts val="3400"/>
              </a:lnSpc>
              <a:buNone/>
            </a:pPr>
            <a:r>
              <a:rPr lang="en-US" sz="3400" b="1" dirty="0">
                <a:solidFill>
                  <a:srgbClr val="F4F4FB"/>
                </a:solidFill>
                <a:latin typeface="Courier New" pitchFamily="34" charset="0"/>
                <a:ea typeface="Courier New" pitchFamily="34" charset="-122"/>
                <a:cs typeface="Courier New" pitchFamily="34" charset="-120"/>
              </a:rPr>
              <a:t>36.4%</a:t>
            </a:r>
            <a:endParaRPr lang="en-US" sz="3400" dirty="0"/>
          </a:p>
        </p:txBody>
      </p:sp>
      <p:sp>
        <p:nvSpPr>
          <p:cNvPr id="16" name="Text 14"/>
          <p:cNvSpPr/>
          <p:nvPr/>
        </p:nvSpPr>
        <p:spPr>
          <a:xfrm>
            <a:off x="2876401" y="2323654"/>
            <a:ext cx="1509394" cy="342900"/>
          </a:xfrm>
          <a:prstGeom prst="rect">
            <a:avLst/>
          </a:prstGeom>
          <a:noFill/>
          <a:ln/>
        </p:spPr>
        <p:txBody>
          <a:bodyPr wrap="square" lIns="0" tIns="0" rIns="0" bIns="0" rtlCol="0" anchor="t"/>
          <a:lstStyle/>
          <a:p>
            <a:pPr algn="l" indent="0" marL="0">
              <a:spcBef>
                <a:spcPts val="200"/>
              </a:spcBef>
              <a:spcAft>
                <a:spcPts val="600"/>
              </a:spcAft>
              <a:buNone/>
            </a:pPr>
            <a:r>
              <a:rPr lang="en-US" sz="1200" dirty="0">
                <a:solidFill>
                  <a:srgbClr val="9D4EDD"/>
                </a:solidFill>
                <a:latin typeface="Courier New" pitchFamily="34" charset="0"/>
                <a:ea typeface="Courier New" pitchFamily="34" charset="-122"/>
                <a:cs typeface="Courier New" pitchFamily="34" charset="-120"/>
              </a:rPr>
              <a:t>avg across stress</a:t>
            </a:r>
            <a:endParaRPr lang="en-US" sz="1200" dirty="0"/>
          </a:p>
        </p:txBody>
      </p:sp>
      <p:sp>
        <p:nvSpPr>
          <p:cNvPr id="17" name="Text 15"/>
          <p:cNvSpPr/>
          <p:nvPr/>
        </p:nvSpPr>
        <p:spPr>
          <a:xfrm>
            <a:off x="2876401" y="3686026"/>
            <a:ext cx="1509394" cy="363141"/>
          </a:xfrm>
          <a:prstGeom prst="rect">
            <a:avLst/>
          </a:prstGeom>
          <a:noFill/>
          <a:ln/>
        </p:spPr>
        <p:txBody>
          <a:bodyPr wrap="square" lIns="0" tIns="0" rIns="0" bIns="0" rtlCol="0" anchor="t"/>
          <a:lstStyle/>
          <a:p>
            <a:pPr algn="l" indent="0" marL="0">
              <a:lnSpc>
                <a:spcPts val="1430"/>
              </a:lnSpc>
              <a:buNone/>
            </a:pPr>
            <a:r>
              <a:rPr lang="en-US" sz="1100" dirty="0">
                <a:solidFill>
                  <a:srgbClr val="F4F4FB"/>
                </a:solidFill>
                <a:latin typeface="Arial" pitchFamily="34" charset="0"/>
                <a:ea typeface="Arial" pitchFamily="34" charset="-122"/>
                <a:cs typeface="Arial" pitchFamily="34" charset="-120"/>
              </a:rPr>
              <a:t>Average Top-1 across noise, pitch, filter.</a:t>
            </a:r>
            <a:endParaRPr lang="en-US" sz="1100" dirty="0"/>
          </a:p>
        </p:txBody>
      </p:sp>
      <p:sp>
        <p:nvSpPr>
          <p:cNvPr id="18" name="Text 16"/>
          <p:cNvSpPr/>
          <p:nvPr/>
        </p:nvSpPr>
        <p:spPr>
          <a:xfrm>
            <a:off x="4711750" y="1447651"/>
            <a:ext cx="1885950" cy="2779216"/>
          </a:xfrm>
          <a:prstGeom prst="roundRect">
            <a:avLst>
              <a:gd name="adj" fmla="val 5387"/>
            </a:avLst>
          </a:prstGeom>
          <a:solidFill>
            <a:srgbClr val="25253D"/>
          </a:solidFill>
          <a:ln/>
        </p:spPr>
        <p:txBody>
          <a:bodyPr wrap="square" rtlCol="0" anchor="ctr"/>
          <a:lstStyle/>
          <a:p>
            <a:pPr indent="0" marL="0">
              <a:buNone/>
            </a:pPr>
            <a:endParaRPr lang="en-US" dirty="0"/>
          </a:p>
        </p:txBody>
      </p:sp>
      <p:sp>
        <p:nvSpPr>
          <p:cNvPr id="19" name="Shape 17"/>
          <p:cNvSpPr/>
          <p:nvPr/>
        </p:nvSpPr>
        <p:spPr>
          <a:xfrm>
            <a:off x="4711750" y="1476226"/>
            <a:ext cx="1885950" cy="0"/>
          </a:xfrm>
          <a:prstGeom prst="line">
            <a:avLst/>
          </a:prstGeom>
          <a:noFill/>
          <a:ln w="57150">
            <a:solidFill>
              <a:srgbClr val="06D6A0"/>
            </a:solidFill>
            <a:prstDash val="solid"/>
          </a:ln>
        </p:spPr>
      </p:sp>
      <p:sp>
        <p:nvSpPr>
          <p:cNvPr id="20" name="Text 18"/>
          <p:cNvSpPr/>
          <p:nvPr/>
        </p:nvSpPr>
        <p:spPr>
          <a:xfrm>
            <a:off x="4914900" y="1682502"/>
            <a:ext cx="1509242" cy="133350"/>
          </a:xfrm>
          <a:prstGeom prst="rect">
            <a:avLst/>
          </a:prstGeom>
          <a:noFill/>
          <a:ln/>
        </p:spPr>
        <p:txBody>
          <a:bodyPr wrap="square" lIns="0" tIns="0" rIns="0" bIns="0" rtlCol="0" anchor="t"/>
          <a:lstStyle/>
          <a:p>
            <a:pPr algn="l" indent="0" marL="0">
              <a:spcAft>
                <a:spcPts val="400"/>
              </a:spcAft>
              <a:buNone/>
            </a:pPr>
            <a:r>
              <a:rPr lang="en-US" sz="900" dirty="0">
                <a:solidFill>
                  <a:srgbClr val="06D6A0"/>
                </a:solidFill>
                <a:latin typeface="Courier New" pitchFamily="34" charset="0"/>
                <a:ea typeface="Courier New" pitchFamily="34" charset="-122"/>
                <a:cs typeface="Courier New" pitchFamily="34" charset="-120"/>
              </a:rPr>
              <a:t>MRR</a:t>
            </a:r>
            <a:endParaRPr lang="en-US" sz="900" dirty="0"/>
          </a:p>
        </p:txBody>
      </p:sp>
      <p:sp>
        <p:nvSpPr>
          <p:cNvPr id="21" name="Text 19"/>
          <p:cNvSpPr/>
          <p:nvPr/>
        </p:nvSpPr>
        <p:spPr>
          <a:xfrm>
            <a:off x="4914900" y="1866602"/>
            <a:ext cx="1509242" cy="431750"/>
          </a:xfrm>
          <a:prstGeom prst="rect">
            <a:avLst/>
          </a:prstGeom>
          <a:noFill/>
          <a:ln/>
        </p:spPr>
        <p:txBody>
          <a:bodyPr wrap="square" lIns="0" tIns="0" rIns="0" bIns="0" rtlCol="0" anchor="t"/>
          <a:lstStyle/>
          <a:p>
            <a:pPr algn="l" indent="0" marL="0">
              <a:lnSpc>
                <a:spcPts val="3400"/>
              </a:lnSpc>
              <a:buNone/>
            </a:pPr>
            <a:r>
              <a:rPr lang="en-US" sz="3400" b="1" dirty="0">
                <a:solidFill>
                  <a:srgbClr val="F4F4FB"/>
                </a:solidFill>
                <a:latin typeface="Courier New" pitchFamily="34" charset="0"/>
                <a:ea typeface="Courier New" pitchFamily="34" charset="-122"/>
                <a:cs typeface="Courier New" pitchFamily="34" charset="-120"/>
              </a:rPr>
              <a:t>0.58</a:t>
            </a:r>
            <a:endParaRPr lang="en-US" sz="3400" dirty="0"/>
          </a:p>
        </p:txBody>
      </p:sp>
      <p:sp>
        <p:nvSpPr>
          <p:cNvPr id="22" name="Text 20"/>
          <p:cNvSpPr/>
          <p:nvPr/>
        </p:nvSpPr>
        <p:spPr>
          <a:xfrm>
            <a:off x="4914900" y="2323654"/>
            <a:ext cx="1509242" cy="171450"/>
          </a:xfrm>
          <a:prstGeom prst="rect">
            <a:avLst/>
          </a:prstGeom>
          <a:noFill/>
          <a:ln/>
        </p:spPr>
        <p:txBody>
          <a:bodyPr wrap="square" lIns="0" tIns="0" rIns="0" bIns="0" rtlCol="0" anchor="t"/>
          <a:lstStyle/>
          <a:p>
            <a:pPr algn="l" indent="0" marL="0">
              <a:spcBef>
                <a:spcPts val="200"/>
              </a:spcBef>
              <a:spcAft>
                <a:spcPts val="600"/>
              </a:spcAft>
              <a:buNone/>
            </a:pPr>
            <a:r>
              <a:rPr lang="en-US" sz="1200" dirty="0">
                <a:solidFill>
                  <a:srgbClr val="9D4EDD"/>
                </a:solidFill>
                <a:latin typeface="Courier New" pitchFamily="34" charset="0"/>
                <a:ea typeface="Courier New" pitchFamily="34" charset="-122"/>
                <a:cs typeface="Courier New" pitchFamily="34" charset="-120"/>
              </a:rPr>
              <a:t>reciprocal rank</a:t>
            </a:r>
            <a:endParaRPr lang="en-US" sz="1200" dirty="0"/>
          </a:p>
        </p:txBody>
      </p:sp>
      <p:sp>
        <p:nvSpPr>
          <p:cNvPr id="23" name="Text 21"/>
          <p:cNvSpPr/>
          <p:nvPr/>
        </p:nvSpPr>
        <p:spPr>
          <a:xfrm>
            <a:off x="4914900" y="3686026"/>
            <a:ext cx="1509242" cy="363141"/>
          </a:xfrm>
          <a:prstGeom prst="rect">
            <a:avLst/>
          </a:prstGeom>
          <a:noFill/>
          <a:ln/>
        </p:spPr>
        <p:txBody>
          <a:bodyPr wrap="square" lIns="0" tIns="0" rIns="0" bIns="0" rtlCol="0" anchor="t"/>
          <a:lstStyle/>
          <a:p>
            <a:pPr algn="l" indent="0" marL="0">
              <a:lnSpc>
                <a:spcPts val="1430"/>
              </a:lnSpc>
              <a:buNone/>
            </a:pPr>
            <a:r>
              <a:rPr lang="en-US" sz="1100" dirty="0">
                <a:solidFill>
                  <a:srgbClr val="F4F4FB"/>
                </a:solidFill>
                <a:latin typeface="Arial" pitchFamily="34" charset="0"/>
                <a:ea typeface="Arial" pitchFamily="34" charset="-122"/>
                <a:cs typeface="Arial" pitchFamily="34" charset="-120"/>
              </a:rPr>
              <a:t>Right answer usually near the top.</a:t>
            </a:r>
            <a:endParaRPr lang="en-US" sz="1100" dirty="0"/>
          </a:p>
        </p:txBody>
      </p:sp>
      <p:sp>
        <p:nvSpPr>
          <p:cNvPr id="24" name="Text 22"/>
          <p:cNvSpPr/>
          <p:nvPr/>
        </p:nvSpPr>
        <p:spPr>
          <a:xfrm>
            <a:off x="6750100" y="1447651"/>
            <a:ext cx="1885950" cy="2779216"/>
          </a:xfrm>
          <a:prstGeom prst="roundRect">
            <a:avLst>
              <a:gd name="adj" fmla="val 5387"/>
            </a:avLst>
          </a:prstGeom>
          <a:solidFill>
            <a:srgbClr val="25253D"/>
          </a:solidFill>
          <a:ln/>
        </p:spPr>
        <p:txBody>
          <a:bodyPr wrap="square" rtlCol="0" anchor="ctr"/>
          <a:lstStyle/>
          <a:p>
            <a:pPr indent="0" marL="0">
              <a:buNone/>
            </a:pPr>
            <a:endParaRPr lang="en-US" dirty="0"/>
          </a:p>
        </p:txBody>
      </p:sp>
      <p:sp>
        <p:nvSpPr>
          <p:cNvPr id="25" name="Shape 23"/>
          <p:cNvSpPr/>
          <p:nvPr/>
        </p:nvSpPr>
        <p:spPr>
          <a:xfrm>
            <a:off x="6750100" y="1476226"/>
            <a:ext cx="1885950" cy="0"/>
          </a:xfrm>
          <a:prstGeom prst="line">
            <a:avLst/>
          </a:prstGeom>
          <a:noFill/>
          <a:ln w="57150">
            <a:solidFill>
              <a:srgbClr val="06D6A0"/>
            </a:solidFill>
            <a:prstDash val="solid"/>
          </a:ln>
        </p:spPr>
      </p:sp>
      <p:sp>
        <p:nvSpPr>
          <p:cNvPr id="26" name="Text 24"/>
          <p:cNvSpPr/>
          <p:nvPr/>
        </p:nvSpPr>
        <p:spPr>
          <a:xfrm>
            <a:off x="6953250" y="1682502"/>
            <a:ext cx="1509242" cy="133350"/>
          </a:xfrm>
          <a:prstGeom prst="rect">
            <a:avLst/>
          </a:prstGeom>
          <a:noFill/>
          <a:ln/>
        </p:spPr>
        <p:txBody>
          <a:bodyPr wrap="square" lIns="0" tIns="0" rIns="0" bIns="0" rtlCol="0" anchor="t"/>
          <a:lstStyle/>
          <a:p>
            <a:pPr algn="l" indent="0" marL="0">
              <a:spcAft>
                <a:spcPts val="400"/>
              </a:spcAft>
              <a:buNone/>
            </a:pPr>
            <a:r>
              <a:rPr lang="en-US" sz="900" dirty="0">
                <a:solidFill>
                  <a:srgbClr val="06D6A0"/>
                </a:solidFill>
                <a:latin typeface="Courier New" pitchFamily="34" charset="0"/>
                <a:ea typeface="Courier New" pitchFamily="34" charset="-122"/>
                <a:cs typeface="Courier New" pitchFamily="34" charset="-120"/>
              </a:rPr>
              <a:t>LATENCY</a:t>
            </a:r>
            <a:endParaRPr lang="en-US" sz="900" dirty="0"/>
          </a:p>
        </p:txBody>
      </p:sp>
      <p:sp>
        <p:nvSpPr>
          <p:cNvPr id="27" name="Text 25"/>
          <p:cNvSpPr/>
          <p:nvPr/>
        </p:nvSpPr>
        <p:spPr>
          <a:xfrm>
            <a:off x="6953250" y="1866602"/>
            <a:ext cx="1509242" cy="431750"/>
          </a:xfrm>
          <a:prstGeom prst="rect">
            <a:avLst/>
          </a:prstGeom>
          <a:noFill/>
          <a:ln/>
        </p:spPr>
        <p:txBody>
          <a:bodyPr wrap="square" lIns="0" tIns="0" rIns="0" bIns="0" rtlCol="0" anchor="t"/>
          <a:lstStyle/>
          <a:p>
            <a:pPr algn="l" indent="0" marL="0">
              <a:lnSpc>
                <a:spcPts val="3400"/>
              </a:lnSpc>
              <a:buNone/>
            </a:pPr>
            <a:r>
              <a:rPr lang="en-US" sz="3400" b="1" dirty="0">
                <a:solidFill>
                  <a:srgbClr val="F4F4FB"/>
                </a:solidFill>
                <a:latin typeface="Courier New" pitchFamily="34" charset="0"/>
                <a:ea typeface="Courier New" pitchFamily="34" charset="-122"/>
                <a:cs typeface="Courier New" pitchFamily="34" charset="-120"/>
              </a:rPr>
              <a:t>0.01</a:t>
            </a:r>
            <a:endParaRPr lang="en-US" sz="3400" dirty="0"/>
          </a:p>
        </p:txBody>
      </p:sp>
      <p:sp>
        <p:nvSpPr>
          <p:cNvPr id="28" name="Text 26"/>
          <p:cNvSpPr/>
          <p:nvPr/>
        </p:nvSpPr>
        <p:spPr>
          <a:xfrm>
            <a:off x="6953250" y="2323654"/>
            <a:ext cx="1509242" cy="171450"/>
          </a:xfrm>
          <a:prstGeom prst="rect">
            <a:avLst/>
          </a:prstGeom>
          <a:noFill/>
          <a:ln/>
        </p:spPr>
        <p:txBody>
          <a:bodyPr wrap="square" lIns="0" tIns="0" rIns="0" bIns="0" rtlCol="0" anchor="t"/>
          <a:lstStyle/>
          <a:p>
            <a:pPr algn="l" indent="0" marL="0">
              <a:spcBef>
                <a:spcPts val="200"/>
              </a:spcBef>
              <a:spcAft>
                <a:spcPts val="600"/>
              </a:spcAft>
              <a:buNone/>
            </a:pPr>
            <a:r>
              <a:rPr lang="en-US" sz="1200" dirty="0">
                <a:solidFill>
                  <a:srgbClr val="9D4EDD"/>
                </a:solidFill>
                <a:latin typeface="Courier New" pitchFamily="34" charset="0"/>
                <a:ea typeface="Courier New" pitchFamily="34" charset="-122"/>
                <a:cs typeface="Courier New" pitchFamily="34" charset="-120"/>
              </a:rPr>
              <a:t>ms / query</a:t>
            </a:r>
            <a:endParaRPr lang="en-US" sz="1200" dirty="0"/>
          </a:p>
        </p:txBody>
      </p:sp>
      <p:sp>
        <p:nvSpPr>
          <p:cNvPr id="29" name="Text 27"/>
          <p:cNvSpPr/>
          <p:nvPr/>
        </p:nvSpPr>
        <p:spPr>
          <a:xfrm>
            <a:off x="6953250" y="3686026"/>
            <a:ext cx="1509242" cy="363141"/>
          </a:xfrm>
          <a:prstGeom prst="rect">
            <a:avLst/>
          </a:prstGeom>
          <a:noFill/>
          <a:ln/>
        </p:spPr>
        <p:txBody>
          <a:bodyPr wrap="square" lIns="0" tIns="0" rIns="0" bIns="0" rtlCol="0" anchor="t"/>
          <a:lstStyle/>
          <a:p>
            <a:pPr algn="l" indent="0" marL="0">
              <a:lnSpc>
                <a:spcPts val="1430"/>
              </a:lnSpc>
              <a:buNone/>
            </a:pPr>
            <a:r>
              <a:rPr lang="en-US" sz="1100" dirty="0">
                <a:solidFill>
                  <a:srgbClr val="F4F4FB"/>
                </a:solidFill>
                <a:latin typeface="Arial" pitchFamily="34" charset="0"/>
                <a:ea typeface="Arial" pitchFamily="34" charset="-122"/>
                <a:cs typeface="Arial" pitchFamily="34" charset="-120"/>
              </a:rPr>
              <a:t>12× faster than exact; 6.4 MB index.</a:t>
            </a:r>
            <a:endParaRPr lang="en-US" sz="1100" dirty="0"/>
          </a:p>
        </p:txBody>
      </p:sp>
      <p:sp>
        <p:nvSpPr>
          <p:cNvPr id="30" name="Text 28"/>
          <p:cNvSpPr/>
          <p:nvPr/>
        </p:nvSpPr>
        <p:spPr>
          <a:xfrm>
            <a:off x="634901" y="4404568"/>
            <a:ext cx="8161172" cy="230981"/>
          </a:xfrm>
          <a:prstGeom prst="rect">
            <a:avLst/>
          </a:prstGeom>
          <a:noFill/>
          <a:ln/>
        </p:spPr>
        <p:txBody>
          <a:bodyPr wrap="square" lIns="0" tIns="0" rIns="0" bIns="0" rtlCol="0" anchor="t"/>
          <a:lstStyle/>
          <a:p>
            <a:pPr algn="l" indent="0" marL="0">
              <a:lnSpc>
                <a:spcPts val="1820"/>
              </a:lnSpc>
              <a:spcBef>
                <a:spcPts val="1400"/>
              </a:spcBef>
              <a:buNone/>
            </a:pPr>
            <a:r>
              <a:rPr lang="en-US" sz="1300" b="1" i="1" dirty="0">
                <a:solidFill>
                  <a:srgbClr val="06D6A0"/>
                </a:solidFill>
                <a:latin typeface="Arial" pitchFamily="34" charset="0"/>
                <a:ea typeface="Arial" pitchFamily="34" charset="-122"/>
                <a:cs typeface="Arial" pitchFamily="34" charset="-120"/>
              </a:rPr>
              <a:t>Honest read:</a:t>
            </a:r>
            <a:pPr algn="l" indent="0" marL="0">
              <a:lnSpc>
                <a:spcPts val="1820"/>
              </a:lnSpc>
              <a:spcBef>
                <a:spcPts val="1400"/>
              </a:spcBef>
              <a:buNone/>
            </a:pPr>
            <a:r>
              <a:rPr lang="en-US" sz="1300" dirty="0">
                <a:solidFill>
                  <a:srgbClr val="F4F4FB"/>
                </a:solidFill>
                <a:latin typeface="Arial" pitchFamily="34" charset="0"/>
                <a:ea typeface="Arial" pitchFamily="34" charset="-122"/>
                <a:cs typeface="Arial" pitchFamily="34" charset="-120"/>
              </a:rPr>
              <a:t> works great on typical conditions and is cheap to run — the hard cases are what's left.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EF476F"/>
          </a:solidFill>
          <a:ln/>
        </p:spPr>
        <p:txBody>
          <a:bodyPr wrap="square" rtlCol="0" anchor="ctr"/>
          <a:lstStyle/>
          <a:p>
            <a:pPr indent="0" marL="0">
              <a:buNone/>
            </a:pPr>
            <a:endParaRPr lang="en-US" dirty="0"/>
          </a:p>
        </p:txBody>
      </p:sp>
      <p:sp>
        <p:nvSpPr>
          <p:cNvPr id="3" name="Text 1"/>
          <p:cNvSpPr/>
          <p:nvPr/>
        </p:nvSpPr>
        <p:spPr>
          <a:xfrm>
            <a:off x="685651" y="330101"/>
            <a:ext cx="8057641" cy="171450"/>
          </a:xfrm>
          <a:prstGeom prst="rect">
            <a:avLst/>
          </a:prstGeom>
          <a:noFill/>
          <a:ln/>
        </p:spPr>
        <p:txBody>
          <a:bodyPr wrap="square" lIns="0" tIns="0" rIns="0" bIns="0" rtlCol="0" anchor="t"/>
          <a:lstStyle/>
          <a:p>
            <a:pPr algn="l" indent="0" marL="0">
              <a:spcAft>
                <a:spcPts val="800"/>
              </a:spcAft>
              <a:buNone/>
            </a:pPr>
            <a:r>
              <a:rPr lang="en-US" sz="1200" dirty="0">
                <a:solidFill>
                  <a:srgbClr val="EF476F"/>
                </a:solidFill>
                <a:latin typeface="Courier New" pitchFamily="34" charset="0"/>
                <a:ea typeface="Courier New" pitchFamily="34" charset="-122"/>
                <a:cs typeface="Courier New" pitchFamily="34" charset="-120"/>
              </a:rPr>
              <a:t>03 · HONEST LIMITS</a:t>
            </a:r>
            <a:endParaRPr lang="en-US" sz="1200" dirty="0"/>
          </a:p>
        </p:txBody>
      </p:sp>
      <p:sp>
        <p:nvSpPr>
          <p:cNvPr id="4" name="Text 2"/>
          <p:cNvSpPr/>
          <p:nvPr/>
        </p:nvSpPr>
        <p:spPr>
          <a:xfrm>
            <a:off x="685651" y="603052"/>
            <a:ext cx="8057641" cy="466725"/>
          </a:xfrm>
          <a:prstGeom prst="rect">
            <a:avLst/>
          </a:prstGeom>
          <a:noFill/>
          <a:ln/>
        </p:spPr>
        <p:txBody>
          <a:bodyPr wrap="square" lIns="0" tIns="0" rIns="0" bIns="0" rtlCol="0" anchor="t"/>
          <a:lstStyle/>
          <a:p>
            <a:pPr algn="l" indent="0" marL="0">
              <a:spcAft>
                <a:spcPts val="200"/>
              </a:spcAft>
              <a:buNone/>
            </a:pPr>
            <a:r>
              <a:rPr lang="en-US" sz="3200" b="1" dirty="0">
                <a:solidFill>
                  <a:srgbClr val="F4F4FB"/>
                </a:solidFill>
                <a:latin typeface="Arial" pitchFamily="34" charset="0"/>
                <a:ea typeface="Arial" pitchFamily="34" charset="-122"/>
                <a:cs typeface="Arial" pitchFamily="34" charset="-120"/>
              </a:rPr>
              <a:t>What the system still can't do</a:t>
            </a:r>
            <a:endParaRPr lang="en-US" sz="3200" dirty="0"/>
          </a:p>
        </p:txBody>
      </p:sp>
      <p:sp>
        <p:nvSpPr>
          <p:cNvPr id="5" name="Text 3"/>
          <p:cNvSpPr/>
          <p:nvPr/>
        </p:nvSpPr>
        <p:spPr>
          <a:xfrm>
            <a:off x="685651" y="1095077"/>
            <a:ext cx="8057641" cy="200025"/>
          </a:xfrm>
          <a:prstGeom prst="rect">
            <a:avLst/>
          </a:prstGeom>
          <a:noFill/>
          <a:ln/>
        </p:spPr>
        <p:txBody>
          <a:bodyPr wrap="square" lIns="0" tIns="0" rIns="0" bIns="0" rtlCol="0" anchor="t"/>
          <a:lstStyle/>
          <a:p>
            <a:pPr algn="l" indent="0" marL="0">
              <a:spcAft>
                <a:spcPts val="1600"/>
              </a:spcAft>
              <a:buNone/>
            </a:pPr>
            <a:r>
              <a:rPr lang="en-US" sz="1300" b="1" dirty="0">
                <a:solidFill>
                  <a:srgbClr val="9D4EDD"/>
                </a:solidFill>
                <a:latin typeface="Arial" pitchFamily="34" charset="0"/>
                <a:ea typeface="Arial" pitchFamily="34" charset="-122"/>
                <a:cs typeface="Arial" pitchFamily="34" charset="-120"/>
              </a:rPr>
              <a:t>Being honest about the edges — this is the frontier, not a finished product.</a:t>
            </a:r>
            <a:endParaRPr lang="en-US" sz="1300" dirty="0"/>
          </a:p>
        </p:txBody>
      </p:sp>
      <p:sp>
        <p:nvSpPr>
          <p:cNvPr id="6" name="Text 4"/>
          <p:cNvSpPr/>
          <p:nvPr/>
        </p:nvSpPr>
        <p:spPr>
          <a:xfrm>
            <a:off x="685651" y="1498253"/>
            <a:ext cx="3810149" cy="2130921"/>
          </a:xfrm>
          <a:prstGeom prst="roundRect">
            <a:avLst>
              <a:gd name="adj" fmla="val 4768"/>
            </a:avLst>
          </a:prstGeom>
          <a:solidFill>
            <a:srgbClr val="25253D"/>
          </a:solidFill>
          <a:ln/>
        </p:spPr>
        <p:txBody>
          <a:bodyPr wrap="square" rtlCol="0" anchor="ctr"/>
          <a:lstStyle/>
          <a:p>
            <a:pPr indent="0" marL="0">
              <a:buNone/>
            </a:pPr>
            <a:endParaRPr lang="en-US" dirty="0"/>
          </a:p>
        </p:txBody>
      </p:sp>
      <p:sp>
        <p:nvSpPr>
          <p:cNvPr id="7" name="Shape 5"/>
          <p:cNvSpPr/>
          <p:nvPr/>
        </p:nvSpPr>
        <p:spPr>
          <a:xfrm>
            <a:off x="723751" y="1498253"/>
            <a:ext cx="0" cy="2130921"/>
          </a:xfrm>
          <a:prstGeom prst="line">
            <a:avLst/>
          </a:prstGeom>
          <a:noFill/>
          <a:ln w="76200">
            <a:solidFill>
              <a:srgbClr val="EF476F"/>
            </a:solidFill>
            <a:prstDash val="solid"/>
          </a:ln>
        </p:spPr>
      </p:sp>
      <p:sp>
        <p:nvSpPr>
          <p:cNvPr id="8" name="Text 6"/>
          <p:cNvSpPr/>
          <p:nvPr/>
        </p:nvSpPr>
        <p:spPr>
          <a:xfrm>
            <a:off x="1041202" y="1701403"/>
            <a:ext cx="3238753" cy="142875"/>
          </a:xfrm>
          <a:prstGeom prst="rect">
            <a:avLst/>
          </a:prstGeom>
          <a:noFill/>
          <a:ln/>
        </p:spPr>
        <p:txBody>
          <a:bodyPr wrap="square" lIns="0" tIns="0" rIns="0" bIns="0" rtlCol="0" anchor="t"/>
          <a:lstStyle/>
          <a:p>
            <a:pPr algn="l" indent="0" marL="0">
              <a:spcAft>
                <a:spcPts val="400"/>
              </a:spcAft>
              <a:buNone/>
            </a:pPr>
            <a:r>
              <a:rPr lang="en-US" sz="1000" dirty="0">
                <a:solidFill>
                  <a:srgbClr val="EF476F"/>
                </a:solidFill>
                <a:latin typeface="Courier New" pitchFamily="34" charset="0"/>
                <a:ea typeface="Courier New" pitchFamily="34" charset="-122"/>
                <a:cs typeface="Courier New" pitchFamily="34" charset="-120"/>
              </a:rPr>
              <a:t>WORST-CASE TOP-1</a:t>
            </a:r>
            <a:endParaRPr lang="en-US" sz="1000" dirty="0"/>
          </a:p>
        </p:txBody>
      </p:sp>
      <p:sp>
        <p:nvSpPr>
          <p:cNvPr id="9" name="Text 7"/>
          <p:cNvSpPr/>
          <p:nvPr/>
        </p:nvSpPr>
        <p:spPr>
          <a:xfrm>
            <a:off x="1041202" y="1895029"/>
            <a:ext cx="3238753" cy="736550"/>
          </a:xfrm>
          <a:prstGeom prst="rect">
            <a:avLst/>
          </a:prstGeom>
          <a:noFill/>
          <a:ln/>
        </p:spPr>
        <p:txBody>
          <a:bodyPr wrap="square" lIns="0" tIns="0" rIns="0" bIns="0" rtlCol="0" anchor="t"/>
          <a:lstStyle/>
          <a:p>
            <a:pPr algn="l" indent="0" marL="0">
              <a:lnSpc>
                <a:spcPts val="5800"/>
              </a:lnSpc>
              <a:buNone/>
            </a:pPr>
            <a:r>
              <a:rPr lang="en-US" sz="5800" b="1" dirty="0">
                <a:solidFill>
                  <a:srgbClr val="EF476F"/>
                </a:solidFill>
                <a:latin typeface="Courier New" pitchFamily="34" charset="0"/>
                <a:ea typeface="Courier New" pitchFamily="34" charset="-122"/>
                <a:cs typeface="Courier New" pitchFamily="34" charset="-120"/>
              </a:rPr>
              <a:t>~1%</a:t>
            </a:r>
            <a:endParaRPr lang="en-US" sz="5800" dirty="0"/>
          </a:p>
        </p:txBody>
      </p:sp>
      <p:sp>
        <p:nvSpPr>
          <p:cNvPr id="10" name="Text 8"/>
          <p:cNvSpPr/>
          <p:nvPr/>
        </p:nvSpPr>
        <p:spPr>
          <a:xfrm>
            <a:off x="1041202" y="2733080"/>
            <a:ext cx="3238753" cy="692944"/>
          </a:xfrm>
          <a:prstGeom prst="rect">
            <a:avLst/>
          </a:prstGeom>
          <a:noFill/>
          <a:ln/>
        </p:spPr>
        <p:txBody>
          <a:bodyPr wrap="square" lIns="0" tIns="0" rIns="0" bIns="0" rtlCol="0" anchor="t"/>
          <a:lstStyle/>
          <a:p>
            <a:pPr algn="l" indent="0" marL="0">
              <a:lnSpc>
                <a:spcPts val="1820"/>
              </a:lnSpc>
              <a:spcBef>
                <a:spcPts val="800"/>
              </a:spcBef>
              <a:buNone/>
            </a:pPr>
            <a:r>
              <a:rPr lang="en-US" sz="1300" dirty="0">
                <a:solidFill>
                  <a:srgbClr val="F4F4FB"/>
                </a:solidFill>
                <a:latin typeface="Arial" pitchFamily="34" charset="0"/>
                <a:ea typeface="Arial" pitchFamily="34" charset="-122"/>
                <a:cs typeface="Arial" pitchFamily="34" charset="-120"/>
              </a:rPr>
              <a:t>When the query is </a:t>
            </a:r>
            <a:pPr algn="l" indent="0" marL="0">
              <a:lnSpc>
                <a:spcPts val="1820"/>
              </a:lnSpc>
              <a:spcBef>
                <a:spcPts val="800"/>
              </a:spcBef>
              <a:buNone/>
            </a:pPr>
            <a:r>
              <a:rPr lang="en-US" sz="1300" b="1" dirty="0">
                <a:solidFill>
                  <a:srgbClr val="F4F4FB"/>
                </a:solidFill>
                <a:latin typeface="Arial" pitchFamily="34" charset="0"/>
                <a:ea typeface="Arial" pitchFamily="34" charset="-122"/>
                <a:cs typeface="Arial" pitchFamily="34" charset="-120"/>
              </a:rPr>
              <a:t>short</a:t>
            </a:r>
            <a:pPr algn="l" indent="0" marL="0">
              <a:lnSpc>
                <a:spcPts val="1820"/>
              </a:lnSpc>
              <a:spcBef>
                <a:spcPts val="800"/>
              </a:spcBef>
              <a:buNone/>
            </a:pPr>
            <a:r>
              <a:rPr lang="en-US" sz="1300" dirty="0">
                <a:solidFill>
                  <a:srgbClr val="F4F4FB"/>
                </a:solidFill>
                <a:latin typeface="Arial" pitchFamily="34" charset="0"/>
                <a:ea typeface="Arial" pitchFamily="34" charset="-122"/>
                <a:cs typeface="Arial" pitchFamily="34" charset="-120"/>
              </a:rPr>
              <a:t>, </a:t>
            </a:r>
            <a:pPr algn="l" indent="0" marL="0">
              <a:lnSpc>
                <a:spcPts val="1820"/>
              </a:lnSpc>
              <a:spcBef>
                <a:spcPts val="800"/>
              </a:spcBef>
              <a:buNone/>
            </a:pPr>
            <a:r>
              <a:rPr lang="en-US" sz="1300" b="1" dirty="0">
                <a:solidFill>
                  <a:srgbClr val="F4F4FB"/>
                </a:solidFill>
                <a:latin typeface="Arial" pitchFamily="34" charset="0"/>
                <a:ea typeface="Arial" pitchFamily="34" charset="-122"/>
                <a:cs typeface="Arial" pitchFamily="34" charset="-120"/>
              </a:rPr>
              <a:t>off-center</a:t>
            </a:r>
            <a:pPr algn="l" indent="0" marL="0">
              <a:lnSpc>
                <a:spcPts val="1820"/>
              </a:lnSpc>
              <a:spcBef>
                <a:spcPts val="800"/>
              </a:spcBef>
              <a:buNone/>
            </a:pPr>
            <a:r>
              <a:rPr lang="en-US" sz="1300" dirty="0">
                <a:solidFill>
                  <a:srgbClr val="F4F4FB"/>
                </a:solidFill>
                <a:latin typeface="Arial" pitchFamily="34" charset="0"/>
                <a:ea typeface="Arial" pitchFamily="34" charset="-122"/>
                <a:cs typeface="Arial" pitchFamily="34" charset="-120"/>
              </a:rPr>
              <a:t>, and </a:t>
            </a:r>
            <a:pPr algn="l" indent="0" marL="0">
              <a:lnSpc>
                <a:spcPts val="1820"/>
              </a:lnSpc>
              <a:spcBef>
                <a:spcPts val="800"/>
              </a:spcBef>
              <a:buNone/>
            </a:pPr>
            <a:r>
              <a:rPr lang="en-US" sz="1300" b="1" dirty="0">
                <a:solidFill>
                  <a:srgbClr val="F4F4FB"/>
                </a:solidFill>
                <a:latin typeface="Arial" pitchFamily="34" charset="0"/>
                <a:ea typeface="Arial" pitchFamily="34" charset="-122"/>
                <a:cs typeface="Arial" pitchFamily="34" charset="-120"/>
              </a:rPr>
              <a:t>high-pass filtered</a:t>
            </a:r>
            <a:pPr algn="l" indent="0" marL="0">
              <a:lnSpc>
                <a:spcPts val="1820"/>
              </a:lnSpc>
              <a:spcBef>
                <a:spcPts val="800"/>
              </a:spcBef>
              <a:buNone/>
            </a:pPr>
            <a:r>
              <a:rPr lang="en-US" sz="1300" dirty="0">
                <a:solidFill>
                  <a:srgbClr val="F4F4FB"/>
                </a:solidFill>
                <a:latin typeface="Arial" pitchFamily="34" charset="0"/>
                <a:ea typeface="Arial" pitchFamily="34" charset="-122"/>
                <a:cs typeface="Arial" pitchFamily="34" charset="-120"/>
              </a:rPr>
              <a:t> — the system essentially guesses.</a:t>
            </a:r>
            <a:endParaRPr lang="en-US" sz="1300" dirty="0"/>
          </a:p>
        </p:txBody>
      </p:sp>
      <p:sp>
        <p:nvSpPr>
          <p:cNvPr id="11" name="Text 9"/>
          <p:cNvSpPr/>
          <p:nvPr/>
        </p:nvSpPr>
        <p:spPr>
          <a:xfrm>
            <a:off x="4775150" y="1498253"/>
            <a:ext cx="3886352" cy="219075"/>
          </a:xfrm>
          <a:prstGeom prst="rect">
            <a:avLst/>
          </a:prstGeom>
          <a:noFill/>
          <a:ln/>
        </p:spPr>
        <p:txBody>
          <a:bodyPr wrap="square" lIns="0" tIns="0" rIns="0" bIns="0" rtlCol="0" anchor="t"/>
          <a:lstStyle/>
          <a:p>
            <a:pPr algn="l" indent="0" marL="0">
              <a:spcAft>
                <a:spcPts val="800"/>
              </a:spcAft>
              <a:buNone/>
            </a:pPr>
            <a:r>
              <a:rPr lang="en-US" sz="1500" b="1" dirty="0">
                <a:solidFill>
                  <a:srgbClr val="F4F4FB"/>
                </a:solidFill>
                <a:latin typeface="Arial" pitchFamily="34" charset="0"/>
                <a:ea typeface="Arial" pitchFamily="34" charset="-122"/>
                <a:cs typeface="Arial" pitchFamily="34" charset="-120"/>
              </a:rPr>
              <a:t>Three failure modes remain:</a:t>
            </a:r>
            <a:endParaRPr lang="en-US" sz="1500" dirty="0"/>
          </a:p>
        </p:txBody>
      </p:sp>
      <p:sp>
        <p:nvSpPr>
          <p:cNvPr id="12" name="Text 10"/>
          <p:cNvSpPr/>
          <p:nvPr/>
        </p:nvSpPr>
        <p:spPr>
          <a:xfrm>
            <a:off x="5003750" y="1818829"/>
            <a:ext cx="3581549" cy="2000250"/>
          </a:xfrm>
          <a:prstGeom prst="rect">
            <a:avLst/>
          </a:prstGeom>
          <a:noFill/>
          <a:ln/>
        </p:spPr>
        <p:txBody>
          <a:bodyPr wrap="square" lIns="0" tIns="0" rIns="0" bIns="0" rtlCol="0" anchor="t"/>
          <a:lstStyle/>
          <a:p>
            <a:pPr algn="l" marL="342900" indent="-342900">
              <a:lnSpc>
                <a:spcPts val="1820"/>
              </a:lnSpc>
              <a:spcAft>
                <a:spcPts val="600"/>
              </a:spcAft>
              <a:buSzPct val="100000"/>
              <a:buChar char="•"/>
            </a:pPr>
            <a:r>
              <a:rPr lang="en-US" sz="1300" b="1" dirty="0">
                <a:solidFill>
                  <a:srgbClr val="EF476F"/>
                </a:solidFill>
                <a:latin typeface="Arial" pitchFamily="34" charset="0"/>
                <a:ea typeface="Arial" pitchFamily="34" charset="-122"/>
                <a:cs typeface="Arial" pitchFamily="34" charset="-120"/>
              </a:rPr>
              <a:t>Short, filtered queries.</a:t>
            </a:r>
            <a:pPr algn="l" indent="0" marL="0">
              <a:lnSpc>
                <a:spcPts val="1820"/>
              </a:lnSpc>
              <a:spcAft>
                <a:spcPts val="600"/>
              </a:spcAft>
              <a:buNone/>
            </a:pPr>
            <a:r>
              <a:rPr lang="en-US" sz="1300" dirty="0">
                <a:solidFill>
                  <a:srgbClr val="F4F4FB"/>
                </a:solidFill>
                <a:latin typeface="Arial" pitchFamily="34" charset="0"/>
                <a:ea typeface="Arial" pitchFamily="34" charset="-122"/>
                <a:cs typeface="Arial" pitchFamily="34" charset="-120"/>
              </a:rPr>
              <a:t> 1-second clips with the bass cut out confuse every model we tested.</a:t>
            </a:r>
            <a:endParaRPr lang="en-US" sz="1300" dirty="0"/>
          </a:p>
          <a:p>
            <a:pPr algn="l" marL="342900" indent="-342900">
              <a:lnSpc>
                <a:spcPts val="1820"/>
              </a:lnSpc>
              <a:spcAft>
                <a:spcPts val="600"/>
              </a:spcAft>
              <a:buSzPct val="100000"/>
              <a:buChar char="•"/>
            </a:pPr>
            <a:r>
              <a:rPr lang="en-US" sz="1300" b="1" dirty="0">
                <a:solidFill>
                  <a:srgbClr val="EF476F"/>
                </a:solidFill>
                <a:latin typeface="Arial" pitchFamily="34" charset="0"/>
                <a:ea typeface="Arial" pitchFamily="34" charset="-122"/>
                <a:cs typeface="Arial" pitchFamily="34" charset="-120"/>
              </a:rPr>
              <a:t>Fragmented evidence.</a:t>
            </a:r>
            <a:pPr algn="l" indent="0" marL="0">
              <a:lnSpc>
                <a:spcPts val="1820"/>
              </a:lnSpc>
              <a:spcAft>
                <a:spcPts val="600"/>
              </a:spcAft>
              <a:buNone/>
            </a:pPr>
            <a:r>
              <a:rPr lang="en-US" sz="1300" dirty="0">
                <a:solidFill>
                  <a:srgbClr val="F4F4FB"/>
                </a:solidFill>
                <a:latin typeface="Arial" pitchFamily="34" charset="0"/>
                <a:ea typeface="Arial" pitchFamily="34" charset="-122"/>
                <a:cs typeface="Arial" pitchFamily="34" charset="-120"/>
              </a:rPr>
              <a:t> Multi-segment queries from the same song, broken into 1–2s chunks, rarely align.</a:t>
            </a:r>
            <a:endParaRPr lang="en-US" sz="1300" dirty="0"/>
          </a:p>
          <a:p>
            <a:pPr algn="l" marL="342900" indent="-342900">
              <a:lnSpc>
                <a:spcPts val="1820"/>
              </a:lnSpc>
              <a:spcAft>
                <a:spcPts val="600"/>
              </a:spcAft>
              <a:buSzPct val="100000"/>
              <a:buChar char="•"/>
            </a:pPr>
            <a:r>
              <a:rPr lang="en-US" sz="1300" b="1" dirty="0">
                <a:solidFill>
                  <a:srgbClr val="EF476F"/>
                </a:solidFill>
                <a:latin typeface="Arial" pitchFamily="34" charset="0"/>
                <a:ea typeface="Arial" pitchFamily="34" charset="-122"/>
                <a:cs typeface="Arial" pitchFamily="34" charset="-120"/>
              </a:rPr>
              <a:t>Off-center misalignment.</a:t>
            </a:r>
            <a:pPr algn="l" indent="0" marL="0">
              <a:lnSpc>
                <a:spcPts val="1820"/>
              </a:lnSpc>
              <a:spcAft>
                <a:spcPts val="600"/>
              </a:spcAft>
              <a:buNone/>
            </a:pPr>
            <a:r>
              <a:rPr lang="en-US" sz="1300" dirty="0">
                <a:solidFill>
                  <a:srgbClr val="F4F4FB"/>
                </a:solidFill>
                <a:latin typeface="Arial" pitchFamily="34" charset="0"/>
                <a:ea typeface="Arial" pitchFamily="34" charset="-122"/>
                <a:cs typeface="Arial" pitchFamily="34" charset="-120"/>
              </a:rPr>
              <a:t> Starting a query mid-chorus instead of at a beat is still disproportionately hard.</a:t>
            </a:r>
            <a:endParaRPr lang="en-US" sz="1300" dirty="0"/>
          </a:p>
        </p:txBody>
      </p:sp>
      <p:sp>
        <p:nvSpPr>
          <p:cNvPr id="13" name="Text 11"/>
          <p:cNvSpPr/>
          <p:nvPr/>
        </p:nvSpPr>
        <p:spPr>
          <a:xfrm>
            <a:off x="4775150" y="3946029"/>
            <a:ext cx="3886352" cy="426541"/>
          </a:xfrm>
          <a:prstGeom prst="rect">
            <a:avLst/>
          </a:prstGeom>
          <a:noFill/>
          <a:ln/>
        </p:spPr>
        <p:txBody>
          <a:bodyPr wrap="square" lIns="0" tIns="0" rIns="0" bIns="0" rtlCol="0" anchor="t"/>
          <a:lstStyle/>
          <a:p>
            <a:pPr algn="l" indent="0" marL="0">
              <a:lnSpc>
                <a:spcPts val="1680"/>
              </a:lnSpc>
              <a:spcBef>
                <a:spcPts val="1000"/>
              </a:spcBef>
              <a:buNone/>
            </a:pPr>
            <a:r>
              <a:rPr lang="en-US" sz="1200" i="1" dirty="0">
                <a:solidFill>
                  <a:srgbClr val="9D4EDD"/>
                </a:solidFill>
                <a:latin typeface="Arial" pitchFamily="34" charset="0"/>
                <a:ea typeface="Arial" pitchFamily="34" charset="-122"/>
                <a:cs typeface="Arial" pitchFamily="34" charset="-120"/>
              </a:rPr>
              <a:t>Frozen MERT holds a better worst-case floor (5.9% vs 1.5%) — different trade-off, not dominated.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34901" y="304800"/>
            <a:ext cx="8161172" cy="171450"/>
          </a:xfrm>
          <a:prstGeom prst="rect">
            <a:avLst/>
          </a:prstGeom>
          <a:noFill/>
          <a:ln/>
        </p:spPr>
        <p:txBody>
          <a:bodyPr wrap="square" lIns="0" tIns="0" rIns="0" bIns="0" rtlCol="0" anchor="t"/>
          <a:lstStyle/>
          <a:p>
            <a:pPr algn="l" indent="0" marL="0">
              <a:spcAft>
                <a:spcPts val="600"/>
              </a:spcAft>
              <a:buNone/>
            </a:pPr>
            <a:r>
              <a:rPr lang="en-US" sz="1200" dirty="0">
                <a:solidFill>
                  <a:srgbClr val="06D6A0"/>
                </a:solidFill>
                <a:latin typeface="Courier New" pitchFamily="34" charset="0"/>
                <a:ea typeface="Courier New" pitchFamily="34" charset="-122"/>
                <a:cs typeface="Courier New" pitchFamily="34" charset="-120"/>
              </a:rPr>
              <a:t>04 · TAKEAWAYS</a:t>
            </a:r>
            <a:endParaRPr lang="en-US" sz="1200" dirty="0"/>
          </a:p>
        </p:txBody>
      </p:sp>
      <p:sp>
        <p:nvSpPr>
          <p:cNvPr id="4" name="Text 2"/>
          <p:cNvSpPr/>
          <p:nvPr/>
        </p:nvSpPr>
        <p:spPr>
          <a:xfrm>
            <a:off x="634901" y="552450"/>
            <a:ext cx="8161172" cy="466725"/>
          </a:xfrm>
          <a:prstGeom prst="rect">
            <a:avLst/>
          </a:prstGeom>
          <a:noFill/>
          <a:ln/>
        </p:spPr>
        <p:txBody>
          <a:bodyPr wrap="square" lIns="0" tIns="0" rIns="0" bIns="0" rtlCol="0" anchor="t"/>
          <a:lstStyle/>
          <a:p>
            <a:pPr algn="l" indent="0" marL="0">
              <a:spcAft>
                <a:spcPts val="1400"/>
              </a:spcAft>
              <a:buNone/>
            </a:pPr>
            <a:r>
              <a:rPr lang="en-US" sz="3200" b="1" dirty="0">
                <a:solidFill>
                  <a:srgbClr val="F4F4FB"/>
                </a:solidFill>
                <a:latin typeface="Arial" pitchFamily="34" charset="0"/>
                <a:ea typeface="Arial" pitchFamily="34" charset="-122"/>
                <a:cs typeface="Arial" pitchFamily="34" charset="-120"/>
              </a:rPr>
              <a:t>Three lessons &amp; what's next</a:t>
            </a:r>
            <a:endParaRPr lang="en-US" sz="3200" dirty="0"/>
          </a:p>
        </p:txBody>
      </p:sp>
      <p:sp>
        <p:nvSpPr>
          <p:cNvPr id="5" name="Text 3"/>
          <p:cNvSpPr/>
          <p:nvPr/>
        </p:nvSpPr>
        <p:spPr>
          <a:xfrm>
            <a:off x="634901" y="1196876"/>
            <a:ext cx="3898999" cy="1081088"/>
          </a:xfrm>
          <a:prstGeom prst="roundRect">
            <a:avLst>
              <a:gd name="adj" fmla="val 7048"/>
            </a:avLst>
          </a:prstGeom>
          <a:solidFill>
            <a:srgbClr val="25253D"/>
          </a:solidFill>
          <a:ln/>
        </p:spPr>
        <p:txBody>
          <a:bodyPr wrap="square" rtlCol="0" anchor="ctr"/>
          <a:lstStyle/>
          <a:p>
            <a:pPr indent="0" marL="0">
              <a:buNone/>
            </a:pPr>
            <a:endParaRPr lang="en-US" dirty="0"/>
          </a:p>
        </p:txBody>
      </p:sp>
      <p:sp>
        <p:nvSpPr>
          <p:cNvPr id="6" name="Shape 4"/>
          <p:cNvSpPr/>
          <p:nvPr/>
        </p:nvSpPr>
        <p:spPr>
          <a:xfrm>
            <a:off x="663476" y="1196876"/>
            <a:ext cx="0" cy="1081088"/>
          </a:xfrm>
          <a:prstGeom prst="line">
            <a:avLst/>
          </a:prstGeom>
          <a:noFill/>
          <a:ln w="57150">
            <a:solidFill>
              <a:srgbClr val="06D6A0"/>
            </a:solidFill>
            <a:prstDash val="solid"/>
          </a:ln>
        </p:spPr>
      </p:sp>
      <p:sp>
        <p:nvSpPr>
          <p:cNvPr id="7" name="Text 5"/>
          <p:cNvSpPr/>
          <p:nvPr/>
        </p:nvSpPr>
        <p:spPr>
          <a:xfrm>
            <a:off x="920651" y="1323826"/>
            <a:ext cx="3452342"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LESSON 01</a:t>
            </a:r>
            <a:endParaRPr lang="en-US" sz="1000" dirty="0"/>
          </a:p>
        </p:txBody>
      </p:sp>
      <p:sp>
        <p:nvSpPr>
          <p:cNvPr id="8" name="Text 6"/>
          <p:cNvSpPr/>
          <p:nvPr/>
        </p:nvSpPr>
        <p:spPr>
          <a:xfrm>
            <a:off x="920651" y="1492002"/>
            <a:ext cx="3452342" cy="209550"/>
          </a:xfrm>
          <a:prstGeom prst="rect">
            <a:avLst/>
          </a:prstGeom>
          <a:noFill/>
          <a:ln/>
        </p:spPr>
        <p:txBody>
          <a:bodyPr wrap="square" lIns="0" tIns="0" rIns="0" bIns="0" rtlCol="0" anchor="t"/>
          <a:lstStyle/>
          <a:p>
            <a:pPr algn="l" indent="0" marL="0">
              <a:spcAft>
                <a:spcPts val="300"/>
              </a:spcAft>
              <a:buNone/>
            </a:pPr>
            <a:r>
              <a:rPr lang="en-US" sz="1400" b="1" dirty="0">
                <a:solidFill>
                  <a:srgbClr val="F4F4FB"/>
                </a:solidFill>
                <a:latin typeface="Arial" pitchFamily="34" charset="0"/>
                <a:ea typeface="Arial" pitchFamily="34" charset="-122"/>
                <a:cs typeface="Arial" pitchFamily="34" charset="-120"/>
              </a:rPr>
              <a:t>Benchmarks shape conclusions.</a:t>
            </a:r>
            <a:endParaRPr lang="en-US" sz="1400" dirty="0"/>
          </a:p>
        </p:txBody>
      </p:sp>
      <p:sp>
        <p:nvSpPr>
          <p:cNvPr id="9" name="Text 7"/>
          <p:cNvSpPr/>
          <p:nvPr/>
        </p:nvSpPr>
        <p:spPr>
          <a:xfrm>
            <a:off x="920651" y="1739652"/>
            <a:ext cx="3452342"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Easy tests made the transformer look best. Harder tests flipped the verdict.</a:t>
            </a:r>
            <a:endParaRPr lang="en-US" sz="1200" dirty="0"/>
          </a:p>
        </p:txBody>
      </p:sp>
      <p:sp>
        <p:nvSpPr>
          <p:cNvPr id="10" name="Text 8"/>
          <p:cNvSpPr/>
          <p:nvPr/>
        </p:nvSpPr>
        <p:spPr>
          <a:xfrm>
            <a:off x="634901" y="2379464"/>
            <a:ext cx="3898999" cy="1081088"/>
          </a:xfrm>
          <a:prstGeom prst="roundRect">
            <a:avLst>
              <a:gd name="adj" fmla="val 7048"/>
            </a:avLst>
          </a:prstGeom>
          <a:solidFill>
            <a:srgbClr val="25253D"/>
          </a:solidFill>
          <a:ln/>
        </p:spPr>
        <p:txBody>
          <a:bodyPr wrap="square" rtlCol="0" anchor="ctr"/>
          <a:lstStyle/>
          <a:p>
            <a:pPr indent="0" marL="0">
              <a:buNone/>
            </a:pPr>
            <a:endParaRPr lang="en-US" dirty="0"/>
          </a:p>
        </p:txBody>
      </p:sp>
      <p:sp>
        <p:nvSpPr>
          <p:cNvPr id="11" name="Shape 9"/>
          <p:cNvSpPr/>
          <p:nvPr/>
        </p:nvSpPr>
        <p:spPr>
          <a:xfrm>
            <a:off x="663476" y="2379464"/>
            <a:ext cx="0" cy="1081087"/>
          </a:xfrm>
          <a:prstGeom prst="line">
            <a:avLst/>
          </a:prstGeom>
          <a:noFill/>
          <a:ln w="57150">
            <a:solidFill>
              <a:srgbClr val="06D6A0"/>
            </a:solidFill>
            <a:prstDash val="solid"/>
          </a:ln>
        </p:spPr>
      </p:sp>
      <p:sp>
        <p:nvSpPr>
          <p:cNvPr id="12" name="Text 10"/>
          <p:cNvSpPr/>
          <p:nvPr/>
        </p:nvSpPr>
        <p:spPr>
          <a:xfrm>
            <a:off x="920651" y="2506414"/>
            <a:ext cx="3452342"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LESSON 02</a:t>
            </a:r>
            <a:endParaRPr lang="en-US" sz="1000" dirty="0"/>
          </a:p>
        </p:txBody>
      </p:sp>
      <p:sp>
        <p:nvSpPr>
          <p:cNvPr id="13" name="Text 11"/>
          <p:cNvSpPr/>
          <p:nvPr/>
        </p:nvSpPr>
        <p:spPr>
          <a:xfrm>
            <a:off x="920651" y="2674590"/>
            <a:ext cx="3452342" cy="209550"/>
          </a:xfrm>
          <a:prstGeom prst="rect">
            <a:avLst/>
          </a:prstGeom>
          <a:noFill/>
          <a:ln/>
        </p:spPr>
        <p:txBody>
          <a:bodyPr wrap="square" lIns="0" tIns="0" rIns="0" bIns="0" rtlCol="0" anchor="t"/>
          <a:lstStyle/>
          <a:p>
            <a:pPr algn="l" indent="0" marL="0">
              <a:spcAft>
                <a:spcPts val="300"/>
              </a:spcAft>
              <a:buNone/>
            </a:pPr>
            <a:r>
              <a:rPr lang="en-US" sz="1400" b="1" dirty="0">
                <a:solidFill>
                  <a:srgbClr val="F4F4FB"/>
                </a:solidFill>
                <a:latin typeface="Arial" pitchFamily="34" charset="0"/>
                <a:ea typeface="Arial" pitchFamily="34" charset="-122"/>
                <a:cs typeface="Arial" pitchFamily="34" charset="-120"/>
              </a:rPr>
              <a:t>Augmentation &gt; architecture.</a:t>
            </a:r>
            <a:endParaRPr lang="en-US" sz="1400" dirty="0"/>
          </a:p>
        </p:txBody>
      </p:sp>
      <p:sp>
        <p:nvSpPr>
          <p:cNvPr id="14" name="Text 12"/>
          <p:cNvSpPr/>
          <p:nvPr/>
        </p:nvSpPr>
        <p:spPr>
          <a:xfrm>
            <a:off x="920651" y="2922240"/>
            <a:ext cx="3452342"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The training diet shaped robustness more than the model family.</a:t>
            </a:r>
            <a:endParaRPr lang="en-US" sz="1200" dirty="0"/>
          </a:p>
        </p:txBody>
      </p:sp>
      <p:sp>
        <p:nvSpPr>
          <p:cNvPr id="15" name="Text 13"/>
          <p:cNvSpPr/>
          <p:nvPr/>
        </p:nvSpPr>
        <p:spPr>
          <a:xfrm>
            <a:off x="634901" y="3562052"/>
            <a:ext cx="3898999" cy="1081088"/>
          </a:xfrm>
          <a:prstGeom prst="roundRect">
            <a:avLst>
              <a:gd name="adj" fmla="val 7048"/>
            </a:avLst>
          </a:prstGeom>
          <a:solidFill>
            <a:srgbClr val="25253D"/>
          </a:solidFill>
          <a:ln/>
        </p:spPr>
        <p:txBody>
          <a:bodyPr wrap="square" rtlCol="0" anchor="ctr"/>
          <a:lstStyle/>
          <a:p>
            <a:pPr indent="0" marL="0">
              <a:buNone/>
            </a:pPr>
            <a:endParaRPr lang="en-US" dirty="0"/>
          </a:p>
        </p:txBody>
      </p:sp>
      <p:sp>
        <p:nvSpPr>
          <p:cNvPr id="16" name="Shape 14"/>
          <p:cNvSpPr/>
          <p:nvPr/>
        </p:nvSpPr>
        <p:spPr>
          <a:xfrm>
            <a:off x="663476" y="3562052"/>
            <a:ext cx="0" cy="1081088"/>
          </a:xfrm>
          <a:prstGeom prst="line">
            <a:avLst/>
          </a:prstGeom>
          <a:noFill/>
          <a:ln w="57150">
            <a:solidFill>
              <a:srgbClr val="06D6A0"/>
            </a:solidFill>
            <a:prstDash val="solid"/>
          </a:ln>
        </p:spPr>
      </p:sp>
      <p:sp>
        <p:nvSpPr>
          <p:cNvPr id="17" name="Text 15"/>
          <p:cNvSpPr/>
          <p:nvPr/>
        </p:nvSpPr>
        <p:spPr>
          <a:xfrm>
            <a:off x="920651" y="3689003"/>
            <a:ext cx="3452342"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LESSON 03</a:t>
            </a:r>
            <a:endParaRPr lang="en-US" sz="1000" dirty="0"/>
          </a:p>
        </p:txBody>
      </p:sp>
      <p:sp>
        <p:nvSpPr>
          <p:cNvPr id="18" name="Text 16"/>
          <p:cNvSpPr/>
          <p:nvPr/>
        </p:nvSpPr>
        <p:spPr>
          <a:xfrm>
            <a:off x="920651" y="3857179"/>
            <a:ext cx="3452342" cy="209550"/>
          </a:xfrm>
          <a:prstGeom prst="rect">
            <a:avLst/>
          </a:prstGeom>
          <a:noFill/>
          <a:ln/>
        </p:spPr>
        <p:txBody>
          <a:bodyPr wrap="square" lIns="0" tIns="0" rIns="0" bIns="0" rtlCol="0" anchor="t"/>
          <a:lstStyle/>
          <a:p>
            <a:pPr algn="l" indent="0" marL="0">
              <a:spcAft>
                <a:spcPts val="300"/>
              </a:spcAft>
              <a:buNone/>
            </a:pPr>
            <a:r>
              <a:rPr lang="en-US" sz="1400" b="1" dirty="0">
                <a:solidFill>
                  <a:srgbClr val="F4F4FB"/>
                </a:solidFill>
                <a:latin typeface="Arial" pitchFamily="34" charset="0"/>
                <a:ea typeface="Arial" pitchFamily="34" charset="-122"/>
                <a:cs typeface="Arial" pitchFamily="34" charset="-120"/>
              </a:rPr>
              <a:t>Simple + smart beats complex.</a:t>
            </a:r>
            <a:endParaRPr lang="en-US" sz="1400" dirty="0"/>
          </a:p>
        </p:txBody>
      </p:sp>
      <p:sp>
        <p:nvSpPr>
          <p:cNvPr id="19" name="Text 17"/>
          <p:cNvSpPr/>
          <p:nvPr/>
        </p:nvSpPr>
        <p:spPr>
          <a:xfrm>
            <a:off x="920651" y="4104829"/>
            <a:ext cx="3452342" cy="411361"/>
          </a:xfrm>
          <a:prstGeom prst="rect">
            <a:avLst/>
          </a:prstGeom>
          <a:noFill/>
          <a:ln/>
        </p:spPr>
        <p:txBody>
          <a:bodyPr wrap="square" lIns="0" tIns="0" rIns="0" bIns="0" rtlCol="0" anchor="t"/>
          <a:lstStyle/>
          <a:p>
            <a:pPr algn="l" indent="0" marL="0">
              <a:lnSpc>
                <a:spcPts val="1620"/>
              </a:lnSpc>
              <a:buNone/>
            </a:pPr>
            <a:r>
              <a:rPr lang="en-US" sz="1200" dirty="0">
                <a:solidFill>
                  <a:srgbClr val="F4F4FB"/>
                </a:solidFill>
                <a:latin typeface="Arial" pitchFamily="34" charset="0"/>
                <a:ea typeface="Arial" pitchFamily="34" charset="-122"/>
                <a:cs typeface="Arial" pitchFamily="34" charset="-120"/>
              </a:rPr>
              <a:t>A plain CNN with multi-window indexing beat a 95M-param foundation model.</a:t>
            </a:r>
            <a:endParaRPr lang="en-US" sz="1200" dirty="0"/>
          </a:p>
        </p:txBody>
      </p:sp>
      <p:sp>
        <p:nvSpPr>
          <p:cNvPr id="20" name="Text 18"/>
          <p:cNvSpPr/>
          <p:nvPr/>
        </p:nvSpPr>
        <p:spPr>
          <a:xfrm>
            <a:off x="4737050" y="1196876"/>
            <a:ext cx="3898999" cy="3446264"/>
          </a:xfrm>
          <a:prstGeom prst="roundRect">
            <a:avLst>
              <a:gd name="adj" fmla="val 2211"/>
            </a:avLst>
          </a:prstGeom>
          <a:solidFill>
            <a:srgbClr val="25253D"/>
          </a:solidFill>
          <a:ln/>
        </p:spPr>
        <p:txBody>
          <a:bodyPr wrap="square" rtlCol="0" anchor="ctr"/>
          <a:lstStyle/>
          <a:p>
            <a:pPr indent="0" marL="0">
              <a:buNone/>
            </a:pPr>
            <a:endParaRPr lang="en-US" dirty="0"/>
          </a:p>
        </p:txBody>
      </p:sp>
      <p:sp>
        <p:nvSpPr>
          <p:cNvPr id="21" name="Shape 19"/>
          <p:cNvSpPr/>
          <p:nvPr/>
        </p:nvSpPr>
        <p:spPr>
          <a:xfrm>
            <a:off x="4765625" y="1196876"/>
            <a:ext cx="0" cy="3446264"/>
          </a:xfrm>
          <a:prstGeom prst="line">
            <a:avLst/>
          </a:prstGeom>
          <a:noFill/>
          <a:ln w="57150">
            <a:solidFill>
              <a:srgbClr val="9D4EDD"/>
            </a:solidFill>
            <a:prstDash val="solid"/>
          </a:ln>
        </p:spPr>
      </p:sp>
      <p:sp>
        <p:nvSpPr>
          <p:cNvPr id="22" name="Text 20"/>
          <p:cNvSpPr/>
          <p:nvPr/>
        </p:nvSpPr>
        <p:spPr>
          <a:xfrm>
            <a:off x="5022800" y="1349276"/>
            <a:ext cx="3452342" cy="152400"/>
          </a:xfrm>
          <a:prstGeom prst="rect">
            <a:avLst/>
          </a:prstGeom>
          <a:noFill/>
          <a:ln/>
        </p:spPr>
        <p:txBody>
          <a:bodyPr wrap="square" lIns="0" tIns="0" rIns="0" bIns="0" rtlCol="0" anchor="t"/>
          <a:lstStyle/>
          <a:p>
            <a:pPr algn="l" indent="0" marL="0">
              <a:spcAft>
                <a:spcPts val="800"/>
              </a:spcAft>
              <a:buNone/>
            </a:pPr>
            <a:r>
              <a:rPr lang="en-US" sz="1100" dirty="0">
                <a:solidFill>
                  <a:srgbClr val="9D4EDD"/>
                </a:solidFill>
                <a:latin typeface="Courier New" pitchFamily="34" charset="0"/>
                <a:ea typeface="Courier New" pitchFamily="34" charset="-122"/>
                <a:cs typeface="Courier New" pitchFamily="34" charset="-120"/>
              </a:rPr>
              <a:t>WHAT'S NEXT</a:t>
            </a:r>
            <a:endParaRPr lang="en-US" sz="1100" dirty="0"/>
          </a:p>
        </p:txBody>
      </p:sp>
      <p:sp>
        <p:nvSpPr>
          <p:cNvPr id="23" name="Text 21"/>
          <p:cNvSpPr/>
          <p:nvPr/>
        </p:nvSpPr>
        <p:spPr>
          <a:xfrm>
            <a:off x="5225951" y="1603177"/>
            <a:ext cx="3181499" cy="1874044"/>
          </a:xfrm>
          <a:prstGeom prst="rect">
            <a:avLst/>
          </a:prstGeom>
          <a:noFill/>
          <a:ln/>
        </p:spPr>
        <p:txBody>
          <a:bodyPr wrap="square" lIns="0" tIns="0" rIns="0" bIns="0" rtlCol="0" anchor="t"/>
          <a:lstStyle/>
          <a:p>
            <a:pPr algn="l" marL="342900" indent="-342900">
              <a:lnSpc>
                <a:spcPts val="1620"/>
              </a:lnSpc>
              <a:spcAft>
                <a:spcPts val="600"/>
              </a:spcAft>
              <a:buSzPct val="100000"/>
              <a:buChar char="•"/>
            </a:pPr>
            <a:r>
              <a:rPr lang="en-US" sz="1200" b="1" dirty="0">
                <a:solidFill>
                  <a:srgbClr val="9D4EDD"/>
                </a:solidFill>
                <a:latin typeface="Arial" pitchFamily="34" charset="0"/>
                <a:ea typeface="Arial" pitchFamily="34" charset="-122"/>
                <a:cs typeface="Arial" pitchFamily="34" charset="-120"/>
              </a:rPr>
              <a:t>Multi-segment aggregation.</a:t>
            </a:r>
            <a:pPr algn="l" indent="0" marL="0">
              <a:lnSpc>
                <a:spcPts val="1620"/>
              </a:lnSpc>
              <a:spcAft>
                <a:spcPts val="600"/>
              </a:spcAft>
              <a:buNone/>
            </a:pPr>
            <a:r>
              <a:rPr lang="en-US" sz="1200" dirty="0">
                <a:solidFill>
                  <a:srgbClr val="F4F4FB"/>
                </a:solidFill>
                <a:latin typeface="Arial" pitchFamily="34" charset="0"/>
                <a:ea typeface="Arial" pitchFamily="34" charset="-122"/>
                <a:cs typeface="Arial" pitchFamily="34" charset="-120"/>
              </a:rPr>
              <a:t> Combine evidence from several short chunks.</a:t>
            </a:r>
            <a:endParaRPr lang="en-US" sz="1200" dirty="0"/>
          </a:p>
          <a:p>
            <a:pPr algn="l" marL="342900" indent="-342900">
              <a:lnSpc>
                <a:spcPts val="1620"/>
              </a:lnSpc>
              <a:spcAft>
                <a:spcPts val="600"/>
              </a:spcAft>
              <a:buSzPct val="100000"/>
              <a:buChar char="•"/>
            </a:pPr>
            <a:r>
              <a:rPr lang="en-US" sz="1200" b="1" dirty="0">
                <a:solidFill>
                  <a:srgbClr val="9D4EDD"/>
                </a:solidFill>
                <a:latin typeface="Arial" pitchFamily="34" charset="0"/>
                <a:ea typeface="Arial" pitchFamily="34" charset="-122"/>
                <a:cs typeface="Arial" pitchFamily="34" charset="-120"/>
              </a:rPr>
              <a:t>Hard-negative mining.</a:t>
            </a:r>
            <a:pPr algn="l" indent="0" marL="0">
              <a:lnSpc>
                <a:spcPts val="1620"/>
              </a:lnSpc>
              <a:spcAft>
                <a:spcPts val="600"/>
              </a:spcAft>
              <a:buNone/>
            </a:pPr>
            <a:r>
              <a:rPr lang="en-US" sz="1200" dirty="0">
                <a:solidFill>
                  <a:srgbClr val="F4F4FB"/>
                </a:solidFill>
                <a:latin typeface="Arial" pitchFamily="34" charset="0"/>
                <a:ea typeface="Arial" pitchFamily="34" charset="-122"/>
                <a:cs typeface="Arial" pitchFamily="34" charset="-120"/>
              </a:rPr>
              <a:t> Train on actual confusers — covers, remixes, live.</a:t>
            </a:r>
            <a:endParaRPr lang="en-US" sz="1200" dirty="0"/>
          </a:p>
          <a:p>
            <a:pPr algn="l" marL="342900" indent="-342900">
              <a:lnSpc>
                <a:spcPts val="1620"/>
              </a:lnSpc>
              <a:spcAft>
                <a:spcPts val="600"/>
              </a:spcAft>
              <a:buSzPct val="100000"/>
              <a:buChar char="•"/>
            </a:pPr>
            <a:r>
              <a:rPr lang="en-US" sz="1200" b="1" dirty="0">
                <a:solidFill>
                  <a:srgbClr val="9D4EDD"/>
                </a:solidFill>
                <a:latin typeface="Arial" pitchFamily="34" charset="0"/>
                <a:ea typeface="Arial" pitchFamily="34" charset="-122"/>
                <a:cs typeface="Arial" pitchFamily="34" charset="-120"/>
              </a:rPr>
              <a:t>Partial MERT fine-tune.</a:t>
            </a:r>
            <a:pPr algn="l" indent="0" marL="0">
              <a:lnSpc>
                <a:spcPts val="1620"/>
              </a:lnSpc>
              <a:spcAft>
                <a:spcPts val="600"/>
              </a:spcAft>
              <a:buNone/>
            </a:pPr>
            <a:r>
              <a:rPr lang="en-US" sz="1200" dirty="0">
                <a:solidFill>
                  <a:srgbClr val="F4F4FB"/>
                </a:solidFill>
                <a:latin typeface="Arial" pitchFamily="34" charset="0"/>
                <a:ea typeface="Arial" pitchFamily="34" charset="-122"/>
                <a:cs typeface="Arial" pitchFamily="34" charset="-120"/>
              </a:rPr>
              <a:t> Unfreeze a few layers for stability + sharpness.</a:t>
            </a:r>
            <a:endParaRPr lang="en-US" sz="1200" dirty="0"/>
          </a:p>
          <a:p>
            <a:pPr algn="l" marL="342900" indent="-342900">
              <a:lnSpc>
                <a:spcPts val="1620"/>
              </a:lnSpc>
              <a:spcAft>
                <a:spcPts val="600"/>
              </a:spcAft>
              <a:buSzPct val="100000"/>
              <a:buChar char="•"/>
            </a:pPr>
            <a:r>
              <a:rPr lang="en-US" sz="1200" b="1" dirty="0">
                <a:solidFill>
                  <a:srgbClr val="9D4EDD"/>
                </a:solidFill>
                <a:latin typeface="Arial" pitchFamily="34" charset="0"/>
                <a:ea typeface="Arial" pitchFamily="34" charset="-122"/>
                <a:cs typeface="Arial" pitchFamily="34" charset="-120"/>
              </a:rPr>
              <a:t>Query-aware augmentation.</a:t>
            </a:r>
            <a:pPr algn="l" indent="0" marL="0">
              <a:lnSpc>
                <a:spcPts val="1620"/>
              </a:lnSpc>
              <a:spcAft>
                <a:spcPts val="600"/>
              </a:spcAft>
              <a:buNone/>
            </a:pPr>
            <a:r>
              <a:rPr lang="en-US" sz="1200" dirty="0">
                <a:solidFill>
                  <a:srgbClr val="F4F4FB"/>
                </a:solidFill>
                <a:latin typeface="Arial" pitchFamily="34" charset="0"/>
                <a:ea typeface="Arial" pitchFamily="34" charset="-122"/>
                <a:cs typeface="Arial" pitchFamily="34" charset="-120"/>
              </a:rPr>
              <a:t> Adapt training to measured query difficulty.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634901" y="279350"/>
            <a:ext cx="8161172" cy="171450"/>
          </a:xfrm>
          <a:prstGeom prst="rect">
            <a:avLst/>
          </a:prstGeom>
          <a:noFill/>
          <a:ln/>
        </p:spPr>
        <p:txBody>
          <a:bodyPr wrap="square" lIns="0" tIns="0" rIns="0" bIns="0" rtlCol="0" anchor="t"/>
          <a:lstStyle/>
          <a:p>
            <a:pPr algn="l" indent="0" marL="0">
              <a:spcAft>
                <a:spcPts val="400"/>
              </a:spcAft>
              <a:buNone/>
            </a:pPr>
            <a:r>
              <a:rPr lang="en-US" sz="1200" dirty="0">
                <a:solidFill>
                  <a:srgbClr val="06D6A0"/>
                </a:solidFill>
                <a:latin typeface="Courier New" pitchFamily="34" charset="0"/>
                <a:ea typeface="Courier New" pitchFamily="34" charset="-122"/>
                <a:cs typeface="Courier New" pitchFamily="34" charset="-120"/>
              </a:rPr>
              <a:t>04 · REFERENCES</a:t>
            </a:r>
            <a:endParaRPr lang="en-US" sz="1200" dirty="0"/>
          </a:p>
        </p:txBody>
      </p:sp>
      <p:sp>
        <p:nvSpPr>
          <p:cNvPr id="4" name="Text 2"/>
          <p:cNvSpPr/>
          <p:nvPr/>
        </p:nvSpPr>
        <p:spPr>
          <a:xfrm>
            <a:off x="634901" y="501551"/>
            <a:ext cx="8161172" cy="371475"/>
          </a:xfrm>
          <a:prstGeom prst="rect">
            <a:avLst/>
          </a:prstGeom>
          <a:noFill/>
          <a:ln/>
        </p:spPr>
        <p:txBody>
          <a:bodyPr wrap="square" lIns="0" tIns="0" rIns="0" bIns="0" rtlCol="0" anchor="t"/>
          <a:lstStyle/>
          <a:p>
            <a:pPr algn="l" indent="0" marL="0">
              <a:spcAft>
                <a:spcPts val="1000"/>
              </a:spcAft>
              <a:buNone/>
            </a:pPr>
            <a:r>
              <a:rPr lang="en-US" sz="2600" b="1" dirty="0">
                <a:solidFill>
                  <a:srgbClr val="F4F4FB"/>
                </a:solidFill>
                <a:latin typeface="Arial" pitchFamily="34" charset="0"/>
                <a:ea typeface="Arial" pitchFamily="34" charset="-122"/>
                <a:cs typeface="Arial" pitchFamily="34" charset="-120"/>
              </a:rPr>
              <a:t>Papers this work builds on</a:t>
            </a:r>
            <a:endParaRPr lang="en-US" sz="2600" dirty="0"/>
          </a:p>
        </p:txBody>
      </p:sp>
      <p:sp>
        <p:nvSpPr>
          <p:cNvPr id="5" name="Text 3"/>
          <p:cNvSpPr/>
          <p:nvPr/>
        </p:nvSpPr>
        <p:spPr>
          <a:xfrm>
            <a:off x="634901" y="999976"/>
            <a:ext cx="8001149" cy="875854"/>
          </a:xfrm>
          <a:prstGeom prst="roundRect">
            <a:avLst>
              <a:gd name="adj" fmla="val 8700"/>
            </a:avLst>
          </a:prstGeom>
          <a:solidFill>
            <a:srgbClr val="25253D"/>
          </a:solidFill>
          <a:ln/>
        </p:spPr>
        <p:txBody>
          <a:bodyPr wrap="square" rtlCol="0" anchor="ctr"/>
          <a:lstStyle/>
          <a:p>
            <a:pPr indent="0" marL="0">
              <a:buNone/>
            </a:pPr>
            <a:endParaRPr lang="en-US" dirty="0"/>
          </a:p>
        </p:txBody>
      </p:sp>
      <p:sp>
        <p:nvSpPr>
          <p:cNvPr id="6" name="Shape 4"/>
          <p:cNvSpPr/>
          <p:nvPr/>
        </p:nvSpPr>
        <p:spPr>
          <a:xfrm>
            <a:off x="658713" y="999976"/>
            <a:ext cx="0" cy="875854"/>
          </a:xfrm>
          <a:prstGeom prst="line">
            <a:avLst/>
          </a:prstGeom>
          <a:noFill/>
          <a:ln w="47625">
            <a:solidFill>
              <a:srgbClr val="9D4EDD"/>
            </a:solidFill>
            <a:prstDash val="solid"/>
          </a:ln>
        </p:spPr>
      </p:sp>
      <p:sp>
        <p:nvSpPr>
          <p:cNvPr id="7" name="Text 5"/>
          <p:cNvSpPr/>
          <p:nvPr/>
        </p:nvSpPr>
        <p:spPr>
          <a:xfrm>
            <a:off x="860227" y="1101477"/>
            <a:ext cx="7750085"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[1]</a:t>
            </a:r>
            <a:endParaRPr lang="en-US" sz="1000" dirty="0"/>
          </a:p>
        </p:txBody>
      </p:sp>
      <p:sp>
        <p:nvSpPr>
          <p:cNvPr id="8" name="Text 6"/>
          <p:cNvSpPr/>
          <p:nvPr/>
        </p:nvSpPr>
        <p:spPr>
          <a:xfrm>
            <a:off x="860227" y="1269653"/>
            <a:ext cx="7750085" cy="190500"/>
          </a:xfrm>
          <a:prstGeom prst="rect">
            <a:avLst/>
          </a:prstGeom>
          <a:noFill/>
          <a:ln/>
        </p:spPr>
        <p:txBody>
          <a:bodyPr wrap="square" lIns="0" tIns="0" rIns="0" bIns="0" rtlCol="0" anchor="t"/>
          <a:lstStyle/>
          <a:p>
            <a:pPr algn="l" indent="0" marL="0">
              <a:lnSpc>
                <a:spcPts val="1500"/>
              </a:lnSpc>
              <a:spcAft>
                <a:spcPts val="200"/>
              </a:spcAft>
              <a:buNone/>
            </a:pPr>
            <a:r>
              <a:rPr lang="en-US" sz="1200" b="1" dirty="0">
                <a:solidFill>
                  <a:srgbClr val="F4F4FB"/>
                </a:solidFill>
                <a:latin typeface="Arial" pitchFamily="34" charset="0"/>
                <a:ea typeface="Arial" pitchFamily="34" charset="-122"/>
                <a:cs typeface="Arial" pitchFamily="34" charset="-120"/>
              </a:rPr>
              <a:t>Neural Audio Fingerprint for High-Specific Audio Retrieval Based on Contrastive Learning</a:t>
            </a:r>
            <a:endParaRPr lang="en-US" sz="1200" dirty="0"/>
          </a:p>
        </p:txBody>
      </p:sp>
      <p:sp>
        <p:nvSpPr>
          <p:cNvPr id="9" name="Text 7"/>
          <p:cNvSpPr/>
          <p:nvPr/>
        </p:nvSpPr>
        <p:spPr>
          <a:xfrm>
            <a:off x="860227" y="1485454"/>
            <a:ext cx="7750085" cy="142875"/>
          </a:xfrm>
          <a:prstGeom prst="rect">
            <a:avLst/>
          </a:prstGeom>
          <a:noFill/>
          <a:ln/>
        </p:spPr>
        <p:txBody>
          <a:bodyPr wrap="square" lIns="0" tIns="0" rIns="0" bIns="0" rtlCol="0" anchor="t"/>
          <a:lstStyle/>
          <a:p>
            <a:pPr algn="l" indent="0" marL="0">
              <a:spcAft>
                <a:spcPts val="100"/>
              </a:spcAft>
              <a:buNone/>
            </a:pPr>
            <a:r>
              <a:rPr lang="en-US" sz="1000" i="1" dirty="0">
                <a:solidFill>
                  <a:srgbClr val="F4F4FB"/>
                </a:solidFill>
                <a:latin typeface="Arial" pitchFamily="34" charset="0"/>
                <a:ea typeface="Arial" pitchFamily="34" charset="-122"/>
                <a:cs typeface="Arial" pitchFamily="34" charset="-120"/>
              </a:rPr>
              <a:t>S. Chang, D. Lee, J. Park, H. Lim, K. Lee, K. Ko, Y. Han · Cochlear.ai / SNU / SK Telecom</a:t>
            </a:r>
            <a:endParaRPr lang="en-US" sz="1000" dirty="0"/>
          </a:p>
        </p:txBody>
      </p:sp>
      <p:sp>
        <p:nvSpPr>
          <p:cNvPr id="10" name="Text 8"/>
          <p:cNvSpPr/>
          <p:nvPr/>
        </p:nvSpPr>
        <p:spPr>
          <a:xfrm>
            <a:off x="860227" y="1640979"/>
            <a:ext cx="7750085" cy="133350"/>
          </a:xfrm>
          <a:prstGeom prst="rect">
            <a:avLst/>
          </a:prstGeom>
          <a:noFill/>
          <a:ln/>
        </p:spPr>
        <p:txBody>
          <a:bodyPr wrap="square" lIns="0" tIns="0" rIns="0" bIns="0" rtlCol="0" anchor="t"/>
          <a:lstStyle/>
          <a:p>
            <a:pPr algn="l" indent="0" marL="0">
              <a:buNone/>
            </a:pPr>
            <a:r>
              <a:rPr lang="en-US" sz="900" dirty="0">
                <a:solidFill>
                  <a:srgbClr val="9D4EDD"/>
                </a:solidFill>
                <a:latin typeface="Courier New" pitchFamily="34" charset="0"/>
                <a:ea typeface="Courier New" pitchFamily="34" charset="-122"/>
                <a:cs typeface="Courier New" pitchFamily="34" charset="-120"/>
              </a:rPr>
              <a:t>ICASSP 2021 · arXiv:2010.11910</a:t>
            </a:r>
            <a:endParaRPr lang="en-US" sz="900" dirty="0"/>
          </a:p>
        </p:txBody>
      </p:sp>
      <p:sp>
        <p:nvSpPr>
          <p:cNvPr id="11" name="Text 9"/>
          <p:cNvSpPr/>
          <p:nvPr/>
        </p:nvSpPr>
        <p:spPr>
          <a:xfrm>
            <a:off x="634901" y="1952030"/>
            <a:ext cx="8001149" cy="875854"/>
          </a:xfrm>
          <a:prstGeom prst="roundRect">
            <a:avLst>
              <a:gd name="adj" fmla="val 8700"/>
            </a:avLst>
          </a:prstGeom>
          <a:solidFill>
            <a:srgbClr val="25253D"/>
          </a:solidFill>
          <a:ln/>
        </p:spPr>
        <p:txBody>
          <a:bodyPr wrap="square" rtlCol="0" anchor="ctr"/>
          <a:lstStyle/>
          <a:p>
            <a:pPr indent="0" marL="0">
              <a:buNone/>
            </a:pPr>
            <a:endParaRPr lang="en-US" dirty="0"/>
          </a:p>
        </p:txBody>
      </p:sp>
      <p:sp>
        <p:nvSpPr>
          <p:cNvPr id="12" name="Shape 10"/>
          <p:cNvSpPr/>
          <p:nvPr/>
        </p:nvSpPr>
        <p:spPr>
          <a:xfrm>
            <a:off x="658713" y="1952030"/>
            <a:ext cx="0" cy="875854"/>
          </a:xfrm>
          <a:prstGeom prst="line">
            <a:avLst/>
          </a:prstGeom>
          <a:noFill/>
          <a:ln w="47625">
            <a:solidFill>
              <a:srgbClr val="9D4EDD"/>
            </a:solidFill>
            <a:prstDash val="solid"/>
          </a:ln>
        </p:spPr>
      </p:sp>
      <p:sp>
        <p:nvSpPr>
          <p:cNvPr id="13" name="Text 11"/>
          <p:cNvSpPr/>
          <p:nvPr/>
        </p:nvSpPr>
        <p:spPr>
          <a:xfrm>
            <a:off x="860227" y="2053530"/>
            <a:ext cx="7750085"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[2]</a:t>
            </a:r>
            <a:endParaRPr lang="en-US" sz="1000" dirty="0"/>
          </a:p>
        </p:txBody>
      </p:sp>
      <p:sp>
        <p:nvSpPr>
          <p:cNvPr id="14" name="Text 12"/>
          <p:cNvSpPr/>
          <p:nvPr/>
        </p:nvSpPr>
        <p:spPr>
          <a:xfrm>
            <a:off x="860227" y="2221706"/>
            <a:ext cx="7750085" cy="190500"/>
          </a:xfrm>
          <a:prstGeom prst="rect">
            <a:avLst/>
          </a:prstGeom>
          <a:noFill/>
          <a:ln/>
        </p:spPr>
        <p:txBody>
          <a:bodyPr wrap="square" lIns="0" tIns="0" rIns="0" bIns="0" rtlCol="0" anchor="t"/>
          <a:lstStyle/>
          <a:p>
            <a:pPr algn="l" indent="0" marL="0">
              <a:lnSpc>
                <a:spcPts val="1500"/>
              </a:lnSpc>
              <a:spcAft>
                <a:spcPts val="200"/>
              </a:spcAft>
              <a:buNone/>
            </a:pPr>
            <a:r>
              <a:rPr lang="en-US" sz="1200" b="1" dirty="0">
                <a:solidFill>
                  <a:srgbClr val="F4F4FB"/>
                </a:solidFill>
                <a:latin typeface="Arial" pitchFamily="34" charset="0"/>
                <a:ea typeface="Arial" pitchFamily="34" charset="-122"/>
                <a:cs typeface="Arial" pitchFamily="34" charset="-120"/>
              </a:rPr>
              <a:t>Robust Neural Audio Fingerprinting using Music Foundation Models</a:t>
            </a:r>
            <a:endParaRPr lang="en-US" sz="1200" dirty="0"/>
          </a:p>
        </p:txBody>
      </p:sp>
      <p:sp>
        <p:nvSpPr>
          <p:cNvPr id="15" name="Text 13"/>
          <p:cNvSpPr/>
          <p:nvPr/>
        </p:nvSpPr>
        <p:spPr>
          <a:xfrm>
            <a:off x="860227" y="2437507"/>
            <a:ext cx="7750085" cy="142875"/>
          </a:xfrm>
          <a:prstGeom prst="rect">
            <a:avLst/>
          </a:prstGeom>
          <a:noFill/>
          <a:ln/>
        </p:spPr>
        <p:txBody>
          <a:bodyPr wrap="square" lIns="0" tIns="0" rIns="0" bIns="0" rtlCol="0" anchor="t"/>
          <a:lstStyle/>
          <a:p>
            <a:pPr algn="l" indent="0" marL="0">
              <a:spcAft>
                <a:spcPts val="100"/>
              </a:spcAft>
              <a:buNone/>
            </a:pPr>
            <a:r>
              <a:rPr lang="en-US" sz="1000" i="1" dirty="0">
                <a:solidFill>
                  <a:srgbClr val="F4F4FB"/>
                </a:solidFill>
                <a:latin typeface="Arial" pitchFamily="34" charset="0"/>
                <a:ea typeface="Arial" pitchFamily="34" charset="-122"/>
                <a:cs typeface="Arial" pitchFamily="34" charset="-120"/>
              </a:rPr>
              <a:t>S. Singh, K. Bhat, X. Riley, B. Resnick, J. Thickstun, W. De Brouwer · SoundPatrol / Cornell</a:t>
            </a:r>
            <a:endParaRPr lang="en-US" sz="1000" dirty="0"/>
          </a:p>
        </p:txBody>
      </p:sp>
      <p:sp>
        <p:nvSpPr>
          <p:cNvPr id="16" name="Text 14"/>
          <p:cNvSpPr/>
          <p:nvPr/>
        </p:nvSpPr>
        <p:spPr>
          <a:xfrm>
            <a:off x="860227" y="2593032"/>
            <a:ext cx="7750085" cy="133350"/>
          </a:xfrm>
          <a:prstGeom prst="rect">
            <a:avLst/>
          </a:prstGeom>
          <a:noFill/>
          <a:ln/>
        </p:spPr>
        <p:txBody>
          <a:bodyPr wrap="square" lIns="0" tIns="0" rIns="0" bIns="0" rtlCol="0" anchor="t"/>
          <a:lstStyle/>
          <a:p>
            <a:pPr algn="l" indent="0" marL="0">
              <a:buNone/>
            </a:pPr>
            <a:r>
              <a:rPr lang="en-US" sz="900" dirty="0">
                <a:solidFill>
                  <a:srgbClr val="9D4EDD"/>
                </a:solidFill>
                <a:latin typeface="Courier New" pitchFamily="34" charset="0"/>
                <a:ea typeface="Courier New" pitchFamily="34" charset="-122"/>
                <a:cs typeface="Courier New" pitchFamily="34" charset="-120"/>
              </a:rPr>
              <a:t>2025 · arXiv:2511.05399</a:t>
            </a:r>
            <a:endParaRPr lang="en-US" sz="900" dirty="0"/>
          </a:p>
        </p:txBody>
      </p:sp>
      <p:sp>
        <p:nvSpPr>
          <p:cNvPr id="17" name="Text 15"/>
          <p:cNvSpPr/>
          <p:nvPr/>
        </p:nvSpPr>
        <p:spPr>
          <a:xfrm>
            <a:off x="634901" y="2904083"/>
            <a:ext cx="8001149" cy="1066354"/>
          </a:xfrm>
          <a:prstGeom prst="roundRect">
            <a:avLst>
              <a:gd name="adj" fmla="val 7146"/>
            </a:avLst>
          </a:prstGeom>
          <a:solidFill>
            <a:srgbClr val="25253D"/>
          </a:solidFill>
          <a:ln/>
        </p:spPr>
        <p:txBody>
          <a:bodyPr wrap="square" rtlCol="0" anchor="ctr"/>
          <a:lstStyle/>
          <a:p>
            <a:pPr indent="0" marL="0">
              <a:buNone/>
            </a:pPr>
            <a:endParaRPr lang="en-US" dirty="0"/>
          </a:p>
        </p:txBody>
      </p:sp>
      <p:sp>
        <p:nvSpPr>
          <p:cNvPr id="18" name="Shape 16"/>
          <p:cNvSpPr/>
          <p:nvPr/>
        </p:nvSpPr>
        <p:spPr>
          <a:xfrm>
            <a:off x="658713" y="2904083"/>
            <a:ext cx="0" cy="1066354"/>
          </a:xfrm>
          <a:prstGeom prst="line">
            <a:avLst/>
          </a:prstGeom>
          <a:noFill/>
          <a:ln w="47625">
            <a:solidFill>
              <a:srgbClr val="9D4EDD"/>
            </a:solidFill>
            <a:prstDash val="solid"/>
          </a:ln>
        </p:spPr>
      </p:sp>
      <p:sp>
        <p:nvSpPr>
          <p:cNvPr id="19" name="Text 17"/>
          <p:cNvSpPr/>
          <p:nvPr/>
        </p:nvSpPr>
        <p:spPr>
          <a:xfrm>
            <a:off x="860227" y="3005584"/>
            <a:ext cx="7750085"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[3]</a:t>
            </a:r>
            <a:endParaRPr lang="en-US" sz="1000" dirty="0"/>
          </a:p>
        </p:txBody>
      </p:sp>
      <p:sp>
        <p:nvSpPr>
          <p:cNvPr id="20" name="Text 18"/>
          <p:cNvSpPr/>
          <p:nvPr/>
        </p:nvSpPr>
        <p:spPr>
          <a:xfrm>
            <a:off x="860227" y="3173760"/>
            <a:ext cx="7750085" cy="381000"/>
          </a:xfrm>
          <a:prstGeom prst="rect">
            <a:avLst/>
          </a:prstGeom>
          <a:noFill/>
          <a:ln/>
        </p:spPr>
        <p:txBody>
          <a:bodyPr wrap="square" lIns="0" tIns="0" rIns="0" bIns="0" rtlCol="0" anchor="t"/>
          <a:lstStyle/>
          <a:p>
            <a:pPr algn="l" indent="0" marL="0">
              <a:lnSpc>
                <a:spcPts val="1500"/>
              </a:lnSpc>
              <a:spcAft>
                <a:spcPts val="200"/>
              </a:spcAft>
              <a:buNone/>
            </a:pPr>
            <a:r>
              <a:rPr lang="en-US" sz="1200" b="1" dirty="0">
                <a:solidFill>
                  <a:srgbClr val="F4F4FB"/>
                </a:solidFill>
                <a:latin typeface="Arial" pitchFamily="34" charset="0"/>
                <a:ea typeface="Arial" pitchFamily="34" charset="-122"/>
                <a:cs typeface="Arial" pitchFamily="34" charset="-120"/>
              </a:rPr>
              <a:t>Contrastive and Transfer Learning for Effective Audio Fingerprinting through a Real-World Evaluation Protocol</a:t>
            </a:r>
            <a:endParaRPr lang="en-US" sz="1200" dirty="0"/>
          </a:p>
        </p:txBody>
      </p:sp>
      <p:sp>
        <p:nvSpPr>
          <p:cNvPr id="21" name="Text 19"/>
          <p:cNvSpPr/>
          <p:nvPr/>
        </p:nvSpPr>
        <p:spPr>
          <a:xfrm>
            <a:off x="860227" y="3580061"/>
            <a:ext cx="7750085" cy="142875"/>
          </a:xfrm>
          <a:prstGeom prst="rect">
            <a:avLst/>
          </a:prstGeom>
          <a:noFill/>
          <a:ln/>
        </p:spPr>
        <p:txBody>
          <a:bodyPr wrap="square" lIns="0" tIns="0" rIns="0" bIns="0" rtlCol="0" anchor="t"/>
          <a:lstStyle/>
          <a:p>
            <a:pPr algn="l" indent="0" marL="0">
              <a:spcAft>
                <a:spcPts val="100"/>
              </a:spcAft>
              <a:buNone/>
            </a:pPr>
            <a:r>
              <a:rPr lang="en-US" sz="1000" i="1" dirty="0">
                <a:solidFill>
                  <a:srgbClr val="F4F4FB"/>
                </a:solidFill>
                <a:latin typeface="Arial" pitchFamily="34" charset="0"/>
                <a:ea typeface="Arial" pitchFamily="34" charset="-122"/>
                <a:cs typeface="Arial" pitchFamily="34" charset="-120"/>
              </a:rPr>
              <a:t>C. Nikou, T. Giannakopoulos · NCSR "Demokritos," Athens</a:t>
            </a:r>
            <a:endParaRPr lang="en-US" sz="1000" dirty="0"/>
          </a:p>
        </p:txBody>
      </p:sp>
      <p:sp>
        <p:nvSpPr>
          <p:cNvPr id="22" name="Text 20"/>
          <p:cNvSpPr/>
          <p:nvPr/>
        </p:nvSpPr>
        <p:spPr>
          <a:xfrm>
            <a:off x="860227" y="3735586"/>
            <a:ext cx="7750085" cy="133350"/>
          </a:xfrm>
          <a:prstGeom prst="rect">
            <a:avLst/>
          </a:prstGeom>
          <a:noFill/>
          <a:ln/>
        </p:spPr>
        <p:txBody>
          <a:bodyPr wrap="square" lIns="0" tIns="0" rIns="0" bIns="0" rtlCol="0" anchor="t"/>
          <a:lstStyle/>
          <a:p>
            <a:pPr algn="l" indent="0" marL="0">
              <a:buNone/>
            </a:pPr>
            <a:r>
              <a:rPr lang="en-US" sz="900" dirty="0">
                <a:solidFill>
                  <a:srgbClr val="9D4EDD"/>
                </a:solidFill>
                <a:latin typeface="Courier New" pitchFamily="34" charset="0"/>
                <a:ea typeface="Courier New" pitchFamily="34" charset="-122"/>
                <a:cs typeface="Courier New" pitchFamily="34" charset="-120"/>
              </a:rPr>
              <a:t>IJMSTA 7(1): 68–82, 2025 · arXiv:2507.06070</a:t>
            </a:r>
            <a:endParaRPr lang="en-US" sz="900" dirty="0"/>
          </a:p>
        </p:txBody>
      </p:sp>
      <p:sp>
        <p:nvSpPr>
          <p:cNvPr id="23" name="Text 21"/>
          <p:cNvSpPr/>
          <p:nvPr/>
        </p:nvSpPr>
        <p:spPr>
          <a:xfrm>
            <a:off x="634901" y="4046637"/>
            <a:ext cx="8001149" cy="875854"/>
          </a:xfrm>
          <a:prstGeom prst="roundRect">
            <a:avLst>
              <a:gd name="adj" fmla="val 8700"/>
            </a:avLst>
          </a:prstGeom>
          <a:solidFill>
            <a:srgbClr val="25253D"/>
          </a:solidFill>
          <a:ln/>
        </p:spPr>
        <p:txBody>
          <a:bodyPr wrap="square" rtlCol="0" anchor="ctr"/>
          <a:lstStyle/>
          <a:p>
            <a:pPr indent="0" marL="0">
              <a:buNone/>
            </a:pPr>
            <a:endParaRPr lang="en-US" dirty="0"/>
          </a:p>
        </p:txBody>
      </p:sp>
      <p:sp>
        <p:nvSpPr>
          <p:cNvPr id="24" name="Shape 22"/>
          <p:cNvSpPr/>
          <p:nvPr/>
        </p:nvSpPr>
        <p:spPr>
          <a:xfrm>
            <a:off x="658713" y="4046637"/>
            <a:ext cx="0" cy="875854"/>
          </a:xfrm>
          <a:prstGeom prst="line">
            <a:avLst/>
          </a:prstGeom>
          <a:noFill/>
          <a:ln w="47625">
            <a:solidFill>
              <a:srgbClr val="06D6A0"/>
            </a:solidFill>
            <a:prstDash val="solid"/>
          </a:ln>
        </p:spPr>
      </p:sp>
      <p:sp>
        <p:nvSpPr>
          <p:cNvPr id="25" name="Text 23"/>
          <p:cNvSpPr/>
          <p:nvPr/>
        </p:nvSpPr>
        <p:spPr>
          <a:xfrm>
            <a:off x="860227" y="4148137"/>
            <a:ext cx="7750085" cy="142875"/>
          </a:xfrm>
          <a:prstGeom prst="rect">
            <a:avLst/>
          </a:prstGeom>
          <a:noFill/>
          <a:ln/>
        </p:spPr>
        <p:txBody>
          <a:bodyPr wrap="square" lIns="0" tIns="0" rIns="0" bIns="0" rtlCol="0" anchor="t"/>
          <a:lstStyle/>
          <a:p>
            <a:pPr algn="l" indent="0" marL="0">
              <a:spcAft>
                <a:spcPts val="200"/>
              </a:spcAft>
              <a:buNone/>
            </a:pPr>
            <a:r>
              <a:rPr lang="en-US" sz="1000" dirty="0">
                <a:solidFill>
                  <a:srgbClr val="06D6A0"/>
                </a:solidFill>
                <a:latin typeface="Courier New" pitchFamily="34" charset="0"/>
                <a:ea typeface="Courier New" pitchFamily="34" charset="-122"/>
                <a:cs typeface="Courier New" pitchFamily="34" charset="-120"/>
              </a:rPr>
              <a:t>DATASET</a:t>
            </a:r>
            <a:endParaRPr lang="en-US" sz="1000" dirty="0"/>
          </a:p>
        </p:txBody>
      </p:sp>
      <p:sp>
        <p:nvSpPr>
          <p:cNvPr id="26" name="Text 24"/>
          <p:cNvSpPr/>
          <p:nvPr/>
        </p:nvSpPr>
        <p:spPr>
          <a:xfrm>
            <a:off x="860227" y="4316313"/>
            <a:ext cx="7750085" cy="190500"/>
          </a:xfrm>
          <a:prstGeom prst="rect">
            <a:avLst/>
          </a:prstGeom>
          <a:noFill/>
          <a:ln/>
        </p:spPr>
        <p:txBody>
          <a:bodyPr wrap="square" lIns="0" tIns="0" rIns="0" bIns="0" rtlCol="0" anchor="t"/>
          <a:lstStyle/>
          <a:p>
            <a:pPr algn="l" indent="0" marL="0">
              <a:lnSpc>
                <a:spcPts val="1500"/>
              </a:lnSpc>
              <a:spcAft>
                <a:spcPts val="200"/>
              </a:spcAft>
              <a:buNone/>
            </a:pPr>
            <a:r>
              <a:rPr lang="en-US" sz="1200" b="1" dirty="0">
                <a:solidFill>
                  <a:srgbClr val="F4F4FB"/>
                </a:solidFill>
                <a:latin typeface="Arial" pitchFamily="34" charset="0"/>
                <a:ea typeface="Arial" pitchFamily="34" charset="-122"/>
                <a:cs typeface="Arial" pitchFamily="34" charset="-120"/>
              </a:rPr>
              <a:t>FMA: A Dataset For Music Analysis</a:t>
            </a:r>
            <a:endParaRPr lang="en-US" sz="1200" dirty="0"/>
          </a:p>
        </p:txBody>
      </p:sp>
      <p:sp>
        <p:nvSpPr>
          <p:cNvPr id="27" name="Text 25"/>
          <p:cNvSpPr/>
          <p:nvPr/>
        </p:nvSpPr>
        <p:spPr>
          <a:xfrm>
            <a:off x="860227" y="4532114"/>
            <a:ext cx="7750085" cy="142875"/>
          </a:xfrm>
          <a:prstGeom prst="rect">
            <a:avLst/>
          </a:prstGeom>
          <a:noFill/>
          <a:ln/>
        </p:spPr>
        <p:txBody>
          <a:bodyPr wrap="square" lIns="0" tIns="0" rIns="0" bIns="0" rtlCol="0" anchor="t"/>
          <a:lstStyle/>
          <a:p>
            <a:pPr algn="l" indent="0" marL="0">
              <a:spcAft>
                <a:spcPts val="100"/>
              </a:spcAft>
              <a:buNone/>
            </a:pPr>
            <a:r>
              <a:rPr lang="en-US" sz="1000" i="1" dirty="0">
                <a:solidFill>
                  <a:srgbClr val="F4F4FB"/>
                </a:solidFill>
                <a:latin typeface="Arial" pitchFamily="34" charset="0"/>
                <a:ea typeface="Arial" pitchFamily="34" charset="-122"/>
                <a:cs typeface="Arial" pitchFamily="34" charset="-120"/>
              </a:rPr>
              <a:t>M. Defferrard, K. Benzi, P. Vandergheynst, X. Bresson · EPFL</a:t>
            </a:r>
            <a:endParaRPr lang="en-US" sz="1000" dirty="0"/>
          </a:p>
        </p:txBody>
      </p:sp>
      <p:sp>
        <p:nvSpPr>
          <p:cNvPr id="28" name="Text 26"/>
          <p:cNvSpPr/>
          <p:nvPr/>
        </p:nvSpPr>
        <p:spPr>
          <a:xfrm>
            <a:off x="860227" y="4687639"/>
            <a:ext cx="7750085" cy="133350"/>
          </a:xfrm>
          <a:prstGeom prst="rect">
            <a:avLst/>
          </a:prstGeom>
          <a:noFill/>
          <a:ln/>
        </p:spPr>
        <p:txBody>
          <a:bodyPr wrap="square" lIns="0" tIns="0" rIns="0" bIns="0" rtlCol="0" anchor="t"/>
          <a:lstStyle/>
          <a:p>
            <a:pPr algn="l" indent="0" marL="0">
              <a:buNone/>
            </a:pPr>
            <a:r>
              <a:rPr lang="en-US" sz="900" dirty="0">
                <a:solidFill>
                  <a:srgbClr val="9D4EDD"/>
                </a:solidFill>
                <a:latin typeface="Courier New" pitchFamily="34" charset="0"/>
                <a:ea typeface="Courier New" pitchFamily="34" charset="-122"/>
                <a:cs typeface="Courier New" pitchFamily="34" charset="-120"/>
              </a:rPr>
              <a:t>ISMIR 2017 · arXiv:1612.01840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A1A2E"/>
        </a:solidFill>
      </p:bgPr>
    </p:bg>
    <p:spTree>
      <p:nvGrpSpPr>
        <p:cNvPr id="1" name=""/>
        <p:cNvGrpSpPr/>
        <p:nvPr/>
      </p:nvGrpSpPr>
      <p:grpSpPr>
        <a:xfrm>
          <a:off x="0" y="0"/>
          <a:ext cx="0" cy="0"/>
          <a:chOff x="0" y="0"/>
          <a:chExt cx="0" cy="0"/>
        </a:xfrm>
      </p:grpSpPr>
      <p:sp>
        <p:nvSpPr>
          <p:cNvPr id="2" name="Text 0"/>
          <p:cNvSpPr/>
          <p:nvPr/>
        </p:nvSpPr>
        <p:spPr>
          <a:xfrm>
            <a:off x="0" y="0"/>
            <a:ext cx="126950" cy="5143500"/>
          </a:xfrm>
          <a:prstGeom prst="rect">
            <a:avLst/>
          </a:prstGeom>
          <a:solidFill>
            <a:srgbClr val="9D4EDD"/>
          </a:solidFill>
          <a:ln/>
        </p:spPr>
        <p:txBody>
          <a:bodyPr wrap="square" rtlCol="0" anchor="ctr"/>
          <a:lstStyle/>
          <a:p>
            <a:pPr indent="0" marL="0">
              <a:buNone/>
            </a:pPr>
            <a:endParaRPr lang="en-US" dirty="0"/>
          </a:p>
        </p:txBody>
      </p:sp>
      <p:sp>
        <p:nvSpPr>
          <p:cNvPr id="3" name="Text 1"/>
          <p:cNvSpPr/>
          <p:nvPr/>
        </p:nvSpPr>
        <p:spPr>
          <a:xfrm>
            <a:off x="1142851" y="589062"/>
            <a:ext cx="7124953" cy="209550"/>
          </a:xfrm>
          <a:prstGeom prst="rect">
            <a:avLst/>
          </a:prstGeom>
          <a:noFill/>
          <a:ln/>
        </p:spPr>
        <p:txBody>
          <a:bodyPr wrap="square" lIns="0" tIns="0" rIns="0" bIns="0" rtlCol="0" anchor="t"/>
          <a:lstStyle/>
          <a:p>
            <a:pPr algn="l" indent="0" marL="0">
              <a:spcAft>
                <a:spcPts val="2200"/>
              </a:spcAft>
              <a:buNone/>
            </a:pPr>
            <a:r>
              <a:rPr lang="en-US" sz="1400" dirty="0">
                <a:solidFill>
                  <a:srgbClr val="06D6A0"/>
                </a:solidFill>
                <a:latin typeface="Courier New" pitchFamily="34" charset="0"/>
                <a:ea typeface="Courier New" pitchFamily="34" charset="-122"/>
                <a:cs typeface="Courier New" pitchFamily="34" charset="-120"/>
              </a:rPr>
              <a:t>FIN · QUESTIONS?</a:t>
            </a:r>
            <a:endParaRPr lang="en-US" sz="1400" dirty="0"/>
          </a:p>
        </p:txBody>
      </p:sp>
      <p:sp>
        <p:nvSpPr>
          <p:cNvPr id="4" name="Text 2"/>
          <p:cNvSpPr/>
          <p:nvPr/>
        </p:nvSpPr>
        <p:spPr>
          <a:xfrm>
            <a:off x="1142851" y="1077962"/>
            <a:ext cx="7124953" cy="1016050"/>
          </a:xfrm>
          <a:prstGeom prst="rect">
            <a:avLst/>
          </a:prstGeom>
          <a:noFill/>
          <a:ln/>
        </p:spPr>
        <p:txBody>
          <a:bodyPr wrap="square" lIns="0" tIns="0" rIns="0" bIns="0" rtlCol="0" anchor="t"/>
          <a:lstStyle/>
          <a:p>
            <a:pPr algn="l" indent="0" marL="0">
              <a:lnSpc>
                <a:spcPts val="8000"/>
              </a:lnSpc>
              <a:spcAft>
                <a:spcPts val="1800"/>
              </a:spcAft>
              <a:buNone/>
            </a:pPr>
            <a:r>
              <a:rPr lang="en-US" sz="8000" b="1" dirty="0">
                <a:solidFill>
                  <a:srgbClr val="F4F4FB"/>
                </a:solidFill>
                <a:latin typeface="Arial" pitchFamily="34" charset="0"/>
                <a:ea typeface="Arial" pitchFamily="34" charset="-122"/>
                <a:cs typeface="Arial" pitchFamily="34" charset="-120"/>
              </a:rPr>
              <a:t>Thank you.</a:t>
            </a:r>
            <a:endParaRPr lang="en-US" sz="8000" dirty="0"/>
          </a:p>
        </p:txBody>
      </p:sp>
      <p:sp>
        <p:nvSpPr>
          <p:cNvPr id="5" name="Text 3"/>
          <p:cNvSpPr/>
          <p:nvPr/>
        </p:nvSpPr>
        <p:spPr>
          <a:xfrm>
            <a:off x="1142851" y="3084612"/>
            <a:ext cx="7124953" cy="352425"/>
          </a:xfrm>
          <a:prstGeom prst="rect">
            <a:avLst/>
          </a:prstGeom>
          <a:noFill/>
          <a:ln/>
        </p:spPr>
        <p:txBody>
          <a:bodyPr wrap="square" lIns="0" tIns="0" rIns="0" bIns="0" rtlCol="0" anchor="t"/>
          <a:lstStyle/>
          <a:p>
            <a:pPr algn="l" indent="0" marL="0">
              <a:spcAft>
                <a:spcPts val="4000"/>
              </a:spcAft>
              <a:buNone/>
            </a:pPr>
            <a:r>
              <a:rPr lang="en-US" sz="2400" b="1" dirty="0">
                <a:solidFill>
                  <a:srgbClr val="9D4EDD"/>
                </a:solidFill>
                <a:latin typeface="Arial" pitchFamily="34" charset="0"/>
                <a:ea typeface="Arial" pitchFamily="34" charset="-122"/>
                <a:cs typeface="Arial" pitchFamily="34" charset="-120"/>
              </a:rPr>
              <a:t>Happy to dig into any of it.</a:t>
            </a:r>
            <a:endParaRPr lang="en-US" sz="2400" dirty="0"/>
          </a:p>
        </p:txBody>
      </p:sp>
      <p:sp>
        <p:nvSpPr>
          <p:cNvPr id="6" name="Text 4"/>
          <p:cNvSpPr/>
          <p:nvPr/>
        </p:nvSpPr>
        <p:spPr>
          <a:xfrm>
            <a:off x="1142851" y="3944987"/>
            <a:ext cx="7124953" cy="228600"/>
          </a:xfrm>
          <a:prstGeom prst="rect">
            <a:avLst/>
          </a:prstGeom>
          <a:noFill/>
          <a:ln/>
        </p:spPr>
        <p:txBody>
          <a:bodyPr wrap="square" lIns="0" tIns="0" rIns="0" bIns="0" rtlCol="0" anchor="t"/>
          <a:lstStyle/>
          <a:p>
            <a:pPr algn="l" indent="0" marL="0">
              <a:spcAft>
                <a:spcPts val="600"/>
              </a:spcAft>
              <a:buNone/>
            </a:pPr>
            <a:r>
              <a:rPr lang="en-US" sz="1600" dirty="0">
                <a:solidFill>
                  <a:srgbClr val="F4F4FB"/>
                </a:solidFill>
                <a:latin typeface="Courier New" pitchFamily="34" charset="0"/>
                <a:ea typeface="Courier New" pitchFamily="34" charset="-122"/>
                <a:cs typeface="Courier New" pitchFamily="34" charset="-120"/>
              </a:rPr>
              <a:t>Aritra Saharay</a:t>
            </a:r>
            <a:endParaRPr lang="en-US" sz="1600" dirty="0"/>
          </a:p>
        </p:txBody>
      </p:sp>
      <p:sp>
        <p:nvSpPr>
          <p:cNvPr id="7" name="Text 5"/>
          <p:cNvSpPr/>
          <p:nvPr/>
        </p:nvSpPr>
        <p:spPr>
          <a:xfrm>
            <a:off x="1142851" y="4249787"/>
            <a:ext cx="7124953" cy="228600"/>
          </a:xfrm>
          <a:prstGeom prst="rect">
            <a:avLst/>
          </a:prstGeom>
          <a:noFill/>
          <a:ln/>
        </p:spPr>
        <p:txBody>
          <a:bodyPr wrap="square" lIns="0" tIns="0" rIns="0" bIns="0" rtlCol="0" anchor="t"/>
          <a:lstStyle/>
          <a:p>
            <a:pPr algn="l" indent="0" marL="0">
              <a:spcAft>
                <a:spcPts val="600"/>
              </a:spcAft>
              <a:buNone/>
            </a:pPr>
            <a:r>
              <a:rPr lang="en-US" sz="1600" dirty="0">
                <a:solidFill>
                  <a:srgbClr val="F4F4FB"/>
                </a:solidFill>
                <a:latin typeface="Courier New" pitchFamily="34" charset="0"/>
                <a:ea typeface="Courier New" pitchFamily="34" charset="-122"/>
                <a:cs typeface="Courier New" pitchFamily="34" charset="-120"/>
              </a:rPr>
              <a:t>saharay.a@northeastern.edu</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Transformer-Based Music Fingerprinting</dc:title>
  <dc:subject>DS 3000 Final Project · April 2026</dc:subject>
  <dc:creator>Aritra Saharay</dc:creator>
  <cp:lastModifiedBy>Aritra Saharay</cp:lastModifiedBy>
  <cp:revision>1</cp:revision>
  <dcterms:created xsi:type="dcterms:W3CDTF">2026-04-16T18:09:43Z</dcterms:created>
  <dcterms:modified xsi:type="dcterms:W3CDTF">2026-04-16T18:09:43Z</dcterms:modified>
</cp:coreProperties>
</file>